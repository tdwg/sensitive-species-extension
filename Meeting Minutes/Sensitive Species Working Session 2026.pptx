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5"/>
  </p:notesMasterIdLst>
  <p:sldIdLst>
    <p:sldId id="256" r:id="rId5"/>
    <p:sldId id="298" r:id="rId6"/>
    <p:sldId id="309" r:id="rId7"/>
    <p:sldId id="310" r:id="rId8"/>
    <p:sldId id="308" r:id="rId9"/>
    <p:sldId id="311" r:id="rId10"/>
    <p:sldId id="290" r:id="rId11"/>
    <p:sldId id="301" r:id="rId12"/>
    <p:sldId id="300" r:id="rId13"/>
    <p:sldId id="312" r:id="rId14"/>
    <p:sldId id="314" r:id="rId15"/>
    <p:sldId id="315" r:id="rId16"/>
    <p:sldId id="316" r:id="rId17"/>
    <p:sldId id="317" r:id="rId18"/>
    <p:sldId id="318" r:id="rId19"/>
    <p:sldId id="295" r:id="rId20"/>
    <p:sldId id="319" r:id="rId21"/>
    <p:sldId id="320" r:id="rId22"/>
    <p:sldId id="321" r:id="rId23"/>
    <p:sldId id="322" r:id="rId24"/>
  </p:sldIdLst>
  <p:sldSz cx="18288000" cy="10287000"/>
  <p:notesSz cx="6858000" cy="9144000"/>
  <p:embeddedFontLst>
    <p:embeddedFont>
      <p:font typeface="Lato" panose="020F0502020204030203" pitchFamily="34" charset="0"/>
      <p:regular r:id="rId26"/>
      <p:bold r:id="rId27"/>
      <p:italic r:id="rId28"/>
      <p:boldItalic r:id="rId29"/>
    </p:embeddedFont>
    <p:embeddedFont>
      <p:font typeface="Lato Bold" panose="020F0502020204030203" charset="0"/>
      <p:regular r:id="rId30"/>
      <p:bold r:id="rId31"/>
      <p:italic r:id="rId32"/>
      <p:boldItalic r:id="rId33"/>
    </p:embeddedFont>
    <p:embeddedFont>
      <p:font typeface="Lato Bold Italics" panose="020B0604020202020204" charset="0"/>
      <p:regular r:id="rId34"/>
      <p:bold r:id="rId35"/>
      <p:italic r:id="rId36"/>
      <p:boldItalic r:id="rId37"/>
    </p:embeddedFont>
    <p:embeddedFont>
      <p:font typeface="Lato Italics" panose="020B0604020202020204" charset="0"/>
      <p:regular r:id="rId38"/>
    </p:embeddedFont>
    <p:embeddedFont>
      <p:font typeface="Open Sans" panose="020B0606030504020204" pitchFamily="34" charset="0"/>
      <p:regular r:id="rId39"/>
      <p:bold r:id="rId40"/>
    </p:embeddedFont>
    <p:embeddedFont>
      <p:font typeface="Roboto" panose="02000000000000000000" pitchFamily="2"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3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4BDCE0-19F2-491A-8552-1769DCAECBEA}" v="30" dt="2026-05-25T23:04:35.1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138" y="21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7.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4.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16.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FC6413-D2B3-464F-89CD-F4AF1A619E3C}" type="datetimeFigureOut">
              <a:rPr lang="en-US" smtClean="0"/>
              <a:t>5/26/2026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E24F8-A9EB-B14F-8153-C941497A6030}" type="slidenum">
              <a:rPr lang="en-US" smtClean="0"/>
              <a:t>‹#›</a:t>
            </a:fld>
            <a:endParaRPr lang="en-US"/>
          </a:p>
        </p:txBody>
      </p:sp>
    </p:spTree>
    <p:extLst>
      <p:ext uri="{BB962C8B-B14F-4D97-AF65-F5344CB8AC3E}">
        <p14:creationId xmlns:p14="http://schemas.microsoft.com/office/powerpoint/2010/main" val="4269565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7CE24F8-A9EB-B14F-8153-C941497A6030}" type="slidenum">
              <a:rPr lang="en-US" smtClean="0"/>
              <a:t>1</a:t>
            </a:fld>
            <a:endParaRPr lang="en-US"/>
          </a:p>
        </p:txBody>
      </p:sp>
    </p:spTree>
    <p:extLst>
      <p:ext uri="{BB962C8B-B14F-4D97-AF65-F5344CB8AC3E}">
        <p14:creationId xmlns:p14="http://schemas.microsoft.com/office/powerpoint/2010/main" val="3831769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70CB1-B3DA-4AA4-57BF-DFEFD33B5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F0E47-E601-D3AA-F0DC-FB8FFD29B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FD551-DE25-B8FB-93A9-4B1F0C63BECD}"/>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41AEDF20-F455-C16F-7BC4-CBA215B357CB}"/>
              </a:ext>
            </a:extLst>
          </p:cNvPr>
          <p:cNvSpPr>
            <a:spLocks noGrp="1"/>
          </p:cNvSpPr>
          <p:nvPr>
            <p:ph type="sldNum" sz="quarter" idx="5"/>
          </p:nvPr>
        </p:nvSpPr>
        <p:spPr/>
        <p:txBody>
          <a:bodyPr/>
          <a:lstStyle/>
          <a:p>
            <a:fld id="{97CE24F8-A9EB-B14F-8153-C941497A6030}" type="slidenum">
              <a:rPr lang="en-US" smtClean="0"/>
              <a:t>2</a:t>
            </a:fld>
            <a:endParaRPr lang="en-US"/>
          </a:p>
        </p:txBody>
      </p:sp>
    </p:spTree>
    <p:extLst>
      <p:ext uri="{BB962C8B-B14F-4D97-AF65-F5344CB8AC3E}">
        <p14:creationId xmlns:p14="http://schemas.microsoft.com/office/powerpoint/2010/main" val="2771145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8C8F0-F73A-0979-2886-07A1474AC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CE909-CB5A-1B89-4989-392CBE39C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34151-F670-2073-9659-BC2AEBAD219B}"/>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BE5AC306-3BAB-34C5-CCA2-44A07CBCDD09}"/>
              </a:ext>
            </a:extLst>
          </p:cNvPr>
          <p:cNvSpPr>
            <a:spLocks noGrp="1"/>
          </p:cNvSpPr>
          <p:nvPr>
            <p:ph type="sldNum" sz="quarter" idx="5"/>
          </p:nvPr>
        </p:nvSpPr>
        <p:spPr/>
        <p:txBody>
          <a:bodyPr/>
          <a:lstStyle/>
          <a:p>
            <a:fld id="{97CE24F8-A9EB-B14F-8153-C941497A6030}" type="slidenum">
              <a:rPr lang="en-US" smtClean="0"/>
              <a:t>3</a:t>
            </a:fld>
            <a:endParaRPr lang="en-US"/>
          </a:p>
        </p:txBody>
      </p:sp>
    </p:spTree>
    <p:extLst>
      <p:ext uri="{BB962C8B-B14F-4D97-AF65-F5344CB8AC3E}">
        <p14:creationId xmlns:p14="http://schemas.microsoft.com/office/powerpoint/2010/main" val="2631915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CC824-624B-7F26-EB14-3514FC1AA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52D98-A88B-5DA2-2AE4-01DF616647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21F5E-434D-D5EB-248F-79A86178DC4E}"/>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709F82F8-DC44-F7FD-1C4C-76D346E9740F}"/>
              </a:ext>
            </a:extLst>
          </p:cNvPr>
          <p:cNvSpPr>
            <a:spLocks noGrp="1"/>
          </p:cNvSpPr>
          <p:nvPr>
            <p:ph type="sldNum" sz="quarter" idx="5"/>
          </p:nvPr>
        </p:nvSpPr>
        <p:spPr/>
        <p:txBody>
          <a:bodyPr/>
          <a:lstStyle/>
          <a:p>
            <a:fld id="{97CE24F8-A9EB-B14F-8153-C941497A6030}" type="slidenum">
              <a:rPr lang="en-US" smtClean="0"/>
              <a:t>4</a:t>
            </a:fld>
            <a:endParaRPr lang="en-US"/>
          </a:p>
        </p:txBody>
      </p:sp>
    </p:spTree>
    <p:extLst>
      <p:ext uri="{BB962C8B-B14F-4D97-AF65-F5344CB8AC3E}">
        <p14:creationId xmlns:p14="http://schemas.microsoft.com/office/powerpoint/2010/main" val="16447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9295C-569B-5C5F-402E-9BDA2763D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B599E-14F8-1A0D-AFAC-A49FB4465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178F9-4DD7-0040-33E1-59B9A869C1FD}"/>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C0EE6667-6FC1-73E4-4788-2020E54ADD6D}"/>
              </a:ext>
            </a:extLst>
          </p:cNvPr>
          <p:cNvSpPr>
            <a:spLocks noGrp="1"/>
          </p:cNvSpPr>
          <p:nvPr>
            <p:ph type="sldNum" sz="quarter" idx="5"/>
          </p:nvPr>
        </p:nvSpPr>
        <p:spPr/>
        <p:txBody>
          <a:bodyPr/>
          <a:lstStyle/>
          <a:p>
            <a:fld id="{97CE24F8-A9EB-B14F-8153-C941497A6030}" type="slidenum">
              <a:rPr lang="en-US" smtClean="0"/>
              <a:t>5</a:t>
            </a:fld>
            <a:endParaRPr lang="en-US"/>
          </a:p>
        </p:txBody>
      </p:sp>
    </p:spTree>
    <p:extLst>
      <p:ext uri="{BB962C8B-B14F-4D97-AF65-F5344CB8AC3E}">
        <p14:creationId xmlns:p14="http://schemas.microsoft.com/office/powerpoint/2010/main" val="3632770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1DB7C-B15C-F813-C88E-7EB4835D4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52D6E-F6D8-08CA-C6C4-B0B2391F6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16A92-434B-B435-89ED-50EF29C92591}"/>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C85C2DE2-A79F-A3E5-58E6-81D2AAF88153}"/>
              </a:ext>
            </a:extLst>
          </p:cNvPr>
          <p:cNvSpPr>
            <a:spLocks noGrp="1"/>
          </p:cNvSpPr>
          <p:nvPr>
            <p:ph type="sldNum" sz="quarter" idx="5"/>
          </p:nvPr>
        </p:nvSpPr>
        <p:spPr/>
        <p:txBody>
          <a:bodyPr/>
          <a:lstStyle/>
          <a:p>
            <a:fld id="{97CE24F8-A9EB-B14F-8153-C941497A6030}" type="slidenum">
              <a:rPr lang="en-US" smtClean="0"/>
              <a:t>6</a:t>
            </a:fld>
            <a:endParaRPr lang="en-US"/>
          </a:p>
        </p:txBody>
      </p:sp>
    </p:spTree>
    <p:extLst>
      <p:ext uri="{BB962C8B-B14F-4D97-AF65-F5344CB8AC3E}">
        <p14:creationId xmlns:p14="http://schemas.microsoft.com/office/powerpoint/2010/main" val="1929854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B26A5-EE63-7151-E78B-A64C5CC8A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07E639-76E6-91C4-E7C9-2F37A3D66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3D54D-6559-B699-0524-783C0852E49F}"/>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38DE38A0-2127-78D8-30E7-BFA0C19CDD40}"/>
              </a:ext>
            </a:extLst>
          </p:cNvPr>
          <p:cNvSpPr>
            <a:spLocks noGrp="1"/>
          </p:cNvSpPr>
          <p:nvPr>
            <p:ph type="sldNum" sz="quarter" idx="5"/>
          </p:nvPr>
        </p:nvSpPr>
        <p:spPr/>
        <p:txBody>
          <a:bodyPr/>
          <a:lstStyle/>
          <a:p>
            <a:fld id="{97CE24F8-A9EB-B14F-8153-C941497A6030}" type="slidenum">
              <a:rPr lang="en-US" smtClean="0"/>
              <a:t>7</a:t>
            </a:fld>
            <a:endParaRPr lang="en-US"/>
          </a:p>
        </p:txBody>
      </p:sp>
    </p:spTree>
    <p:extLst>
      <p:ext uri="{BB962C8B-B14F-4D97-AF65-F5344CB8AC3E}">
        <p14:creationId xmlns:p14="http://schemas.microsoft.com/office/powerpoint/2010/main" val="1342464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A647D-FA1D-E1A1-D45C-05C9DC636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3E6F5-1E86-5107-7722-458FDEE4C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E39D76-9C14-B4A3-42B4-BFA9E0CF6B98}"/>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63C9DD5B-34C5-1DA8-EAE7-7CF3BBC8D4D6}"/>
              </a:ext>
            </a:extLst>
          </p:cNvPr>
          <p:cNvSpPr>
            <a:spLocks noGrp="1"/>
          </p:cNvSpPr>
          <p:nvPr>
            <p:ph type="sldNum" sz="quarter" idx="5"/>
          </p:nvPr>
        </p:nvSpPr>
        <p:spPr/>
        <p:txBody>
          <a:bodyPr/>
          <a:lstStyle/>
          <a:p>
            <a:fld id="{97CE24F8-A9EB-B14F-8153-C941497A6030}" type="slidenum">
              <a:rPr lang="en-US" smtClean="0"/>
              <a:t>8</a:t>
            </a:fld>
            <a:endParaRPr lang="en-US"/>
          </a:p>
        </p:txBody>
      </p:sp>
    </p:spTree>
    <p:extLst>
      <p:ext uri="{BB962C8B-B14F-4D97-AF65-F5344CB8AC3E}">
        <p14:creationId xmlns:p14="http://schemas.microsoft.com/office/powerpoint/2010/main" val="1281273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06A1A-41B8-D7C0-0B03-662C374B6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6EFE5-9719-34EE-3C76-48653E27A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842CB-EDEA-B6DA-C229-942E65CF38F5}"/>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01E0251E-D2AF-664F-D26B-81E39B8A66B4}"/>
              </a:ext>
            </a:extLst>
          </p:cNvPr>
          <p:cNvSpPr>
            <a:spLocks noGrp="1"/>
          </p:cNvSpPr>
          <p:nvPr>
            <p:ph type="sldNum" sz="quarter" idx="5"/>
          </p:nvPr>
        </p:nvSpPr>
        <p:spPr/>
        <p:txBody>
          <a:bodyPr/>
          <a:lstStyle/>
          <a:p>
            <a:fld id="{97CE24F8-A9EB-B14F-8153-C941497A6030}" type="slidenum">
              <a:rPr lang="en-US" smtClean="0"/>
              <a:t>9</a:t>
            </a:fld>
            <a:endParaRPr lang="en-US"/>
          </a:p>
        </p:txBody>
      </p:sp>
    </p:spTree>
    <p:extLst>
      <p:ext uri="{BB962C8B-B14F-4D97-AF65-F5344CB8AC3E}">
        <p14:creationId xmlns:p14="http://schemas.microsoft.com/office/powerpoint/2010/main" val="4079612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96064-1365-A376-775A-06356112F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30072A-9EDB-DAF0-E2C7-85B31F5CA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FF087D-326F-C9B6-5546-4453D778C367}"/>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2A09D9FC-9700-C310-501D-9C6A80FE8394}"/>
              </a:ext>
            </a:extLst>
          </p:cNvPr>
          <p:cNvSpPr>
            <a:spLocks noGrp="1"/>
          </p:cNvSpPr>
          <p:nvPr>
            <p:ph type="sldNum" sz="quarter" idx="5"/>
          </p:nvPr>
        </p:nvSpPr>
        <p:spPr/>
        <p:txBody>
          <a:bodyPr/>
          <a:lstStyle/>
          <a:p>
            <a:fld id="{97CE24F8-A9EB-B14F-8153-C941497A6030}" type="slidenum">
              <a:rPr lang="en-US" smtClean="0"/>
              <a:t>10</a:t>
            </a:fld>
            <a:endParaRPr lang="en-US"/>
          </a:p>
        </p:txBody>
      </p:sp>
    </p:spTree>
    <p:extLst>
      <p:ext uri="{BB962C8B-B14F-4D97-AF65-F5344CB8AC3E}">
        <p14:creationId xmlns:p14="http://schemas.microsoft.com/office/powerpoint/2010/main" val="3931394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06A1A-41B8-D7C0-0B03-662C374B6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6EFE5-9719-34EE-3C76-48653E27A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842CB-EDEA-B6DA-C229-942E65CF38F5}"/>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01E0251E-D2AF-664F-D26B-81E39B8A66B4}"/>
              </a:ext>
            </a:extLst>
          </p:cNvPr>
          <p:cNvSpPr>
            <a:spLocks noGrp="1"/>
          </p:cNvSpPr>
          <p:nvPr>
            <p:ph type="sldNum" sz="quarter" idx="5"/>
          </p:nvPr>
        </p:nvSpPr>
        <p:spPr/>
        <p:txBody>
          <a:bodyPr/>
          <a:lstStyle/>
          <a:p>
            <a:fld id="{97CE24F8-A9EB-B14F-8153-C941497A6030}" type="slidenum">
              <a:rPr lang="en-US" smtClean="0"/>
              <a:t>11</a:t>
            </a:fld>
            <a:endParaRPr lang="en-US"/>
          </a:p>
        </p:txBody>
      </p:sp>
    </p:spTree>
    <p:extLst>
      <p:ext uri="{BB962C8B-B14F-4D97-AF65-F5344CB8AC3E}">
        <p14:creationId xmlns:p14="http://schemas.microsoft.com/office/powerpoint/2010/main" val="4079612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AB553-D6AE-C5F6-025C-B0ED34E206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1EEB68-1CCD-B59F-BAD2-15C44E658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5F921E-4239-5CFE-F3C0-36F2F40A5B1A}"/>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28C26324-A806-54D1-3A2A-C4283EB22820}"/>
              </a:ext>
            </a:extLst>
          </p:cNvPr>
          <p:cNvSpPr>
            <a:spLocks noGrp="1"/>
          </p:cNvSpPr>
          <p:nvPr>
            <p:ph type="sldNum" sz="quarter" idx="5"/>
          </p:nvPr>
        </p:nvSpPr>
        <p:spPr/>
        <p:txBody>
          <a:bodyPr/>
          <a:lstStyle/>
          <a:p>
            <a:fld id="{97CE24F8-A9EB-B14F-8153-C941497A6030}" type="slidenum">
              <a:rPr lang="en-US" smtClean="0"/>
              <a:t>12</a:t>
            </a:fld>
            <a:endParaRPr lang="en-US"/>
          </a:p>
        </p:txBody>
      </p:sp>
    </p:spTree>
    <p:extLst>
      <p:ext uri="{BB962C8B-B14F-4D97-AF65-F5344CB8AC3E}">
        <p14:creationId xmlns:p14="http://schemas.microsoft.com/office/powerpoint/2010/main" val="40468394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4991E-D043-7C9C-EDA1-C9D80DB8A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B57E0-CDF6-7035-27FC-CFB03EAF0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58D8F-A700-C560-A086-302BA00EA692}"/>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875812D5-CBDA-0B9B-1164-D3BB05030357}"/>
              </a:ext>
            </a:extLst>
          </p:cNvPr>
          <p:cNvSpPr>
            <a:spLocks noGrp="1"/>
          </p:cNvSpPr>
          <p:nvPr>
            <p:ph type="sldNum" sz="quarter" idx="5"/>
          </p:nvPr>
        </p:nvSpPr>
        <p:spPr/>
        <p:txBody>
          <a:bodyPr/>
          <a:lstStyle/>
          <a:p>
            <a:fld id="{97CE24F8-A9EB-B14F-8153-C941497A6030}" type="slidenum">
              <a:rPr lang="en-US" smtClean="0"/>
              <a:t>13</a:t>
            </a:fld>
            <a:endParaRPr lang="en-US"/>
          </a:p>
        </p:txBody>
      </p:sp>
    </p:spTree>
    <p:extLst>
      <p:ext uri="{BB962C8B-B14F-4D97-AF65-F5344CB8AC3E}">
        <p14:creationId xmlns:p14="http://schemas.microsoft.com/office/powerpoint/2010/main" val="2801331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9002A-FF9F-93A0-E828-65F7F0B97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1F272-6F11-28D3-1521-6CE8A5111F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F46A5-EF29-C79F-9314-A423945C8382}"/>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974740AC-24BB-3C9B-C880-87150FB394D0}"/>
              </a:ext>
            </a:extLst>
          </p:cNvPr>
          <p:cNvSpPr>
            <a:spLocks noGrp="1"/>
          </p:cNvSpPr>
          <p:nvPr>
            <p:ph type="sldNum" sz="quarter" idx="5"/>
          </p:nvPr>
        </p:nvSpPr>
        <p:spPr/>
        <p:txBody>
          <a:bodyPr/>
          <a:lstStyle/>
          <a:p>
            <a:fld id="{97CE24F8-A9EB-B14F-8153-C941497A6030}" type="slidenum">
              <a:rPr lang="en-US" smtClean="0"/>
              <a:t>14</a:t>
            </a:fld>
            <a:endParaRPr lang="en-US"/>
          </a:p>
        </p:txBody>
      </p:sp>
    </p:spTree>
    <p:extLst>
      <p:ext uri="{BB962C8B-B14F-4D97-AF65-F5344CB8AC3E}">
        <p14:creationId xmlns:p14="http://schemas.microsoft.com/office/powerpoint/2010/main" val="1672516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C986B-472D-F93E-A4BA-FF24E44A0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06502-6D61-B6FD-2AAC-D2FB28CD4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3FE290-C9D0-6EFA-F873-530B70D0C6E4}"/>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30E93726-BD51-E107-94C4-7104B83486AD}"/>
              </a:ext>
            </a:extLst>
          </p:cNvPr>
          <p:cNvSpPr>
            <a:spLocks noGrp="1"/>
          </p:cNvSpPr>
          <p:nvPr>
            <p:ph type="sldNum" sz="quarter" idx="5"/>
          </p:nvPr>
        </p:nvSpPr>
        <p:spPr/>
        <p:txBody>
          <a:bodyPr/>
          <a:lstStyle/>
          <a:p>
            <a:fld id="{97CE24F8-A9EB-B14F-8153-C941497A6030}" type="slidenum">
              <a:rPr lang="en-US" smtClean="0"/>
              <a:t>15</a:t>
            </a:fld>
            <a:endParaRPr lang="en-US"/>
          </a:p>
        </p:txBody>
      </p:sp>
    </p:spTree>
    <p:extLst>
      <p:ext uri="{BB962C8B-B14F-4D97-AF65-F5344CB8AC3E}">
        <p14:creationId xmlns:p14="http://schemas.microsoft.com/office/powerpoint/2010/main" val="2736331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DAA88-1F0C-09C3-12EF-5A328ACC7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F152C-4428-E9A9-DA77-8B5F2D40D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2252D-7398-C023-7407-EEBBDBC8437C}"/>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5215F238-1399-3E8B-03F5-0E882D40EE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CE24F8-A9EB-B14F-8153-C941497A60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58885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8E167-6615-D05E-9DA8-6842B70F5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3F653-FCFF-23F7-9669-218035848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A671CC-3891-7DD2-0A12-9CC664B2CF4D}"/>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50A92EE0-C0C0-3AB7-753F-5965411678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CE24F8-A9EB-B14F-8153-C941497A60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756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082D6-3183-0FB2-F76B-135498E57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8587D-8B62-580F-8D70-FD915406C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483FC-1645-5CCA-E3D3-49FEDA025252}"/>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4C943A2E-81A2-35A6-A8EF-FC5EC83500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CE24F8-A9EB-B14F-8153-C941497A60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2291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23164-A8E8-8580-3DD1-E1EA01283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D2B52-06E5-2E62-AB67-673EAECA2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43A20-5710-378F-2F88-0B04380D11CA}"/>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496C52DA-DB54-9D20-0BDA-0DDF77EF80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CE24F8-A9EB-B14F-8153-C941497A60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39323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5FC2-34ED-F77C-3C1E-C5E0D69FF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BAB00-72E4-1127-7F7D-EE08FB82EA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AB336-0A31-72E0-A0C4-76ADF624653A}"/>
              </a:ext>
            </a:extLst>
          </p:cNvPr>
          <p:cNvSpPr>
            <a:spLocks noGrp="1"/>
          </p:cNvSpPr>
          <p:nvPr>
            <p:ph type="body" idx="1"/>
          </p:nvPr>
        </p:nvSpPr>
        <p:spPr/>
        <p:txBody>
          <a:bodyPr/>
          <a:lstStyle/>
          <a:p>
            <a:endParaRPr lang="en-US" sz="2000"/>
          </a:p>
        </p:txBody>
      </p:sp>
      <p:sp>
        <p:nvSpPr>
          <p:cNvPr id="4" name="Slide Number Placeholder 3">
            <a:extLst>
              <a:ext uri="{FF2B5EF4-FFF2-40B4-BE49-F238E27FC236}">
                <a16:creationId xmlns:a16="http://schemas.microsoft.com/office/drawing/2014/main" id="{8BB68407-CFFE-2571-3F1A-CF8EED9C5B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CE24F8-A9EB-B14F-8153-C941497A60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6083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9" name="TextBox 8">
            <a:extLst>
              <a:ext uri="{FF2B5EF4-FFF2-40B4-BE49-F238E27FC236}">
                <a16:creationId xmlns:a16="http://schemas.microsoft.com/office/drawing/2014/main" id="{087A47B9-6E68-F4E4-3096-67CD563F4D02}"/>
              </a:ext>
            </a:extLst>
          </p:cNvPr>
          <p:cNvSpPr txBox="1"/>
          <p:nvPr userDrawn="1">
            <p:extLst>
              <p:ext uri="{1162E1C5-73C7-4A58-AE30-91384D911F3F}">
                <p184:classification xmlns:p184="http://schemas.microsoft.com/office/powerpoint/2018/4/main" val="hdr"/>
              </p:ext>
            </p:extLst>
          </p:nvPr>
        </p:nvSpPr>
        <p:spPr>
          <a:xfrm>
            <a:off x="8770112" y="63500"/>
            <a:ext cx="782638" cy="182880"/>
          </a:xfrm>
          <a:prstGeom prst="rect">
            <a:avLst/>
          </a:prstGeom>
        </p:spPr>
        <p:txBody>
          <a:bodyPr horzOverflow="overflow" lIns="0" tIns="0" rIns="0" bIns="0">
            <a:spAutoFit/>
          </a:bodyPr>
          <a:lstStyle/>
          <a:p>
            <a:pPr algn="l"/>
            <a:r>
              <a:rPr lang="en-AU" sz="1200">
                <a:solidFill>
                  <a:srgbClr val="FF0000">
                    <a:alpha val="50000"/>
                  </a:srgbClr>
                </a:solidFill>
                <a:latin typeface="Calibri" panose="020F0502020204030204" pitchFamily="34" charset="0"/>
                <a:ea typeface="Calibri" panose="020F0502020204030204" pitchFamily="34" charset="0"/>
                <a:cs typeface="Calibri" panose="020F0502020204030204" pitchFamily="34" charset="0"/>
              </a:rPr>
              <a:t>UNOFFICIAL</a:t>
            </a:r>
          </a:p>
        </p:txBody>
      </p:sp>
      <p:sp>
        <p:nvSpPr>
          <p:cNvPr id="10" name="TextBox 9">
            <a:extLst>
              <a:ext uri="{FF2B5EF4-FFF2-40B4-BE49-F238E27FC236}">
                <a16:creationId xmlns:a16="http://schemas.microsoft.com/office/drawing/2014/main" id="{B283B9D5-9B47-5E63-8A55-E064C2140681}"/>
              </a:ext>
            </a:extLst>
          </p:cNvPr>
          <p:cNvSpPr txBox="1"/>
          <p:nvPr userDrawn="1">
            <p:extLst>
              <p:ext uri="{1162E1C5-73C7-4A58-AE30-91384D911F3F}">
                <p184:classification xmlns:p184="http://schemas.microsoft.com/office/powerpoint/2018/4/main" val="ftr"/>
              </p:ext>
            </p:extLst>
          </p:nvPr>
        </p:nvSpPr>
        <p:spPr>
          <a:xfrm>
            <a:off x="8770112" y="10040620"/>
            <a:ext cx="782638" cy="182880"/>
          </a:xfrm>
          <a:prstGeom prst="rect">
            <a:avLst/>
          </a:prstGeom>
        </p:spPr>
        <p:txBody>
          <a:bodyPr horzOverflow="overflow" lIns="0" tIns="0" rIns="0" bIns="0">
            <a:spAutoFit/>
          </a:bodyPr>
          <a:lstStyle/>
          <a:p>
            <a:pPr algn="l"/>
            <a:r>
              <a:rPr lang="en-AU" sz="1200">
                <a:solidFill>
                  <a:srgbClr val="FF0000">
                    <a:alpha val="50000"/>
                  </a:srgbClr>
                </a:solidFill>
                <a:latin typeface="Calibri" panose="020F0502020204030204" pitchFamily="34" charset="0"/>
                <a:ea typeface="Calibri" panose="020F0502020204030204" pitchFamily="34" charset="0"/>
                <a:cs typeface="Calibri" panose="020F0502020204030204" pitchFamily="34" charset="0"/>
              </a:rPr>
              <a:t>UNOFFICIAL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hyperlink" Target="https://www.csiro.au/" TargetMode="External"/><Relationship Id="rId10" Type="http://schemas.openxmlformats.org/officeDocument/2006/relationships/image" Target="../media/image6.png"/><Relationship Id="rId4" Type="http://schemas.openxmlformats.org/officeDocument/2006/relationships/hyperlink" Target="https://www.education.gov.au/national-collaborative-research-infrastructure-strategy-ncris" TargetMode="Externa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svg"/><Relationship Id="rId18" Type="http://schemas.openxmlformats.org/officeDocument/2006/relationships/image" Target="../media/image31.svg"/><Relationship Id="rId3" Type="http://schemas.openxmlformats.org/officeDocument/2006/relationships/image" Target="../media/image10.png"/><Relationship Id="rId21" Type="http://schemas.openxmlformats.org/officeDocument/2006/relationships/image" Target="../media/image34.svg"/><Relationship Id="rId7" Type="http://schemas.openxmlformats.org/officeDocument/2006/relationships/image" Target="../media/image20.svg"/><Relationship Id="rId12" Type="http://schemas.openxmlformats.org/officeDocument/2006/relationships/image" Target="../media/image25.svg"/><Relationship Id="rId17" Type="http://schemas.openxmlformats.org/officeDocument/2006/relationships/image" Target="../media/image30.svg"/><Relationship Id="rId25" Type="http://schemas.openxmlformats.org/officeDocument/2006/relationships/image" Target="../media/image38.svg"/><Relationship Id="rId2" Type="http://schemas.openxmlformats.org/officeDocument/2006/relationships/notesSlide" Target="../notesSlides/notesSlide4.xml"/><Relationship Id="rId16" Type="http://schemas.openxmlformats.org/officeDocument/2006/relationships/image" Target="../media/image29.jpeg"/><Relationship Id="rId20"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4.svg"/><Relationship Id="rId24" Type="http://schemas.openxmlformats.org/officeDocument/2006/relationships/image" Target="../media/image37.svg"/><Relationship Id="rId5" Type="http://schemas.openxmlformats.org/officeDocument/2006/relationships/image" Target="../media/image18.svg"/><Relationship Id="rId15" Type="http://schemas.openxmlformats.org/officeDocument/2006/relationships/image" Target="../media/image28.svg"/><Relationship Id="rId23" Type="http://schemas.openxmlformats.org/officeDocument/2006/relationships/image" Target="../media/image36.svg"/><Relationship Id="rId10" Type="http://schemas.openxmlformats.org/officeDocument/2006/relationships/image" Target="../media/image23.svg"/><Relationship Id="rId19" Type="http://schemas.openxmlformats.org/officeDocument/2006/relationships/image" Target="../media/image32.svg"/><Relationship Id="rId4" Type="http://schemas.openxmlformats.org/officeDocument/2006/relationships/image" Target="../media/image17.svg"/><Relationship Id="rId9" Type="http://schemas.openxmlformats.org/officeDocument/2006/relationships/image" Target="../media/image22.svg"/><Relationship Id="rId14" Type="http://schemas.openxmlformats.org/officeDocument/2006/relationships/image" Target="../media/image27.svg"/><Relationship Id="rId22" Type="http://schemas.openxmlformats.org/officeDocument/2006/relationships/image" Target="../media/image35.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9.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hyperlink" Target="https://gbif.github.io/dwc-dp/qrg/#dwca"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2123704" y="6366013"/>
            <a:ext cx="12534546" cy="4121395"/>
          </a:xfrm>
          <a:custGeom>
            <a:avLst/>
            <a:gdLst/>
            <a:ahLst/>
            <a:cxnLst/>
            <a:rect l="l" t="t" r="r" b="b"/>
            <a:pathLst>
              <a:path w="12534546" h="4121395">
                <a:moveTo>
                  <a:pt x="0" y="4121395"/>
                </a:moveTo>
                <a:lnTo>
                  <a:pt x="12534546" y="4121395"/>
                </a:lnTo>
                <a:lnTo>
                  <a:pt x="12534546" y="0"/>
                </a:lnTo>
                <a:lnTo>
                  <a:pt x="0" y="0"/>
                </a:lnTo>
                <a:lnTo>
                  <a:pt x="0" y="4121395"/>
                </a:lnTo>
                <a:close/>
              </a:path>
            </a:pathLst>
          </a:custGeom>
          <a:blipFill>
            <a:blip r:embed="rId3">
              <a:alphaModFix amt="40000"/>
            </a:blip>
            <a:stretch>
              <a:fillRect b="-1458"/>
            </a:stretch>
          </a:blipFill>
        </p:spPr>
        <p:txBody>
          <a:bodyPr/>
          <a:lstStyle/>
          <a:p>
            <a:endParaRPr lang="en-US"/>
          </a:p>
        </p:txBody>
      </p:sp>
      <p:grpSp>
        <p:nvGrpSpPr>
          <p:cNvPr id="3" name="Group 3"/>
          <p:cNvGrpSpPr/>
          <p:nvPr/>
        </p:nvGrpSpPr>
        <p:grpSpPr>
          <a:xfrm>
            <a:off x="-144879" y="-191329"/>
            <a:ext cx="19103423" cy="10678737"/>
            <a:chOff x="0" y="0"/>
            <a:chExt cx="4808773" cy="2709333"/>
          </a:xfrm>
        </p:grpSpPr>
        <p:sp>
          <p:nvSpPr>
            <p:cNvPr id="4" name="Freeform 4"/>
            <p:cNvSpPr/>
            <p:nvPr/>
          </p:nvSpPr>
          <p:spPr>
            <a:xfrm>
              <a:off x="0" y="0"/>
              <a:ext cx="4808774" cy="2709333"/>
            </a:xfrm>
            <a:custGeom>
              <a:avLst/>
              <a:gdLst/>
              <a:ahLst/>
              <a:cxnLst/>
              <a:rect l="l" t="t" r="r" b="b"/>
              <a:pathLst>
                <a:path w="4808774" h="2709333">
                  <a:moveTo>
                    <a:pt x="0" y="0"/>
                  </a:moveTo>
                  <a:lnTo>
                    <a:pt x="4808774" y="0"/>
                  </a:lnTo>
                  <a:lnTo>
                    <a:pt x="4808774" y="2709333"/>
                  </a:lnTo>
                  <a:lnTo>
                    <a:pt x="0" y="2709333"/>
                  </a:lnTo>
                  <a:close/>
                </a:path>
              </a:pathLst>
            </a:custGeom>
            <a:solidFill>
              <a:schemeClr val="bg2"/>
            </a:solidFill>
          </p:spPr>
          <p:txBody>
            <a:bodyPr/>
            <a:lstStyle/>
            <a:p>
              <a:endParaRPr lang="en-US"/>
            </a:p>
          </p:txBody>
        </p:sp>
        <p:sp>
          <p:nvSpPr>
            <p:cNvPr id="5" name="TextBox 5"/>
            <p:cNvSpPr txBox="1"/>
            <p:nvPr/>
          </p:nvSpPr>
          <p:spPr>
            <a:xfrm>
              <a:off x="0" y="-38100"/>
              <a:ext cx="812800" cy="850900"/>
            </a:xfrm>
            <a:prstGeom prst="rect">
              <a:avLst/>
            </a:prstGeom>
          </p:spPr>
          <p:txBody>
            <a:bodyPr lIns="49251" tIns="49251" rIns="49251" bIns="49251" rtlCol="0" anchor="ctr"/>
            <a:lstStyle/>
            <a:p>
              <a:pPr algn="ctr">
                <a:lnSpc>
                  <a:spcPts val="2307"/>
                </a:lnSpc>
              </a:pPr>
              <a:endParaRPr/>
            </a:p>
          </p:txBody>
        </p:sp>
      </p:grpSp>
      <p:sp>
        <p:nvSpPr>
          <p:cNvPr id="26" name="TextBox 26"/>
          <p:cNvSpPr txBox="1"/>
          <p:nvPr/>
        </p:nvSpPr>
        <p:spPr>
          <a:xfrm>
            <a:off x="454531" y="106203"/>
            <a:ext cx="11224165" cy="4488408"/>
          </a:xfrm>
          <a:prstGeom prst="rect">
            <a:avLst/>
          </a:prstGeom>
        </p:spPr>
        <p:txBody>
          <a:bodyPr wrap="square" lIns="0" tIns="0" rIns="0" bIns="0" rtlCol="0" anchor="t">
            <a:spAutoFit/>
          </a:bodyPr>
          <a:lstStyle/>
          <a:p>
            <a:pPr>
              <a:lnSpc>
                <a:spcPts val="5087"/>
              </a:lnSpc>
            </a:pPr>
            <a:r>
              <a:rPr lang="en-AU" sz="4150" dirty="0">
                <a:solidFill>
                  <a:schemeClr val="accent3">
                    <a:lumMod val="50000"/>
                  </a:schemeClr>
                </a:solidFill>
                <a:latin typeface="Lato Bold"/>
              </a:rPr>
              <a:t>Working Session: </a:t>
            </a:r>
            <a:r>
              <a:rPr lang="en-AU" sz="4150" strike="sngStrike" dirty="0">
                <a:solidFill>
                  <a:schemeClr val="accent3">
                    <a:lumMod val="50000"/>
                  </a:schemeClr>
                </a:solidFill>
                <a:latin typeface="Lato Bold"/>
              </a:rPr>
              <a:t>Sensitive Species </a:t>
            </a:r>
            <a:r>
              <a:rPr lang="en-AU" sz="4150" dirty="0">
                <a:solidFill>
                  <a:schemeClr val="accent3">
                    <a:lumMod val="50000"/>
                  </a:schemeClr>
                </a:solidFill>
                <a:latin typeface="Lato Bold"/>
                <a:ea typeface="Calibri"/>
                <a:cs typeface="Calibri"/>
              </a:rPr>
              <a:t>Restricted Access Species Data </a:t>
            </a:r>
            <a:r>
              <a:rPr lang="en-AU" sz="4150" dirty="0">
                <a:solidFill>
                  <a:schemeClr val="accent3">
                    <a:lumMod val="50000"/>
                  </a:schemeClr>
                </a:solidFill>
                <a:latin typeface="Lato Bold"/>
              </a:rPr>
              <a:t>Extension Task Group</a:t>
            </a:r>
            <a:r>
              <a:rPr lang="en-AU" sz="4150" dirty="0">
                <a:solidFill>
                  <a:schemeClr val="accent3">
                    <a:lumMod val="50000"/>
                  </a:schemeClr>
                </a:solidFill>
                <a:latin typeface="Lato Bold"/>
                <a:ea typeface="Calibri"/>
                <a:cs typeface="Calibri"/>
              </a:rPr>
              <a:t> 2026</a:t>
            </a:r>
            <a:endParaRPr lang="en-US" dirty="0">
              <a:solidFill>
                <a:schemeClr val="accent3">
                  <a:lumMod val="50000"/>
                </a:schemeClr>
              </a:solidFill>
              <a:latin typeface="Calibri"/>
              <a:ea typeface="Calibri"/>
              <a:cs typeface="Calibri"/>
            </a:endParaRPr>
          </a:p>
          <a:p>
            <a:pPr>
              <a:lnSpc>
                <a:spcPts val="5087"/>
              </a:lnSpc>
            </a:pPr>
            <a:endParaRPr lang="en-US" sz="2400" dirty="0">
              <a:solidFill>
                <a:schemeClr val="accent3">
                  <a:lumMod val="50000"/>
                </a:schemeClr>
              </a:solidFill>
              <a:latin typeface="Lato Bold"/>
              <a:ea typeface="Lato Bold"/>
              <a:cs typeface="Lato Bold"/>
            </a:endParaRPr>
          </a:p>
          <a:p>
            <a:pPr>
              <a:lnSpc>
                <a:spcPts val="5087"/>
              </a:lnSpc>
            </a:pPr>
            <a:r>
              <a:rPr lang="en-US" sz="2400" dirty="0">
                <a:solidFill>
                  <a:schemeClr val="accent3">
                    <a:lumMod val="50000"/>
                  </a:schemeClr>
                </a:solidFill>
                <a:latin typeface="Lato Bold"/>
              </a:rPr>
              <a:t>Presenters: Cam Slatyer, Simon Sherrin, Mieke Strong, Tania Laity</a:t>
            </a:r>
            <a:endParaRPr lang="en-US" sz="2400" dirty="0">
              <a:solidFill>
                <a:schemeClr val="accent3">
                  <a:lumMod val="50000"/>
                </a:schemeClr>
              </a:solidFill>
              <a:latin typeface="Lato Bold"/>
              <a:ea typeface="Lato Bold"/>
              <a:cs typeface="Lato Bold"/>
            </a:endParaRPr>
          </a:p>
          <a:p>
            <a:pPr>
              <a:lnSpc>
                <a:spcPts val="5087"/>
              </a:lnSpc>
            </a:pPr>
            <a:r>
              <a:rPr lang="en-US" sz="2400" dirty="0">
                <a:solidFill>
                  <a:schemeClr val="accent3">
                    <a:lumMod val="50000"/>
                  </a:schemeClr>
                </a:solidFill>
                <a:latin typeface="Lato Bold"/>
                <a:ea typeface="Lato Bold"/>
                <a:cs typeface="Lato Bold"/>
              </a:rPr>
              <a:t>Convening Group: Cameron Slatyer, Tania Laity, Piers Higgs, Andrew Rodrigues</a:t>
            </a:r>
          </a:p>
          <a:p>
            <a:pPr>
              <a:lnSpc>
                <a:spcPts val="4355"/>
              </a:lnSpc>
            </a:pPr>
            <a:endParaRPr lang="en-US" sz="4170" dirty="0">
              <a:solidFill>
                <a:schemeClr val="accent3">
                  <a:lumMod val="50000"/>
                </a:schemeClr>
              </a:solidFill>
              <a:latin typeface="Lato Bold"/>
            </a:endParaRPr>
          </a:p>
        </p:txBody>
      </p:sp>
      <p:sp>
        <p:nvSpPr>
          <p:cNvPr id="27" name="TextBox 27"/>
          <p:cNvSpPr txBox="1"/>
          <p:nvPr/>
        </p:nvSpPr>
        <p:spPr>
          <a:xfrm>
            <a:off x="6214838" y="9713408"/>
            <a:ext cx="7784782" cy="445635"/>
          </a:xfrm>
          <a:prstGeom prst="rect">
            <a:avLst/>
          </a:prstGeom>
        </p:spPr>
        <p:txBody>
          <a:bodyPr lIns="0" tIns="0" rIns="0" bIns="0" rtlCol="0" anchor="t">
            <a:spAutoFit/>
          </a:bodyPr>
          <a:lstStyle/>
          <a:p>
            <a:pPr algn="r">
              <a:lnSpc>
                <a:spcPts val="1820"/>
              </a:lnSpc>
            </a:pPr>
            <a:r>
              <a:rPr lang="en-US" sz="1300" dirty="0">
                <a:solidFill>
                  <a:schemeClr val="accent3">
                    <a:lumMod val="75000"/>
                  </a:schemeClr>
                </a:solidFill>
                <a:latin typeface="Roboto"/>
              </a:rPr>
              <a:t>All images are licensed under the Creative Commons Attribution 4.0 International </a:t>
            </a:r>
            <a:r>
              <a:rPr lang="en-US" sz="1300" dirty="0" err="1">
                <a:solidFill>
                  <a:schemeClr val="accent3">
                    <a:lumMod val="75000"/>
                  </a:schemeClr>
                </a:solidFill>
                <a:latin typeface="Roboto"/>
              </a:rPr>
              <a:t>licence</a:t>
            </a:r>
            <a:r>
              <a:rPr lang="en-US" sz="1300" dirty="0">
                <a:solidFill>
                  <a:schemeClr val="accent3">
                    <a:lumMod val="75000"/>
                  </a:schemeClr>
                </a:solidFill>
                <a:latin typeface="Roboto"/>
              </a:rPr>
              <a:t> CC BY NC</a:t>
            </a:r>
          </a:p>
          <a:p>
            <a:pPr algn="r">
              <a:lnSpc>
                <a:spcPts val="1820"/>
              </a:lnSpc>
            </a:pPr>
            <a:r>
              <a:rPr lang="en-US" sz="1300" dirty="0">
                <a:solidFill>
                  <a:schemeClr val="accent3">
                    <a:lumMod val="75000"/>
                  </a:schemeClr>
                </a:solidFill>
                <a:latin typeface="Roboto"/>
              </a:rPr>
              <a:t>All other slide content is licensed under the Creative Commons Attribution 4.0 International </a:t>
            </a:r>
            <a:r>
              <a:rPr lang="en-US" sz="1300" dirty="0" err="1">
                <a:solidFill>
                  <a:schemeClr val="accent3">
                    <a:lumMod val="75000"/>
                  </a:schemeClr>
                </a:solidFill>
                <a:latin typeface="Roboto"/>
              </a:rPr>
              <a:t>licence</a:t>
            </a:r>
            <a:r>
              <a:rPr lang="en-US" sz="1300" dirty="0">
                <a:solidFill>
                  <a:schemeClr val="accent3">
                    <a:lumMod val="75000"/>
                  </a:schemeClr>
                </a:solidFill>
                <a:latin typeface="Roboto"/>
              </a:rPr>
              <a:t> CC BY  </a:t>
            </a:r>
          </a:p>
        </p:txBody>
      </p:sp>
      <p:sp>
        <p:nvSpPr>
          <p:cNvPr id="28" name="TextBox 28"/>
          <p:cNvSpPr txBox="1"/>
          <p:nvPr/>
        </p:nvSpPr>
        <p:spPr>
          <a:xfrm>
            <a:off x="447279" y="9576208"/>
            <a:ext cx="5687863" cy="604589"/>
          </a:xfrm>
          <a:prstGeom prst="rect">
            <a:avLst/>
          </a:prstGeom>
        </p:spPr>
        <p:txBody>
          <a:bodyPr lIns="0" tIns="0" rIns="0" bIns="0" rtlCol="0" anchor="t">
            <a:spAutoFit/>
          </a:bodyPr>
          <a:lstStyle/>
          <a:p>
            <a:pPr algn="l">
              <a:lnSpc>
                <a:spcPts val="1557"/>
              </a:lnSpc>
            </a:pPr>
            <a:r>
              <a:rPr lang="en-US" sz="1257" spc="-50" dirty="0">
                <a:solidFill>
                  <a:schemeClr val="accent3">
                    <a:lumMod val="75000"/>
                  </a:schemeClr>
                </a:solidFill>
                <a:latin typeface="Roboto"/>
              </a:rPr>
              <a:t>The ALA is the AU node of GBIF, and receives support from the Australian Government through the </a:t>
            </a:r>
            <a:r>
              <a:rPr lang="en-US" sz="1257" spc="-50" dirty="0">
                <a:solidFill>
                  <a:schemeClr val="accent3">
                    <a:lumMod val="75000"/>
                  </a:schemeClr>
                </a:solidFill>
                <a:latin typeface="Roboto"/>
                <a:hlinkClick r:id="rId4" tooltip="https://www.education.gov.au/national-collaborative-research-infrastructure-strategy-ncris">
                  <a:extLst>
                    <a:ext uri="{A12FA001-AC4F-418D-AE19-62706E023703}">
                      <ahyp:hlinkClr xmlns:ahyp="http://schemas.microsoft.com/office/drawing/2018/hyperlinkcolor" val="tx"/>
                    </a:ext>
                  </a:extLst>
                </a:hlinkClick>
              </a:rPr>
              <a:t>National Collaborative Research Infrastructure Strategy</a:t>
            </a:r>
            <a:r>
              <a:rPr lang="en-US" sz="1257" spc="-50" dirty="0">
                <a:solidFill>
                  <a:schemeClr val="accent3">
                    <a:lumMod val="75000"/>
                  </a:schemeClr>
                </a:solidFill>
                <a:latin typeface="Roboto"/>
              </a:rPr>
              <a:t> (NCRIS) and is hosted by the </a:t>
            </a:r>
            <a:r>
              <a:rPr lang="en-US" sz="1257" spc="-50" dirty="0">
                <a:solidFill>
                  <a:schemeClr val="accent3">
                    <a:lumMod val="75000"/>
                  </a:schemeClr>
                </a:solidFill>
                <a:latin typeface="Roboto"/>
                <a:hlinkClick r:id="rId5" tooltip="https://www.csiro.au/">
                  <a:extLst>
                    <a:ext uri="{A12FA001-AC4F-418D-AE19-62706E023703}">
                      <ahyp:hlinkClr xmlns:ahyp="http://schemas.microsoft.com/office/drawing/2018/hyperlinkcolor" val="tx"/>
                    </a:ext>
                  </a:extLst>
                </a:hlinkClick>
              </a:rPr>
              <a:t>Commonwealth Scientific and Industrial Research </a:t>
            </a:r>
            <a:r>
              <a:rPr lang="en-US" sz="1257" spc="-50" dirty="0" err="1">
                <a:solidFill>
                  <a:schemeClr val="accent3">
                    <a:lumMod val="75000"/>
                  </a:schemeClr>
                </a:solidFill>
                <a:latin typeface="Roboto"/>
                <a:hlinkClick r:id="rId5" tooltip="https://www.csiro.au/">
                  <a:extLst>
                    <a:ext uri="{A12FA001-AC4F-418D-AE19-62706E023703}">
                      <ahyp:hlinkClr xmlns:ahyp="http://schemas.microsoft.com/office/drawing/2018/hyperlinkcolor" val="tx"/>
                    </a:ext>
                  </a:extLst>
                </a:hlinkClick>
              </a:rPr>
              <a:t>Organisation</a:t>
            </a:r>
            <a:r>
              <a:rPr lang="en-US" sz="1257" spc="-50" dirty="0">
                <a:solidFill>
                  <a:schemeClr val="accent3">
                    <a:lumMod val="75000"/>
                  </a:schemeClr>
                </a:solidFill>
                <a:latin typeface="Roboto"/>
              </a:rPr>
              <a:t> (CSIRO).</a:t>
            </a:r>
          </a:p>
        </p:txBody>
      </p:sp>
      <p:sp>
        <p:nvSpPr>
          <p:cNvPr id="12" name="TextBox 11">
            <a:extLst>
              <a:ext uri="{FF2B5EF4-FFF2-40B4-BE49-F238E27FC236}">
                <a16:creationId xmlns:a16="http://schemas.microsoft.com/office/drawing/2014/main" id="{B5A8D9DF-FA38-FD7B-91C4-170954749F88}"/>
              </a:ext>
            </a:extLst>
          </p:cNvPr>
          <p:cNvSpPr txBox="1"/>
          <p:nvPr/>
        </p:nvSpPr>
        <p:spPr>
          <a:xfrm>
            <a:off x="7185159" y="8357703"/>
            <a:ext cx="6803694" cy="1200329"/>
          </a:xfrm>
          <a:prstGeom prst="rect">
            <a:avLst/>
          </a:prstGeom>
          <a:noFill/>
        </p:spPr>
        <p:txBody>
          <a:bodyPr wrap="square" rtlCol="0">
            <a:spAutoFit/>
          </a:bodyPr>
          <a:lstStyle/>
          <a:p>
            <a:r>
              <a:rPr lang="en-AU" b="0" i="0" dirty="0">
                <a:solidFill>
                  <a:schemeClr val="accent3">
                    <a:lumMod val="75000"/>
                  </a:schemeClr>
                </a:solidFill>
                <a:effectLst/>
                <a:latin typeface="Lato" panose="020F0502020204030203" pitchFamily="34" charset="0"/>
                <a:ea typeface="Lato" panose="020F0502020204030203" pitchFamily="34" charset="0"/>
                <a:cs typeface="Lato" panose="020F0502020204030203" pitchFamily="34" charset="0"/>
              </a:rPr>
              <a:t>We acknowledge the Traditional Owners of the land on which we work. We pay our respects to their Elders past and present and recognise their continuing connection and custodianship of the lands, seas, and waters throughout Australia.</a:t>
            </a:r>
            <a:endParaRPr lang="en-US" dirty="0">
              <a:solidFill>
                <a:schemeClr val="accent3">
                  <a:lumMod val="75000"/>
                </a:schemeClr>
              </a:solidFill>
              <a:latin typeface="Lato" panose="020F0502020204030203" pitchFamily="34" charset="0"/>
              <a:ea typeface="Lato" panose="020F0502020204030203" pitchFamily="34" charset="0"/>
              <a:cs typeface="Lato" panose="020F0502020204030203" pitchFamily="34" charset="0"/>
            </a:endParaRPr>
          </a:p>
        </p:txBody>
      </p:sp>
      <p:pic>
        <p:nvPicPr>
          <p:cNvPr id="7" name="Picture 6" descr="A moth on a stick&#10;&#10;AI-generated content may be incorrect.">
            <a:extLst>
              <a:ext uri="{FF2B5EF4-FFF2-40B4-BE49-F238E27FC236}">
                <a16:creationId xmlns:a16="http://schemas.microsoft.com/office/drawing/2014/main" id="{FF74DBE4-DDAE-1137-F7E0-DACB0D45DC47}"/>
              </a:ext>
            </a:extLst>
          </p:cNvPr>
          <p:cNvPicPr>
            <a:picLocks noChangeAspect="1"/>
          </p:cNvPicPr>
          <p:nvPr/>
        </p:nvPicPr>
        <p:blipFill>
          <a:blip r:embed="rId6"/>
          <a:stretch>
            <a:fillRect/>
          </a:stretch>
        </p:blipFill>
        <p:spPr>
          <a:xfrm>
            <a:off x="14700869" y="0"/>
            <a:ext cx="4257675" cy="4229100"/>
          </a:xfrm>
          <a:prstGeom prst="ellipse">
            <a:avLst/>
          </a:prstGeom>
          <a:ln>
            <a:noFill/>
          </a:ln>
          <a:effectLst>
            <a:softEdge rad="112500"/>
          </a:effectLst>
        </p:spPr>
      </p:pic>
      <p:pic>
        <p:nvPicPr>
          <p:cNvPr id="9" name="Picture 8">
            <a:extLst>
              <a:ext uri="{FF2B5EF4-FFF2-40B4-BE49-F238E27FC236}">
                <a16:creationId xmlns:a16="http://schemas.microsoft.com/office/drawing/2014/main" id="{D18271B9-D005-2490-750F-B671867B4532}"/>
              </a:ext>
            </a:extLst>
          </p:cNvPr>
          <p:cNvPicPr>
            <a:picLocks noChangeAspect="1"/>
          </p:cNvPicPr>
          <p:nvPr/>
        </p:nvPicPr>
        <p:blipFill>
          <a:blip r:embed="rId7"/>
          <a:stretch>
            <a:fillRect/>
          </a:stretch>
        </p:blipFill>
        <p:spPr>
          <a:xfrm>
            <a:off x="14522006" y="6749411"/>
            <a:ext cx="4244474" cy="4819996"/>
          </a:xfrm>
          <a:prstGeom prst="rect">
            <a:avLst/>
          </a:prstGeom>
          <a:effectLst>
            <a:softEdge rad="317500"/>
          </a:effectLst>
        </p:spPr>
      </p:pic>
      <p:pic>
        <p:nvPicPr>
          <p:cNvPr id="11" name="Picture 10">
            <a:extLst>
              <a:ext uri="{FF2B5EF4-FFF2-40B4-BE49-F238E27FC236}">
                <a16:creationId xmlns:a16="http://schemas.microsoft.com/office/drawing/2014/main" id="{AF9406FF-504F-B88F-581F-B18C28D2FF1F}"/>
              </a:ext>
            </a:extLst>
          </p:cNvPr>
          <p:cNvPicPr>
            <a:picLocks noChangeAspect="1"/>
          </p:cNvPicPr>
          <p:nvPr/>
        </p:nvPicPr>
        <p:blipFill>
          <a:blip r:embed="rId8"/>
          <a:stretch>
            <a:fillRect/>
          </a:stretch>
        </p:blipFill>
        <p:spPr>
          <a:xfrm>
            <a:off x="11019771" y="1771165"/>
            <a:ext cx="4603241" cy="3149586"/>
          </a:xfrm>
          <a:prstGeom prst="rect">
            <a:avLst/>
          </a:prstGeom>
          <a:effectLst>
            <a:softEdge rad="317500"/>
          </a:effectLst>
        </p:spPr>
      </p:pic>
      <p:pic>
        <p:nvPicPr>
          <p:cNvPr id="10" name="Picture 9">
            <a:extLst>
              <a:ext uri="{FF2B5EF4-FFF2-40B4-BE49-F238E27FC236}">
                <a16:creationId xmlns:a16="http://schemas.microsoft.com/office/drawing/2014/main" id="{0E47833C-7AD5-7787-D4BD-7EAE69183BBE}"/>
              </a:ext>
            </a:extLst>
          </p:cNvPr>
          <p:cNvPicPr>
            <a:picLocks noChangeAspect="1"/>
          </p:cNvPicPr>
          <p:nvPr/>
        </p:nvPicPr>
        <p:blipFill>
          <a:blip r:embed="rId9"/>
          <a:stretch>
            <a:fillRect/>
          </a:stretch>
        </p:blipFill>
        <p:spPr>
          <a:xfrm>
            <a:off x="14215204" y="3131329"/>
            <a:ext cx="4015498" cy="4550293"/>
          </a:xfrm>
          <a:prstGeom prst="rect">
            <a:avLst/>
          </a:prstGeom>
          <a:effectLst>
            <a:softEdge rad="635000"/>
          </a:effectLst>
        </p:spPr>
      </p:pic>
      <p:pic>
        <p:nvPicPr>
          <p:cNvPr id="8" name="Picture 7">
            <a:extLst>
              <a:ext uri="{FF2B5EF4-FFF2-40B4-BE49-F238E27FC236}">
                <a16:creationId xmlns:a16="http://schemas.microsoft.com/office/drawing/2014/main" id="{FC6BBD1B-DBAC-3B36-0BB3-7C493B075753}"/>
              </a:ext>
            </a:extLst>
          </p:cNvPr>
          <p:cNvPicPr>
            <a:picLocks noChangeAspect="1"/>
          </p:cNvPicPr>
          <p:nvPr/>
        </p:nvPicPr>
        <p:blipFill>
          <a:blip r:embed="rId10"/>
          <a:stretch>
            <a:fillRect/>
          </a:stretch>
        </p:blipFill>
        <p:spPr>
          <a:xfrm>
            <a:off x="521563" y="4401426"/>
            <a:ext cx="4156453" cy="1736474"/>
          </a:xfrm>
          <a:prstGeom prst="rect">
            <a:avLst/>
          </a:prstGeom>
        </p:spPr>
      </p:pic>
      <p:pic>
        <p:nvPicPr>
          <p:cNvPr id="15" name="Picture 14">
            <a:extLst>
              <a:ext uri="{FF2B5EF4-FFF2-40B4-BE49-F238E27FC236}">
                <a16:creationId xmlns:a16="http://schemas.microsoft.com/office/drawing/2014/main" id="{919F6BCD-54BB-0C64-126D-14574790C5D8}"/>
              </a:ext>
            </a:extLst>
          </p:cNvPr>
          <p:cNvPicPr>
            <a:picLocks noChangeAspect="1"/>
          </p:cNvPicPr>
          <p:nvPr/>
        </p:nvPicPr>
        <p:blipFill>
          <a:blip r:embed="rId11"/>
          <a:stretch>
            <a:fillRect/>
          </a:stretch>
        </p:blipFill>
        <p:spPr>
          <a:xfrm>
            <a:off x="5000126" y="4401425"/>
            <a:ext cx="4400095" cy="1736475"/>
          </a:xfrm>
          <a:prstGeom prst="rect">
            <a:avLst/>
          </a:prstGeom>
        </p:spPr>
      </p:pic>
      <p:pic>
        <p:nvPicPr>
          <p:cNvPr id="16" name="Picture 15">
            <a:extLst>
              <a:ext uri="{FF2B5EF4-FFF2-40B4-BE49-F238E27FC236}">
                <a16:creationId xmlns:a16="http://schemas.microsoft.com/office/drawing/2014/main" id="{64C229D2-870D-6C56-BD2D-94D21835EED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00126" y="6366011"/>
            <a:ext cx="3879894" cy="1697561"/>
          </a:xfrm>
          <a:prstGeom prst="rect">
            <a:avLst/>
          </a:prstGeom>
        </p:spPr>
      </p:pic>
      <p:pic>
        <p:nvPicPr>
          <p:cNvPr id="14" name="Picture 13">
            <a:extLst>
              <a:ext uri="{FF2B5EF4-FFF2-40B4-BE49-F238E27FC236}">
                <a16:creationId xmlns:a16="http://schemas.microsoft.com/office/drawing/2014/main" id="{6972D518-0697-D1AC-C0E6-DEDB876AF25F}"/>
              </a:ext>
            </a:extLst>
          </p:cNvPr>
          <p:cNvPicPr>
            <a:picLocks noChangeAspect="1"/>
          </p:cNvPicPr>
          <p:nvPr/>
        </p:nvPicPr>
        <p:blipFill>
          <a:blip r:embed="rId13"/>
          <a:stretch>
            <a:fillRect/>
          </a:stretch>
        </p:blipFill>
        <p:spPr>
          <a:xfrm>
            <a:off x="468067" y="6288070"/>
            <a:ext cx="4209949" cy="12389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C35E0BF-4F39-3A3D-F0AA-D7E86770231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F57CE55-D8D0-49BE-0570-49C90FB4A123}"/>
              </a:ext>
            </a:extLst>
          </p:cNvPr>
          <p:cNvSpPr/>
          <p:nvPr/>
        </p:nvSpPr>
        <p:spPr>
          <a:xfrm flipV="1">
            <a:off x="-680232" y="61652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6A17E9CA-AADB-C616-5DCA-D335A245565B}"/>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Sensitive Species</a:t>
            </a:r>
          </a:p>
        </p:txBody>
      </p:sp>
      <p:sp>
        <p:nvSpPr>
          <p:cNvPr id="5" name="TextBox 4">
            <a:extLst>
              <a:ext uri="{FF2B5EF4-FFF2-40B4-BE49-F238E27FC236}">
                <a16:creationId xmlns:a16="http://schemas.microsoft.com/office/drawing/2014/main" id="{45BE0C21-89DA-B5A5-34A0-7ADF86290388}"/>
              </a:ext>
            </a:extLst>
          </p:cNvPr>
          <p:cNvSpPr txBox="1"/>
          <p:nvPr/>
        </p:nvSpPr>
        <p:spPr>
          <a:xfrm>
            <a:off x="422813" y="1476520"/>
            <a:ext cx="9512488" cy="6494085"/>
          </a:xfrm>
          <a:prstGeom prst="rect">
            <a:avLst/>
          </a:prstGeom>
          <a:noFill/>
        </p:spPr>
        <p:txBody>
          <a:bodyPr wrap="square">
            <a:spAutoFit/>
          </a:bodyPr>
          <a:lstStyle/>
          <a:p>
            <a:r>
              <a:rPr lang="en-AU" sz="3600" b="1" dirty="0">
                <a:solidFill>
                  <a:schemeClr val="bg2">
                    <a:lumMod val="25000"/>
                  </a:schemeClr>
                </a:solidFill>
                <a:latin typeface="Lato" panose="020F0502020204030203" pitchFamily="34" charset="0"/>
              </a:rPr>
              <a:t>Sensitive Species Data:</a:t>
            </a:r>
          </a:p>
          <a:p>
            <a:r>
              <a:rPr lang="en-AU" sz="3600" b="1" dirty="0">
                <a:solidFill>
                  <a:schemeClr val="bg2">
                    <a:lumMod val="25000"/>
                  </a:schemeClr>
                </a:solidFill>
                <a:latin typeface="Lato" panose="020F0502020204030203" pitchFamily="34" charset="0"/>
              </a:rPr>
              <a:t>are data about species that have features that mean there are reasons for withholding the data from public view or modifying the data before it is made public.</a:t>
            </a:r>
            <a:br>
              <a:rPr lang="en-AU" sz="3600" b="1" dirty="0">
                <a:solidFill>
                  <a:schemeClr val="bg2">
                    <a:lumMod val="25000"/>
                  </a:schemeClr>
                </a:solidFill>
                <a:latin typeface="Lato" panose="020F0502020204030203" pitchFamily="34" charset="0"/>
              </a:rPr>
            </a:br>
            <a:br>
              <a:rPr lang="en-AU" sz="3600" b="1" dirty="0">
                <a:solidFill>
                  <a:schemeClr val="bg2">
                    <a:lumMod val="25000"/>
                  </a:schemeClr>
                </a:solidFill>
                <a:latin typeface="Lato" panose="020F0502020204030203" pitchFamily="34" charset="0"/>
              </a:rPr>
            </a:br>
            <a:r>
              <a:rPr lang="en-AU" sz="3600" b="1" dirty="0">
                <a:solidFill>
                  <a:schemeClr val="bg2">
                    <a:lumMod val="25000"/>
                  </a:schemeClr>
                </a:solidFill>
                <a:latin typeface="Lato" panose="020F0502020204030203" pitchFamily="34" charset="0"/>
              </a:rPr>
              <a:t>Our Task Group has started referring to </a:t>
            </a:r>
            <a:r>
              <a:rPr lang="en-AU" sz="3600" dirty="0">
                <a:solidFill>
                  <a:schemeClr val="accent3">
                    <a:lumMod val="50000"/>
                  </a:schemeClr>
                </a:solidFill>
                <a:latin typeface="Lato Bold"/>
                <a:ea typeface="Calibri"/>
                <a:cs typeface="Calibri"/>
              </a:rPr>
              <a:t>Restricted Access Species Data</a:t>
            </a:r>
            <a:endParaRPr lang="en-US" sz="3600" dirty="0">
              <a:solidFill>
                <a:schemeClr val="accent3">
                  <a:lumMod val="50000"/>
                </a:schemeClr>
              </a:solidFill>
              <a:ea typeface="Calibri"/>
              <a:cs typeface="Calibri"/>
            </a:endParaRPr>
          </a:p>
          <a:p>
            <a:r>
              <a:rPr lang="en-AU" sz="3600" b="1" dirty="0">
                <a:solidFill>
                  <a:schemeClr val="bg2">
                    <a:lumMod val="25000"/>
                  </a:schemeClr>
                </a:solidFill>
                <a:latin typeface="Lato" panose="020F0502020204030203" pitchFamily="34" charset="0"/>
              </a:rPr>
              <a:t>Because it is less likely to be confused with issues like government security levels</a:t>
            </a:r>
          </a:p>
          <a:p>
            <a:endParaRPr lang="en-AU" sz="2800" dirty="0">
              <a:solidFill>
                <a:schemeClr val="bg2">
                  <a:lumMod val="25000"/>
                </a:schemeClr>
              </a:solidFill>
              <a:latin typeface="Lato" panose="020F0502020204030203" pitchFamily="34" charset="0"/>
            </a:endParaRPr>
          </a:p>
          <a:p>
            <a:r>
              <a:rPr lang="en-AU" sz="2800" dirty="0">
                <a:solidFill>
                  <a:schemeClr val="bg2">
                    <a:lumMod val="25000"/>
                  </a:schemeClr>
                </a:solidFill>
                <a:latin typeface="Lato" panose="020F0502020204030203" pitchFamily="34" charset="0"/>
              </a:rPr>
              <a:t>​</a:t>
            </a:r>
          </a:p>
        </p:txBody>
      </p:sp>
      <p:pic>
        <p:nvPicPr>
          <p:cNvPr id="3" name="Picture 2">
            <a:extLst>
              <a:ext uri="{FF2B5EF4-FFF2-40B4-BE49-F238E27FC236}">
                <a16:creationId xmlns:a16="http://schemas.microsoft.com/office/drawing/2014/main" id="{B6FDA827-30CA-FF75-FE04-5DE5986D11F1}"/>
              </a:ext>
            </a:extLst>
          </p:cNvPr>
          <p:cNvPicPr>
            <a:picLocks noChangeAspect="1"/>
          </p:cNvPicPr>
          <p:nvPr/>
        </p:nvPicPr>
        <p:blipFill>
          <a:blip r:embed="rId4"/>
          <a:stretch>
            <a:fillRect/>
          </a:stretch>
        </p:blipFill>
        <p:spPr>
          <a:xfrm>
            <a:off x="10030458" y="1476520"/>
            <a:ext cx="7834729" cy="6084703"/>
          </a:xfrm>
          <a:prstGeom prst="rect">
            <a:avLst/>
          </a:prstGeom>
        </p:spPr>
      </p:pic>
    </p:spTree>
    <p:extLst>
      <p:ext uri="{BB962C8B-B14F-4D97-AF65-F5344CB8AC3E}">
        <p14:creationId xmlns:p14="http://schemas.microsoft.com/office/powerpoint/2010/main" val="3703019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2318CFD-0387-67A7-AA43-AC861B95FF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266E7F-EC26-BD8D-0BBF-567E594EA11A}"/>
              </a:ext>
            </a:extLst>
          </p:cNvPr>
          <p:cNvSpPr/>
          <p:nvPr/>
        </p:nvSpPr>
        <p:spPr>
          <a:xfrm flipV="1">
            <a:off x="-680232" y="61652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9353E529-340A-1217-E7FF-D6C4C2801BBD}"/>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RASD versus Threatened Species</a:t>
            </a:r>
          </a:p>
        </p:txBody>
      </p:sp>
      <p:sp>
        <p:nvSpPr>
          <p:cNvPr id="6" name="TextBox 8">
            <a:extLst>
              <a:ext uri="{FF2B5EF4-FFF2-40B4-BE49-F238E27FC236}">
                <a16:creationId xmlns:a16="http://schemas.microsoft.com/office/drawing/2014/main" id="{3ABD031D-8EF2-5A8D-FEE2-04FA1A32FA3F}"/>
              </a:ext>
            </a:extLst>
          </p:cNvPr>
          <p:cNvSpPr txBox="1"/>
          <p:nvPr/>
        </p:nvSpPr>
        <p:spPr>
          <a:xfrm>
            <a:off x="9157603" y="2001272"/>
            <a:ext cx="5638349" cy="448954"/>
          </a:xfrm>
          <a:prstGeom prst="rect">
            <a:avLst/>
          </a:prstGeom>
        </p:spPr>
        <p:txBody>
          <a:bodyPr lIns="0" tIns="0" rIns="0" bIns="0" rtlCol="0" anchor="t">
            <a:spAutoFit/>
          </a:bodyPr>
          <a:lstStyle/>
          <a:p>
            <a:pPr algn="ctr">
              <a:lnSpc>
                <a:spcPts val="3410"/>
              </a:lnSpc>
            </a:pPr>
            <a:r>
              <a:rPr lang="en-US" sz="3100">
                <a:solidFill>
                  <a:srgbClr val="F26649"/>
                </a:solidFill>
                <a:latin typeface="Lato Bold"/>
              </a:rPr>
              <a:t>Threatened Species</a:t>
            </a:r>
          </a:p>
        </p:txBody>
      </p:sp>
      <p:sp>
        <p:nvSpPr>
          <p:cNvPr id="7" name="TextBox 9">
            <a:extLst>
              <a:ext uri="{FF2B5EF4-FFF2-40B4-BE49-F238E27FC236}">
                <a16:creationId xmlns:a16="http://schemas.microsoft.com/office/drawing/2014/main" id="{D0B1D336-0DAC-BD60-82A2-8E7707F7BD61}"/>
              </a:ext>
            </a:extLst>
          </p:cNvPr>
          <p:cNvSpPr txBox="1"/>
          <p:nvPr/>
        </p:nvSpPr>
        <p:spPr>
          <a:xfrm>
            <a:off x="3575021" y="2054980"/>
            <a:ext cx="5638349" cy="448954"/>
          </a:xfrm>
          <a:prstGeom prst="rect">
            <a:avLst/>
          </a:prstGeom>
        </p:spPr>
        <p:txBody>
          <a:bodyPr lIns="0" tIns="0" rIns="0" bIns="0" rtlCol="0" anchor="t">
            <a:spAutoFit/>
          </a:bodyPr>
          <a:lstStyle/>
          <a:p>
            <a:pPr algn="ctr">
              <a:lnSpc>
                <a:spcPts val="3410"/>
              </a:lnSpc>
            </a:pPr>
            <a:r>
              <a:rPr lang="en-US" sz="3100">
                <a:solidFill>
                  <a:srgbClr val="F26649"/>
                </a:solidFill>
                <a:latin typeface="Lato Bold"/>
              </a:rPr>
              <a:t>Sensitive Species</a:t>
            </a:r>
          </a:p>
        </p:txBody>
      </p:sp>
      <p:sp>
        <p:nvSpPr>
          <p:cNvPr id="10" name="Oval 9">
            <a:extLst>
              <a:ext uri="{FF2B5EF4-FFF2-40B4-BE49-F238E27FC236}">
                <a16:creationId xmlns:a16="http://schemas.microsoft.com/office/drawing/2014/main" id="{CFFC67AC-145D-05E6-3416-64C5C62DE136}"/>
              </a:ext>
            </a:extLst>
          </p:cNvPr>
          <p:cNvSpPr/>
          <p:nvPr/>
        </p:nvSpPr>
        <p:spPr>
          <a:xfrm>
            <a:off x="3077496" y="2580172"/>
            <a:ext cx="6967693" cy="6760474"/>
          </a:xfrm>
          <a:prstGeom prst="ellipse">
            <a:avLst/>
          </a:prstGeom>
          <a:solidFill>
            <a:schemeClr val="accent5">
              <a:alpha val="8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lIns="360000" tIns="0" rIns="720000" bIns="360000" rtlCol="0" anchor="ctr"/>
          <a:lstStyle/>
          <a:p>
            <a:r>
              <a:rPr lang="en-AU" sz="2400"/>
              <a:t>Sensitive species: </a:t>
            </a:r>
            <a:endParaRPr lang="en-US" sz="2400"/>
          </a:p>
          <a:p>
            <a:pPr marL="285750" indent="-285750">
              <a:buFont typeface="Arial"/>
              <a:buChar char="•"/>
            </a:pPr>
            <a:r>
              <a:rPr lang="en-AU" sz="2400"/>
              <a:t>May be rare, or even common, species whose appearance, management, value, habits, cultural significance or invasiveness make their locality information sensitive</a:t>
            </a:r>
            <a:endParaRPr lang="en-AU" sz="2400">
              <a:ea typeface="Calibri"/>
              <a:cs typeface="Calibri"/>
            </a:endParaRPr>
          </a:p>
        </p:txBody>
      </p:sp>
      <p:sp>
        <p:nvSpPr>
          <p:cNvPr id="11" name="Oval 10">
            <a:extLst>
              <a:ext uri="{FF2B5EF4-FFF2-40B4-BE49-F238E27FC236}">
                <a16:creationId xmlns:a16="http://schemas.microsoft.com/office/drawing/2014/main" id="{607E4F2C-4067-6241-CD59-DC533D571835}"/>
              </a:ext>
            </a:extLst>
          </p:cNvPr>
          <p:cNvSpPr/>
          <p:nvPr/>
        </p:nvSpPr>
        <p:spPr>
          <a:xfrm>
            <a:off x="8325785" y="2580171"/>
            <a:ext cx="6747067" cy="6652319"/>
          </a:xfrm>
          <a:prstGeom prst="ellipse">
            <a:avLst/>
          </a:prstGeom>
          <a:solidFill>
            <a:schemeClr val="accent6">
              <a:alpha val="8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lIns="720000" tIns="0" rIns="360000" bIns="540000" rtlCol="0" anchor="ctr"/>
          <a:lstStyle/>
          <a:p>
            <a:r>
              <a:rPr lang="en-AU" sz="2400" dirty="0"/>
              <a:t>Threatened Species are:</a:t>
            </a:r>
          </a:p>
          <a:p>
            <a:pPr marL="285750" indent="-285750">
              <a:buFont typeface="Arial" panose="020B0604020202020204" pitchFamily="34" charset="0"/>
              <a:buChar char="•"/>
            </a:pPr>
            <a:r>
              <a:rPr lang="en-AU" sz="2400" dirty="0"/>
              <a:t>Those species listed as threatened under legislation</a:t>
            </a:r>
          </a:p>
        </p:txBody>
      </p:sp>
      <p:pic>
        <p:nvPicPr>
          <p:cNvPr id="12" name="Picture 11">
            <a:extLst>
              <a:ext uri="{FF2B5EF4-FFF2-40B4-BE49-F238E27FC236}">
                <a16:creationId xmlns:a16="http://schemas.microsoft.com/office/drawing/2014/main" id="{1036AF08-7757-5180-58FA-A956DCD99650}"/>
              </a:ext>
            </a:extLst>
          </p:cNvPr>
          <p:cNvPicPr>
            <a:picLocks noChangeAspect="1"/>
          </p:cNvPicPr>
          <p:nvPr/>
        </p:nvPicPr>
        <p:blipFill>
          <a:blip r:embed="rId4">
            <a:extLst>
              <a:ext uri="{28A0092B-C50C-407E-A947-70E740481C1C}">
                <a14:useLocalDpi xmlns:a14="http://schemas.microsoft.com/office/drawing/2010/main" val="0"/>
              </a:ext>
            </a:extLst>
          </a:blip>
          <a:srcRect t="2675" b="2675"/>
          <a:stretch/>
        </p:blipFill>
        <p:spPr>
          <a:xfrm>
            <a:off x="14357210" y="266746"/>
            <a:ext cx="4613799" cy="4366959"/>
          </a:xfrm>
          <a:prstGeom prst="flowChartConnector">
            <a:avLst/>
          </a:prstGeom>
          <a:ln w="114300">
            <a:solidFill>
              <a:schemeClr val="bg1"/>
            </a:solidFill>
          </a:ln>
        </p:spPr>
      </p:pic>
      <p:pic>
        <p:nvPicPr>
          <p:cNvPr id="13" name="Picture 12">
            <a:extLst>
              <a:ext uri="{FF2B5EF4-FFF2-40B4-BE49-F238E27FC236}">
                <a16:creationId xmlns:a16="http://schemas.microsoft.com/office/drawing/2014/main" id="{F61C7DC1-AB17-4CA5-922C-C79175CBE8AB}"/>
              </a:ext>
            </a:extLst>
          </p:cNvPr>
          <p:cNvPicPr>
            <a:picLocks noChangeAspect="1"/>
          </p:cNvPicPr>
          <p:nvPr/>
        </p:nvPicPr>
        <p:blipFill>
          <a:blip r:embed="rId5" cstate="print">
            <a:extLst>
              <a:ext uri="{28A0092B-C50C-407E-A947-70E740481C1C}">
                <a14:useLocalDpi xmlns:a14="http://schemas.microsoft.com/office/drawing/2010/main" val="0"/>
              </a:ext>
            </a:extLst>
          </a:blip>
          <a:srcRect l="10380" r="10380"/>
          <a:stretch/>
        </p:blipFill>
        <p:spPr>
          <a:xfrm>
            <a:off x="7380468" y="6855421"/>
            <a:ext cx="4613799" cy="4366959"/>
          </a:xfrm>
          <a:prstGeom prst="flowChartConnector">
            <a:avLst/>
          </a:prstGeom>
          <a:ln w="114300">
            <a:solidFill>
              <a:schemeClr val="bg1"/>
            </a:solidFill>
          </a:ln>
        </p:spPr>
      </p:pic>
      <p:pic>
        <p:nvPicPr>
          <p:cNvPr id="14" name="Picture 13" descr="A tree with carved pattern&#10;&#10;Description automatically generated">
            <a:extLst>
              <a:ext uri="{FF2B5EF4-FFF2-40B4-BE49-F238E27FC236}">
                <a16:creationId xmlns:a16="http://schemas.microsoft.com/office/drawing/2014/main" id="{CD6AFEFE-6492-5822-3BEC-1E05A040CBE5}"/>
              </a:ext>
            </a:extLst>
          </p:cNvPr>
          <p:cNvPicPr>
            <a:picLocks noChangeAspect="1"/>
          </p:cNvPicPr>
          <p:nvPr/>
        </p:nvPicPr>
        <p:blipFill>
          <a:blip r:embed="rId6"/>
          <a:stretch>
            <a:fillRect/>
          </a:stretch>
        </p:blipFill>
        <p:spPr>
          <a:xfrm>
            <a:off x="-572039" y="4486469"/>
            <a:ext cx="2721994" cy="3424327"/>
          </a:xfrm>
          <a:prstGeom prst="rect">
            <a:avLst/>
          </a:prstGeom>
        </p:spPr>
      </p:pic>
      <p:pic>
        <p:nvPicPr>
          <p:cNvPr id="15" name="Picture 14" descr="A spider on the ground&#10;&#10;AI-generated content may be incorrect.">
            <a:extLst>
              <a:ext uri="{FF2B5EF4-FFF2-40B4-BE49-F238E27FC236}">
                <a16:creationId xmlns:a16="http://schemas.microsoft.com/office/drawing/2014/main" id="{50599241-1918-C27C-4055-BC26E82558D3}"/>
              </a:ext>
            </a:extLst>
          </p:cNvPr>
          <p:cNvPicPr>
            <a:picLocks noChangeAspect="1"/>
          </p:cNvPicPr>
          <p:nvPr/>
        </p:nvPicPr>
        <p:blipFill>
          <a:blip r:embed="rId7" cstate="print">
            <a:extLst>
              <a:ext uri="{28A0092B-C50C-407E-A947-70E740481C1C}">
                <a14:useLocalDpi xmlns:a14="http://schemas.microsoft.com/office/drawing/2010/main" val="0"/>
              </a:ext>
            </a:extLst>
          </a:blip>
          <a:srcRect l="5180" t="18480" r="177" b="14334"/>
          <a:stretch/>
        </p:blipFill>
        <p:spPr>
          <a:xfrm>
            <a:off x="-843858" y="133599"/>
            <a:ext cx="4613799" cy="4366959"/>
          </a:xfrm>
          <a:prstGeom prst="flowChartConnector">
            <a:avLst/>
          </a:prstGeom>
          <a:ln w="114300">
            <a:solidFill>
              <a:schemeClr val="bg1"/>
            </a:solidFill>
          </a:ln>
        </p:spPr>
      </p:pic>
      <p:pic>
        <p:nvPicPr>
          <p:cNvPr id="16" name="Picture 15" descr="A close up of a bug&#10;&#10;Description automatically generated">
            <a:extLst>
              <a:ext uri="{FF2B5EF4-FFF2-40B4-BE49-F238E27FC236}">
                <a16:creationId xmlns:a16="http://schemas.microsoft.com/office/drawing/2014/main" id="{BAC0A6CC-02C7-4094-6238-EC2DF7ABC69A}"/>
              </a:ext>
            </a:extLst>
          </p:cNvPr>
          <p:cNvPicPr>
            <a:picLocks noChangeAspect="1"/>
          </p:cNvPicPr>
          <p:nvPr/>
        </p:nvPicPr>
        <p:blipFill>
          <a:blip r:embed="rId8"/>
          <a:srcRect l="253" t="-3373" b="-1"/>
          <a:stretch/>
        </p:blipFill>
        <p:spPr>
          <a:xfrm>
            <a:off x="179559" y="7686703"/>
            <a:ext cx="2557522" cy="1861872"/>
          </a:xfrm>
          <a:prstGeom prst="flowChartConnector">
            <a:avLst/>
          </a:prstGeom>
          <a:ln w="76200">
            <a:solidFill>
              <a:schemeClr val="bg1"/>
            </a:solidFill>
          </a:ln>
        </p:spPr>
      </p:pic>
      <p:sp>
        <p:nvSpPr>
          <p:cNvPr id="17" name="TextBox 22">
            <a:extLst>
              <a:ext uri="{FF2B5EF4-FFF2-40B4-BE49-F238E27FC236}">
                <a16:creationId xmlns:a16="http://schemas.microsoft.com/office/drawing/2014/main" id="{70C57E5E-9117-A8E7-70AA-0468D9B7D66D}"/>
              </a:ext>
            </a:extLst>
          </p:cNvPr>
          <p:cNvSpPr txBox="1"/>
          <p:nvPr/>
        </p:nvSpPr>
        <p:spPr>
          <a:xfrm>
            <a:off x="377017" y="3456240"/>
            <a:ext cx="2202528" cy="707886"/>
          </a:xfrm>
          <a:prstGeom prst="rect">
            <a:avLst/>
          </a:prstGeom>
          <a:solidFill>
            <a:schemeClr val="bg2">
              <a:lumMod val="25000"/>
              <a:alpha val="70000"/>
            </a:schemeClr>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630"/>
              </a:lnSpc>
              <a:spcBef>
                <a:spcPct val="0"/>
              </a:spcBef>
            </a:pPr>
            <a:r>
              <a:rPr lang="en-US" sz="1200" spc="-52" dirty="0">
                <a:solidFill>
                  <a:srgbClr val="FFFFFF"/>
                </a:solidFill>
                <a:latin typeface="Lato"/>
              </a:rPr>
              <a:t>Queensland Whistling Tarantula (S</a:t>
            </a:r>
            <a:r>
              <a:rPr lang="en-US" sz="1200" spc="-52" dirty="0">
                <a:solidFill>
                  <a:srgbClr val="FFFFFF"/>
                </a:solidFill>
                <a:latin typeface="Lato Italics"/>
              </a:rPr>
              <a:t>elenocosmia crassipes</a:t>
            </a:r>
            <a:r>
              <a:rPr lang="en-US" sz="1200" spc="-52" dirty="0">
                <a:solidFill>
                  <a:srgbClr val="FFFFFF"/>
                </a:solidFill>
                <a:latin typeface="Lato"/>
              </a:rPr>
              <a:t>) </a:t>
            </a:r>
          </a:p>
          <a:p>
            <a:pPr>
              <a:lnSpc>
                <a:spcPts val="1630"/>
              </a:lnSpc>
              <a:spcBef>
                <a:spcPct val="0"/>
              </a:spcBef>
            </a:pPr>
            <a:r>
              <a:rPr lang="en-US" sz="1200" spc="-54" dirty="0">
                <a:solidFill>
                  <a:srgbClr val="FFFFFF"/>
                </a:solidFill>
                <a:latin typeface="Lato"/>
              </a:rPr>
              <a:t>Photo Credit Scott Burnett</a:t>
            </a:r>
            <a:endParaRPr lang="en-AU" sz="1200" dirty="0"/>
          </a:p>
        </p:txBody>
      </p:sp>
      <p:sp>
        <p:nvSpPr>
          <p:cNvPr id="18" name="TextBox 17">
            <a:extLst>
              <a:ext uri="{FF2B5EF4-FFF2-40B4-BE49-F238E27FC236}">
                <a16:creationId xmlns:a16="http://schemas.microsoft.com/office/drawing/2014/main" id="{89BE027E-BE90-3875-72DA-F0D4FCCBEB08}"/>
              </a:ext>
            </a:extLst>
          </p:cNvPr>
          <p:cNvSpPr txBox="1"/>
          <p:nvPr/>
        </p:nvSpPr>
        <p:spPr>
          <a:xfrm>
            <a:off x="16427589" y="2789926"/>
            <a:ext cx="2612246" cy="900759"/>
          </a:xfrm>
          <a:prstGeom prst="rect">
            <a:avLst/>
          </a:prstGeom>
          <a:noFill/>
        </p:spPr>
        <p:txBody>
          <a:bodyPr wrap="square">
            <a:spAutoFit/>
          </a:bodyPr>
          <a:lstStyle/>
          <a:p>
            <a:pPr>
              <a:lnSpc>
                <a:spcPts val="1630"/>
              </a:lnSpc>
              <a:spcBef>
                <a:spcPct val="0"/>
              </a:spcBef>
            </a:pPr>
            <a:r>
              <a:rPr lang="en-US" sz="1200" spc="-52" dirty="0">
                <a:solidFill>
                  <a:srgbClr val="FFFFFF"/>
                </a:solidFill>
                <a:latin typeface="Lato"/>
              </a:rPr>
              <a:t>Bush Stone-Curlew</a:t>
            </a:r>
          </a:p>
          <a:p>
            <a:pPr>
              <a:lnSpc>
                <a:spcPts val="1630"/>
              </a:lnSpc>
              <a:spcBef>
                <a:spcPct val="0"/>
              </a:spcBef>
            </a:pPr>
            <a:r>
              <a:rPr lang="en-US" sz="1200" spc="-52" dirty="0">
                <a:solidFill>
                  <a:srgbClr val="FFFFFF"/>
                </a:solidFill>
                <a:latin typeface="Lato"/>
              </a:rPr>
              <a:t>(</a:t>
            </a:r>
            <a:r>
              <a:rPr lang="en-AU" sz="1200" i="1" spc="-52" dirty="0">
                <a:solidFill>
                  <a:srgbClr val="FFFFFF"/>
                </a:solidFill>
                <a:latin typeface="Lato"/>
              </a:rPr>
              <a:t>Burhinus (Burhinus) </a:t>
            </a:r>
            <a:r>
              <a:rPr lang="en-AU" sz="1200" i="1" spc="-52" dirty="0" err="1">
                <a:solidFill>
                  <a:srgbClr val="FFFFFF"/>
                </a:solidFill>
                <a:latin typeface="Lato"/>
              </a:rPr>
              <a:t>grallarius</a:t>
            </a:r>
            <a:r>
              <a:rPr lang="en-AU" sz="1200" i="1" spc="-52" dirty="0">
                <a:solidFill>
                  <a:srgbClr val="FFFFFF"/>
                </a:solidFill>
                <a:latin typeface="Lato"/>
              </a:rPr>
              <a:t>)</a:t>
            </a:r>
          </a:p>
          <a:p>
            <a:pPr>
              <a:lnSpc>
                <a:spcPts val="1630"/>
              </a:lnSpc>
              <a:spcBef>
                <a:spcPct val="0"/>
              </a:spcBef>
            </a:pPr>
            <a:r>
              <a:rPr lang="en-US" sz="1200" spc="-54" dirty="0">
                <a:solidFill>
                  <a:srgbClr val="FFFFFF"/>
                </a:solidFill>
                <a:latin typeface="Lato"/>
              </a:rPr>
              <a:t>Photo Credit Nicole Brooker </a:t>
            </a:r>
          </a:p>
          <a:p>
            <a:pPr>
              <a:lnSpc>
                <a:spcPts val="1630"/>
              </a:lnSpc>
              <a:spcBef>
                <a:spcPct val="0"/>
              </a:spcBef>
            </a:pPr>
            <a:r>
              <a:rPr lang="en-US" sz="1200" spc="-54" dirty="0">
                <a:solidFill>
                  <a:srgbClr val="FFFFFF"/>
                </a:solidFill>
                <a:latin typeface="Lato"/>
              </a:rPr>
              <a:t>CC BY NC</a:t>
            </a:r>
            <a:endParaRPr lang="en-AU" sz="1200" dirty="0"/>
          </a:p>
        </p:txBody>
      </p:sp>
      <p:sp>
        <p:nvSpPr>
          <p:cNvPr id="19" name="TextBox 18">
            <a:extLst>
              <a:ext uri="{FF2B5EF4-FFF2-40B4-BE49-F238E27FC236}">
                <a16:creationId xmlns:a16="http://schemas.microsoft.com/office/drawing/2014/main" id="{1D827260-0341-85AF-B88A-7927CAA8B27D}"/>
              </a:ext>
            </a:extLst>
          </p:cNvPr>
          <p:cNvSpPr txBox="1"/>
          <p:nvPr/>
        </p:nvSpPr>
        <p:spPr>
          <a:xfrm>
            <a:off x="7715437" y="9480672"/>
            <a:ext cx="2329752" cy="695575"/>
          </a:xfrm>
          <a:prstGeom prst="rect">
            <a:avLst/>
          </a:prstGeom>
          <a:solidFill>
            <a:schemeClr val="bg2">
              <a:lumMod val="25000"/>
              <a:alpha val="45000"/>
            </a:schemeClr>
          </a:solidFill>
        </p:spPr>
        <p:txBody>
          <a:bodyPr wrap="square">
            <a:spAutoFit/>
          </a:bodyPr>
          <a:lstStyle/>
          <a:p>
            <a:pPr>
              <a:lnSpc>
                <a:spcPts val="1630"/>
              </a:lnSpc>
              <a:spcBef>
                <a:spcPct val="0"/>
              </a:spcBef>
            </a:pPr>
            <a:r>
              <a:rPr lang="en-US" sz="1200" spc="-52" dirty="0">
                <a:solidFill>
                  <a:srgbClr val="FFFFFF"/>
                </a:solidFill>
                <a:latin typeface="Lato"/>
              </a:rPr>
              <a:t>Koala</a:t>
            </a:r>
          </a:p>
          <a:p>
            <a:pPr>
              <a:lnSpc>
                <a:spcPts val="1630"/>
              </a:lnSpc>
              <a:spcBef>
                <a:spcPct val="0"/>
              </a:spcBef>
            </a:pPr>
            <a:r>
              <a:rPr lang="en-US" sz="1200" spc="-52" dirty="0">
                <a:solidFill>
                  <a:srgbClr val="FFFFFF"/>
                </a:solidFill>
                <a:latin typeface="Lato"/>
              </a:rPr>
              <a:t>(</a:t>
            </a:r>
            <a:r>
              <a:rPr lang="en-US" sz="1200" i="1" spc="-52" dirty="0">
                <a:solidFill>
                  <a:srgbClr val="FFFFFF"/>
                </a:solidFill>
                <a:latin typeface="Lato"/>
              </a:rPr>
              <a:t>Phascolarctos cinereus</a:t>
            </a:r>
            <a:r>
              <a:rPr lang="en-US" sz="1200" spc="-52" dirty="0">
                <a:solidFill>
                  <a:srgbClr val="FFFFFF"/>
                </a:solidFill>
                <a:latin typeface="Lato"/>
              </a:rPr>
              <a:t>)</a:t>
            </a:r>
          </a:p>
          <a:p>
            <a:pPr>
              <a:lnSpc>
                <a:spcPts val="1630"/>
              </a:lnSpc>
              <a:spcBef>
                <a:spcPct val="0"/>
              </a:spcBef>
            </a:pPr>
            <a:r>
              <a:rPr lang="en-US" sz="1200" spc="-52" dirty="0">
                <a:solidFill>
                  <a:srgbClr val="FFFFFF"/>
                </a:solidFill>
                <a:latin typeface="Lato"/>
              </a:rPr>
              <a:t>Photo Credit </a:t>
            </a:r>
            <a:r>
              <a:rPr lang="en-US" sz="1200" spc="-52" dirty="0" err="1">
                <a:solidFill>
                  <a:srgbClr val="FFFFFF"/>
                </a:solidFill>
                <a:latin typeface="Lato"/>
              </a:rPr>
              <a:t>gggpellas</a:t>
            </a:r>
            <a:r>
              <a:rPr lang="en-US" sz="1200" spc="-52" dirty="0">
                <a:solidFill>
                  <a:srgbClr val="FFFFFF"/>
                </a:solidFill>
                <a:latin typeface="Lato"/>
              </a:rPr>
              <a:t> CC BY NC</a:t>
            </a:r>
            <a:endParaRPr lang="en-AU" sz="1200" dirty="0"/>
          </a:p>
        </p:txBody>
      </p:sp>
    </p:spTree>
    <p:extLst>
      <p:ext uri="{BB962C8B-B14F-4D97-AF65-F5344CB8AC3E}">
        <p14:creationId xmlns:p14="http://schemas.microsoft.com/office/powerpoint/2010/main" val="367761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77694D7-4D82-E299-7D04-4B385866A1E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857F3EA-8291-7890-002B-441850D3E031}"/>
              </a:ext>
            </a:extLst>
          </p:cNvPr>
          <p:cNvSpPr/>
          <p:nvPr/>
        </p:nvSpPr>
        <p:spPr>
          <a:xfrm flipV="1">
            <a:off x="-680232" y="61652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523476A3-332A-7A42-0DF0-ADE6185EAAEB}"/>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What are RASD Reasons?</a:t>
            </a:r>
          </a:p>
        </p:txBody>
      </p:sp>
      <p:sp>
        <p:nvSpPr>
          <p:cNvPr id="3" name="AutoShape 4">
            <a:extLst>
              <a:ext uri="{FF2B5EF4-FFF2-40B4-BE49-F238E27FC236}">
                <a16:creationId xmlns:a16="http://schemas.microsoft.com/office/drawing/2014/main" id="{2E513C7C-77B1-69E8-B4EF-B43FF7F2BB07}"/>
              </a:ext>
            </a:extLst>
          </p:cNvPr>
          <p:cNvSpPr/>
          <p:nvPr/>
        </p:nvSpPr>
        <p:spPr>
          <a:xfrm flipH="1" flipV="1">
            <a:off x="5742615" y="2455950"/>
            <a:ext cx="566685" cy="1403723"/>
          </a:xfrm>
          <a:prstGeom prst="line">
            <a:avLst/>
          </a:prstGeom>
          <a:ln w="28575" cap="rnd">
            <a:solidFill>
              <a:srgbClr val="B6B6B6"/>
            </a:solidFill>
            <a:prstDash val="sysDot"/>
            <a:headEnd type="none" w="sm" len="sm"/>
            <a:tailEnd type="none" w="sm" len="sm"/>
          </a:ln>
        </p:spPr>
        <p:txBody>
          <a:bodyPr/>
          <a:lstStyle/>
          <a:p>
            <a:endParaRPr lang="en-AU"/>
          </a:p>
        </p:txBody>
      </p:sp>
      <p:sp>
        <p:nvSpPr>
          <p:cNvPr id="4" name="AutoShape 4">
            <a:extLst>
              <a:ext uri="{FF2B5EF4-FFF2-40B4-BE49-F238E27FC236}">
                <a16:creationId xmlns:a16="http://schemas.microsoft.com/office/drawing/2014/main" id="{4A2F8586-61AD-A6CF-72FC-75E460E91FA2}"/>
              </a:ext>
            </a:extLst>
          </p:cNvPr>
          <p:cNvSpPr/>
          <p:nvPr/>
        </p:nvSpPr>
        <p:spPr>
          <a:xfrm flipH="1">
            <a:off x="4764936" y="6510062"/>
            <a:ext cx="1681225" cy="326151"/>
          </a:xfrm>
          <a:prstGeom prst="line">
            <a:avLst/>
          </a:prstGeom>
          <a:ln w="28575" cap="rnd">
            <a:solidFill>
              <a:srgbClr val="B6B6B6"/>
            </a:solidFill>
            <a:prstDash val="sysDot"/>
            <a:headEnd type="none" w="sm" len="sm"/>
            <a:tailEnd type="none" w="sm" len="sm"/>
          </a:ln>
        </p:spPr>
        <p:txBody>
          <a:bodyPr/>
          <a:lstStyle/>
          <a:p>
            <a:endParaRPr lang="en-AU"/>
          </a:p>
        </p:txBody>
      </p:sp>
      <p:sp>
        <p:nvSpPr>
          <p:cNvPr id="5" name="AutoShape 4">
            <a:extLst>
              <a:ext uri="{FF2B5EF4-FFF2-40B4-BE49-F238E27FC236}">
                <a16:creationId xmlns:a16="http://schemas.microsoft.com/office/drawing/2014/main" id="{E292C27D-5132-B655-C744-699CCDCCCB1F}"/>
              </a:ext>
            </a:extLst>
          </p:cNvPr>
          <p:cNvSpPr/>
          <p:nvPr/>
        </p:nvSpPr>
        <p:spPr>
          <a:xfrm flipH="1">
            <a:off x="4590031" y="5740263"/>
            <a:ext cx="1768829" cy="95575"/>
          </a:xfrm>
          <a:prstGeom prst="line">
            <a:avLst/>
          </a:prstGeom>
          <a:ln w="28575" cap="rnd">
            <a:solidFill>
              <a:srgbClr val="B6B6B6"/>
            </a:solidFill>
            <a:prstDash val="sysDot"/>
            <a:headEnd type="none" w="sm" len="sm"/>
            <a:tailEnd type="none" w="sm" len="sm"/>
          </a:ln>
        </p:spPr>
        <p:txBody>
          <a:bodyPr/>
          <a:lstStyle/>
          <a:p>
            <a:endParaRPr lang="en-AU"/>
          </a:p>
        </p:txBody>
      </p:sp>
      <p:sp>
        <p:nvSpPr>
          <p:cNvPr id="9" name="AutoShape 4">
            <a:extLst>
              <a:ext uri="{FF2B5EF4-FFF2-40B4-BE49-F238E27FC236}">
                <a16:creationId xmlns:a16="http://schemas.microsoft.com/office/drawing/2014/main" id="{5945558C-5B44-0932-E122-C7AEB4E42588}"/>
              </a:ext>
            </a:extLst>
          </p:cNvPr>
          <p:cNvSpPr/>
          <p:nvPr/>
        </p:nvSpPr>
        <p:spPr>
          <a:xfrm flipH="1" flipV="1">
            <a:off x="4561185" y="4550127"/>
            <a:ext cx="1559298" cy="486851"/>
          </a:xfrm>
          <a:prstGeom prst="line">
            <a:avLst/>
          </a:prstGeom>
          <a:ln w="28575" cap="rnd">
            <a:solidFill>
              <a:srgbClr val="B6B6B6"/>
            </a:solidFill>
            <a:prstDash val="sysDot"/>
            <a:headEnd type="none" w="sm" len="sm"/>
            <a:tailEnd type="none" w="sm" len="sm"/>
          </a:ln>
        </p:spPr>
        <p:txBody>
          <a:bodyPr/>
          <a:lstStyle/>
          <a:p>
            <a:endParaRPr lang="en-AU"/>
          </a:p>
        </p:txBody>
      </p:sp>
      <p:sp>
        <p:nvSpPr>
          <p:cNvPr id="17" name="AutoShape 4">
            <a:extLst>
              <a:ext uri="{FF2B5EF4-FFF2-40B4-BE49-F238E27FC236}">
                <a16:creationId xmlns:a16="http://schemas.microsoft.com/office/drawing/2014/main" id="{FE3B87D4-2ED0-A962-F76C-A5C6F3E382E9}"/>
              </a:ext>
            </a:extLst>
          </p:cNvPr>
          <p:cNvSpPr/>
          <p:nvPr/>
        </p:nvSpPr>
        <p:spPr>
          <a:xfrm flipH="1" flipV="1">
            <a:off x="4940763" y="3480856"/>
            <a:ext cx="1179721" cy="1065880"/>
          </a:xfrm>
          <a:prstGeom prst="line">
            <a:avLst/>
          </a:prstGeom>
          <a:ln w="28575" cap="rnd">
            <a:solidFill>
              <a:srgbClr val="B6B6B6"/>
            </a:solidFill>
            <a:prstDash val="sysDot"/>
            <a:headEnd type="none" w="sm" len="sm"/>
            <a:tailEnd type="none" w="sm" len="sm"/>
          </a:ln>
        </p:spPr>
        <p:txBody>
          <a:bodyPr/>
          <a:lstStyle/>
          <a:p>
            <a:endParaRPr lang="en-AU"/>
          </a:p>
        </p:txBody>
      </p:sp>
      <p:sp>
        <p:nvSpPr>
          <p:cNvPr id="18" name="AutoShape 4">
            <a:extLst>
              <a:ext uri="{FF2B5EF4-FFF2-40B4-BE49-F238E27FC236}">
                <a16:creationId xmlns:a16="http://schemas.microsoft.com/office/drawing/2014/main" id="{9D2549B7-0D2F-55E4-5D96-AA609F69F381}"/>
              </a:ext>
            </a:extLst>
          </p:cNvPr>
          <p:cNvSpPr/>
          <p:nvPr/>
        </p:nvSpPr>
        <p:spPr>
          <a:xfrm flipH="1">
            <a:off x="6973656" y="7510436"/>
            <a:ext cx="931209" cy="1747358"/>
          </a:xfrm>
          <a:prstGeom prst="line">
            <a:avLst/>
          </a:prstGeom>
          <a:ln w="28575" cap="rnd">
            <a:solidFill>
              <a:srgbClr val="B6B6B6"/>
            </a:solidFill>
            <a:prstDash val="sysDot"/>
            <a:headEnd type="none" w="sm" len="sm"/>
            <a:tailEnd type="none" w="sm" len="sm"/>
          </a:ln>
        </p:spPr>
        <p:txBody>
          <a:bodyPr/>
          <a:lstStyle/>
          <a:p>
            <a:endParaRPr lang="en-AU"/>
          </a:p>
        </p:txBody>
      </p:sp>
      <p:sp>
        <p:nvSpPr>
          <p:cNvPr id="19" name="AutoShape 4">
            <a:extLst>
              <a:ext uri="{FF2B5EF4-FFF2-40B4-BE49-F238E27FC236}">
                <a16:creationId xmlns:a16="http://schemas.microsoft.com/office/drawing/2014/main" id="{44F7E5EF-7144-696F-B629-56D5F7162417}"/>
              </a:ext>
            </a:extLst>
          </p:cNvPr>
          <p:cNvSpPr/>
          <p:nvPr/>
        </p:nvSpPr>
        <p:spPr>
          <a:xfrm flipH="1">
            <a:off x="5695065" y="6900207"/>
            <a:ext cx="1143228" cy="1343329"/>
          </a:xfrm>
          <a:prstGeom prst="line">
            <a:avLst/>
          </a:prstGeom>
          <a:ln w="28575" cap="rnd">
            <a:solidFill>
              <a:srgbClr val="B6B6B6"/>
            </a:solidFill>
            <a:prstDash val="sysDot"/>
            <a:headEnd type="none" w="sm" len="sm"/>
            <a:tailEnd type="none" w="sm" len="sm"/>
          </a:ln>
        </p:spPr>
        <p:txBody>
          <a:bodyPr/>
          <a:lstStyle/>
          <a:p>
            <a:endParaRPr lang="en-AU"/>
          </a:p>
        </p:txBody>
      </p:sp>
      <p:sp>
        <p:nvSpPr>
          <p:cNvPr id="20" name="Freeform 19">
            <a:extLst>
              <a:ext uri="{FF2B5EF4-FFF2-40B4-BE49-F238E27FC236}">
                <a16:creationId xmlns:a16="http://schemas.microsoft.com/office/drawing/2014/main" id="{06D2A912-0D5F-CEF0-0FB7-04A62C5DA573}"/>
              </a:ext>
            </a:extLst>
          </p:cNvPr>
          <p:cNvSpPr/>
          <p:nvPr/>
        </p:nvSpPr>
        <p:spPr>
          <a:xfrm rot="10800000">
            <a:off x="2110339" y="1813700"/>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21" name="Freeform 12">
            <a:extLst>
              <a:ext uri="{FF2B5EF4-FFF2-40B4-BE49-F238E27FC236}">
                <a16:creationId xmlns:a16="http://schemas.microsoft.com/office/drawing/2014/main" id="{FDF3164F-73F2-A01D-43B4-482FC9FBE260}"/>
              </a:ext>
            </a:extLst>
          </p:cNvPr>
          <p:cNvSpPr/>
          <p:nvPr/>
        </p:nvSpPr>
        <p:spPr>
          <a:xfrm rot="10800000">
            <a:off x="1062852" y="3025292"/>
            <a:ext cx="3985647" cy="747309"/>
          </a:xfrm>
          <a:custGeom>
            <a:avLst/>
            <a:gdLst/>
            <a:ahLst/>
            <a:cxnLst/>
            <a:rect l="l" t="t" r="r" b="b"/>
            <a:pathLst>
              <a:path w="3985647" h="747309">
                <a:moveTo>
                  <a:pt x="0" y="0"/>
                </a:moveTo>
                <a:lnTo>
                  <a:pt x="3985647" y="0"/>
                </a:lnTo>
                <a:lnTo>
                  <a:pt x="3985647" y="747308"/>
                </a:lnTo>
                <a:lnTo>
                  <a:pt x="0" y="74730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2" name="Freeform 11">
            <a:extLst>
              <a:ext uri="{FF2B5EF4-FFF2-40B4-BE49-F238E27FC236}">
                <a16:creationId xmlns:a16="http://schemas.microsoft.com/office/drawing/2014/main" id="{4FF13075-F90E-8583-B89D-86C7D6A526E5}"/>
              </a:ext>
            </a:extLst>
          </p:cNvPr>
          <p:cNvSpPr/>
          <p:nvPr/>
        </p:nvSpPr>
        <p:spPr>
          <a:xfrm rot="10800000">
            <a:off x="664520" y="4242840"/>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3" name="Freeform 10">
            <a:extLst>
              <a:ext uri="{FF2B5EF4-FFF2-40B4-BE49-F238E27FC236}">
                <a16:creationId xmlns:a16="http://schemas.microsoft.com/office/drawing/2014/main" id="{8E69B1F5-CE5D-FDF1-AF94-705AD7E6F7F0}"/>
              </a:ext>
            </a:extLst>
          </p:cNvPr>
          <p:cNvSpPr/>
          <p:nvPr/>
        </p:nvSpPr>
        <p:spPr>
          <a:xfrm rot="10800000">
            <a:off x="858304" y="5459180"/>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24" name="Freeform 15">
            <a:extLst>
              <a:ext uri="{FF2B5EF4-FFF2-40B4-BE49-F238E27FC236}">
                <a16:creationId xmlns:a16="http://schemas.microsoft.com/office/drawing/2014/main" id="{BC0AF90B-356C-F1FF-5D9A-4570F799A8EF}"/>
              </a:ext>
            </a:extLst>
          </p:cNvPr>
          <p:cNvSpPr/>
          <p:nvPr/>
        </p:nvSpPr>
        <p:spPr>
          <a:xfrm rot="10800000">
            <a:off x="1134946" y="6608986"/>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25" name="Freeform 13">
            <a:extLst>
              <a:ext uri="{FF2B5EF4-FFF2-40B4-BE49-F238E27FC236}">
                <a16:creationId xmlns:a16="http://schemas.microsoft.com/office/drawing/2014/main" id="{9445E7D2-C882-7F16-2F1E-19802E6F0BEE}"/>
              </a:ext>
            </a:extLst>
          </p:cNvPr>
          <p:cNvSpPr/>
          <p:nvPr/>
        </p:nvSpPr>
        <p:spPr>
          <a:xfrm rot="10800000">
            <a:off x="3192027" y="9020941"/>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6" name="AutoShape 4">
            <a:extLst>
              <a:ext uri="{FF2B5EF4-FFF2-40B4-BE49-F238E27FC236}">
                <a16:creationId xmlns:a16="http://schemas.microsoft.com/office/drawing/2014/main" id="{7F65EFC5-A484-2869-C68A-210FF90CC556}"/>
              </a:ext>
            </a:extLst>
          </p:cNvPr>
          <p:cNvSpPr/>
          <p:nvPr/>
        </p:nvSpPr>
        <p:spPr>
          <a:xfrm flipV="1">
            <a:off x="10746122" y="2191883"/>
            <a:ext cx="1266725" cy="2996241"/>
          </a:xfrm>
          <a:prstGeom prst="line">
            <a:avLst/>
          </a:prstGeom>
          <a:ln w="28575" cap="rnd">
            <a:solidFill>
              <a:srgbClr val="B6B6B6"/>
            </a:solidFill>
            <a:prstDash val="sysDot"/>
            <a:headEnd type="none" w="sm" len="sm"/>
            <a:tailEnd type="none" w="sm" len="sm"/>
          </a:ln>
        </p:spPr>
        <p:txBody>
          <a:bodyPr/>
          <a:lstStyle/>
          <a:p>
            <a:endParaRPr lang="en-AU"/>
          </a:p>
        </p:txBody>
      </p:sp>
      <p:sp>
        <p:nvSpPr>
          <p:cNvPr id="27" name="AutoShape 5">
            <a:extLst>
              <a:ext uri="{FF2B5EF4-FFF2-40B4-BE49-F238E27FC236}">
                <a16:creationId xmlns:a16="http://schemas.microsoft.com/office/drawing/2014/main" id="{35A0D264-EEA9-E04A-1FFC-53BB564466BE}"/>
              </a:ext>
            </a:extLst>
          </p:cNvPr>
          <p:cNvSpPr/>
          <p:nvPr/>
        </p:nvSpPr>
        <p:spPr>
          <a:xfrm flipV="1">
            <a:off x="10766655" y="3480831"/>
            <a:ext cx="2523987" cy="1707292"/>
          </a:xfrm>
          <a:prstGeom prst="line">
            <a:avLst/>
          </a:prstGeom>
          <a:ln w="28575" cap="rnd">
            <a:solidFill>
              <a:srgbClr val="B6B6B6"/>
            </a:solidFill>
            <a:prstDash val="sysDot"/>
            <a:headEnd type="none" w="sm" len="sm"/>
            <a:tailEnd type="none" w="sm" len="sm"/>
          </a:ln>
        </p:spPr>
        <p:txBody>
          <a:bodyPr/>
          <a:lstStyle/>
          <a:p>
            <a:endParaRPr lang="en-AU"/>
          </a:p>
        </p:txBody>
      </p:sp>
      <p:sp>
        <p:nvSpPr>
          <p:cNvPr id="28" name="AutoShape 6">
            <a:extLst>
              <a:ext uri="{FF2B5EF4-FFF2-40B4-BE49-F238E27FC236}">
                <a16:creationId xmlns:a16="http://schemas.microsoft.com/office/drawing/2014/main" id="{556BB2F8-8F38-FA43-6D12-7D9DB286B9CB}"/>
              </a:ext>
            </a:extLst>
          </p:cNvPr>
          <p:cNvSpPr/>
          <p:nvPr/>
        </p:nvSpPr>
        <p:spPr>
          <a:xfrm flipV="1">
            <a:off x="10758650" y="4632272"/>
            <a:ext cx="3026231" cy="543317"/>
          </a:xfrm>
          <a:prstGeom prst="line">
            <a:avLst/>
          </a:prstGeom>
          <a:ln w="28575" cap="rnd">
            <a:solidFill>
              <a:srgbClr val="B6B6B6"/>
            </a:solidFill>
            <a:prstDash val="sysDot"/>
            <a:headEnd type="none" w="sm" len="sm"/>
            <a:tailEnd type="none" w="sm" len="sm"/>
          </a:ln>
        </p:spPr>
        <p:txBody>
          <a:bodyPr/>
          <a:lstStyle/>
          <a:p>
            <a:endParaRPr lang="en-AU"/>
          </a:p>
        </p:txBody>
      </p:sp>
      <p:sp>
        <p:nvSpPr>
          <p:cNvPr id="29" name="AutoShape 7">
            <a:extLst>
              <a:ext uri="{FF2B5EF4-FFF2-40B4-BE49-F238E27FC236}">
                <a16:creationId xmlns:a16="http://schemas.microsoft.com/office/drawing/2014/main" id="{8C59CA91-C240-1290-50BA-11D773715584}"/>
              </a:ext>
            </a:extLst>
          </p:cNvPr>
          <p:cNvSpPr/>
          <p:nvPr/>
        </p:nvSpPr>
        <p:spPr>
          <a:xfrm>
            <a:off x="10780731" y="5197884"/>
            <a:ext cx="3004150" cy="644257"/>
          </a:xfrm>
          <a:prstGeom prst="line">
            <a:avLst/>
          </a:prstGeom>
          <a:ln w="28575" cap="rnd">
            <a:solidFill>
              <a:srgbClr val="B6B6B6"/>
            </a:solidFill>
            <a:prstDash val="sysDot"/>
            <a:headEnd type="none" w="sm" len="sm"/>
            <a:tailEnd type="none" w="sm" len="sm"/>
          </a:ln>
        </p:spPr>
        <p:txBody>
          <a:bodyPr/>
          <a:lstStyle/>
          <a:p>
            <a:endParaRPr lang="en-AU"/>
          </a:p>
        </p:txBody>
      </p:sp>
      <p:sp>
        <p:nvSpPr>
          <p:cNvPr id="30" name="AutoShape 8">
            <a:extLst>
              <a:ext uri="{FF2B5EF4-FFF2-40B4-BE49-F238E27FC236}">
                <a16:creationId xmlns:a16="http://schemas.microsoft.com/office/drawing/2014/main" id="{B8D95813-4104-0947-4E8B-3A56A67A6017}"/>
              </a:ext>
            </a:extLst>
          </p:cNvPr>
          <p:cNvSpPr/>
          <p:nvPr/>
        </p:nvSpPr>
        <p:spPr>
          <a:xfrm>
            <a:off x="10743356" y="5193687"/>
            <a:ext cx="2681301" cy="1934952"/>
          </a:xfrm>
          <a:prstGeom prst="line">
            <a:avLst/>
          </a:prstGeom>
          <a:ln w="28575" cap="rnd">
            <a:solidFill>
              <a:srgbClr val="B6B6B6"/>
            </a:solidFill>
            <a:prstDash val="sysDot"/>
            <a:headEnd type="none" w="sm" len="sm"/>
            <a:tailEnd type="none" w="sm" len="sm"/>
          </a:ln>
        </p:spPr>
        <p:txBody>
          <a:bodyPr/>
          <a:lstStyle/>
          <a:p>
            <a:endParaRPr lang="en-AU"/>
          </a:p>
        </p:txBody>
      </p:sp>
      <p:sp>
        <p:nvSpPr>
          <p:cNvPr id="31" name="AutoShape 9">
            <a:extLst>
              <a:ext uri="{FF2B5EF4-FFF2-40B4-BE49-F238E27FC236}">
                <a16:creationId xmlns:a16="http://schemas.microsoft.com/office/drawing/2014/main" id="{2C432291-2CA9-F5E0-98F9-79A76CE5A862}"/>
              </a:ext>
            </a:extLst>
          </p:cNvPr>
          <p:cNvSpPr/>
          <p:nvPr/>
        </p:nvSpPr>
        <p:spPr>
          <a:xfrm>
            <a:off x="10735033" y="5199958"/>
            <a:ext cx="1290973" cy="3043578"/>
          </a:xfrm>
          <a:prstGeom prst="line">
            <a:avLst/>
          </a:prstGeom>
          <a:ln w="28575" cap="rnd">
            <a:solidFill>
              <a:srgbClr val="B6B6B6"/>
            </a:solidFill>
            <a:prstDash val="sysDot"/>
            <a:headEnd type="none" w="sm" len="sm"/>
            <a:tailEnd type="none" w="sm" len="sm"/>
          </a:ln>
        </p:spPr>
        <p:txBody>
          <a:bodyPr/>
          <a:lstStyle/>
          <a:p>
            <a:endParaRPr lang="en-AU"/>
          </a:p>
        </p:txBody>
      </p:sp>
      <p:sp>
        <p:nvSpPr>
          <p:cNvPr id="32" name="Freeform 10">
            <a:extLst>
              <a:ext uri="{FF2B5EF4-FFF2-40B4-BE49-F238E27FC236}">
                <a16:creationId xmlns:a16="http://schemas.microsoft.com/office/drawing/2014/main" id="{B9F35F81-D4DF-66D4-133B-6239D8DADD62}"/>
              </a:ext>
            </a:extLst>
          </p:cNvPr>
          <p:cNvSpPr/>
          <p:nvPr/>
        </p:nvSpPr>
        <p:spPr>
          <a:xfrm>
            <a:off x="13424658" y="5470867"/>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33" name="Freeform 11">
            <a:extLst>
              <a:ext uri="{FF2B5EF4-FFF2-40B4-BE49-F238E27FC236}">
                <a16:creationId xmlns:a16="http://schemas.microsoft.com/office/drawing/2014/main" id="{147D251C-FCDA-91CF-15AC-887EDF2F1837}"/>
              </a:ext>
            </a:extLst>
          </p:cNvPr>
          <p:cNvSpPr/>
          <p:nvPr/>
        </p:nvSpPr>
        <p:spPr>
          <a:xfrm>
            <a:off x="12948408" y="6688413"/>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4" name="Freeform 12">
            <a:extLst>
              <a:ext uri="{FF2B5EF4-FFF2-40B4-BE49-F238E27FC236}">
                <a16:creationId xmlns:a16="http://schemas.microsoft.com/office/drawing/2014/main" id="{617D0621-FE0C-0C62-1118-61DE98B7BEC5}"/>
              </a:ext>
            </a:extLst>
          </p:cNvPr>
          <p:cNvSpPr/>
          <p:nvPr/>
        </p:nvSpPr>
        <p:spPr>
          <a:xfrm>
            <a:off x="11614908" y="7810710"/>
            <a:ext cx="3985647" cy="747309"/>
          </a:xfrm>
          <a:custGeom>
            <a:avLst/>
            <a:gdLst/>
            <a:ahLst/>
            <a:cxnLst/>
            <a:rect l="l" t="t" r="r" b="b"/>
            <a:pathLst>
              <a:path w="3985647" h="747309">
                <a:moveTo>
                  <a:pt x="0" y="0"/>
                </a:moveTo>
                <a:lnTo>
                  <a:pt x="3985647" y="0"/>
                </a:lnTo>
                <a:lnTo>
                  <a:pt x="3985647" y="747308"/>
                </a:lnTo>
                <a:lnTo>
                  <a:pt x="0" y="74730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5" name="Freeform 13">
            <a:extLst>
              <a:ext uri="{FF2B5EF4-FFF2-40B4-BE49-F238E27FC236}">
                <a16:creationId xmlns:a16="http://schemas.microsoft.com/office/drawing/2014/main" id="{21EC4FB9-81A3-3998-0F77-0C24AD70FEDC}"/>
              </a:ext>
            </a:extLst>
          </p:cNvPr>
          <p:cNvSpPr/>
          <p:nvPr/>
        </p:nvSpPr>
        <p:spPr>
          <a:xfrm>
            <a:off x="11614908" y="1818228"/>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AU"/>
          </a:p>
        </p:txBody>
      </p:sp>
      <p:sp>
        <p:nvSpPr>
          <p:cNvPr id="36" name="Freeform 14">
            <a:extLst>
              <a:ext uri="{FF2B5EF4-FFF2-40B4-BE49-F238E27FC236}">
                <a16:creationId xmlns:a16="http://schemas.microsoft.com/office/drawing/2014/main" id="{4295C4DE-0804-1016-FF59-C190EC3AEDB1}"/>
              </a:ext>
            </a:extLst>
          </p:cNvPr>
          <p:cNvSpPr/>
          <p:nvPr/>
        </p:nvSpPr>
        <p:spPr>
          <a:xfrm>
            <a:off x="12948408" y="3035775"/>
            <a:ext cx="3985647" cy="747309"/>
          </a:xfrm>
          <a:custGeom>
            <a:avLst/>
            <a:gdLst/>
            <a:ahLst/>
            <a:cxnLst/>
            <a:rect l="l" t="t" r="r" b="b"/>
            <a:pathLst>
              <a:path w="3985647" h="747309">
                <a:moveTo>
                  <a:pt x="0" y="0"/>
                </a:moveTo>
                <a:lnTo>
                  <a:pt x="3985647" y="0"/>
                </a:lnTo>
                <a:lnTo>
                  <a:pt x="3985647" y="747308"/>
                </a:lnTo>
                <a:lnTo>
                  <a:pt x="0" y="74730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AU"/>
          </a:p>
        </p:txBody>
      </p:sp>
      <p:sp>
        <p:nvSpPr>
          <p:cNvPr id="37" name="Freeform 15">
            <a:extLst>
              <a:ext uri="{FF2B5EF4-FFF2-40B4-BE49-F238E27FC236}">
                <a16:creationId xmlns:a16="http://schemas.microsoft.com/office/drawing/2014/main" id="{DEE83A4F-F3D5-74B1-5899-650F3F905114}"/>
              </a:ext>
            </a:extLst>
          </p:cNvPr>
          <p:cNvSpPr/>
          <p:nvPr/>
        </p:nvSpPr>
        <p:spPr>
          <a:xfrm>
            <a:off x="13424658" y="4253321"/>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38" name="AutoShape 16">
            <a:extLst>
              <a:ext uri="{FF2B5EF4-FFF2-40B4-BE49-F238E27FC236}">
                <a16:creationId xmlns:a16="http://schemas.microsoft.com/office/drawing/2014/main" id="{A46B2035-BBD1-BD83-D8BD-D9A95A9B0377}"/>
              </a:ext>
            </a:extLst>
          </p:cNvPr>
          <p:cNvSpPr/>
          <p:nvPr/>
        </p:nvSpPr>
        <p:spPr>
          <a:xfrm>
            <a:off x="10322560" y="6083846"/>
            <a:ext cx="793674" cy="3209370"/>
          </a:xfrm>
          <a:prstGeom prst="line">
            <a:avLst/>
          </a:prstGeom>
          <a:ln w="28575" cap="rnd">
            <a:solidFill>
              <a:srgbClr val="B6B6B6"/>
            </a:solidFill>
            <a:prstDash val="sysDot"/>
            <a:headEnd type="none" w="sm" len="sm"/>
            <a:tailEnd type="none" w="sm" len="sm"/>
          </a:ln>
        </p:spPr>
        <p:txBody>
          <a:bodyPr/>
          <a:lstStyle/>
          <a:p>
            <a:endParaRPr lang="en-AU"/>
          </a:p>
        </p:txBody>
      </p:sp>
      <p:sp>
        <p:nvSpPr>
          <p:cNvPr id="39" name="Freeform 17">
            <a:extLst>
              <a:ext uri="{FF2B5EF4-FFF2-40B4-BE49-F238E27FC236}">
                <a16:creationId xmlns:a16="http://schemas.microsoft.com/office/drawing/2014/main" id="{3324B32A-7DC1-E26A-8974-7549119395CF}"/>
              </a:ext>
            </a:extLst>
          </p:cNvPr>
          <p:cNvSpPr/>
          <p:nvPr/>
        </p:nvSpPr>
        <p:spPr>
          <a:xfrm>
            <a:off x="13147101" y="6870902"/>
            <a:ext cx="344232" cy="344232"/>
          </a:xfrm>
          <a:custGeom>
            <a:avLst/>
            <a:gdLst/>
            <a:ahLst/>
            <a:cxnLst/>
            <a:rect l="l" t="t" r="r" b="b"/>
            <a:pathLst>
              <a:path w="344232" h="344232">
                <a:moveTo>
                  <a:pt x="0" y="0"/>
                </a:moveTo>
                <a:lnTo>
                  <a:pt x="344232" y="0"/>
                </a:lnTo>
                <a:lnTo>
                  <a:pt x="344232" y="344232"/>
                </a:lnTo>
                <a:lnTo>
                  <a:pt x="0" y="34423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40" name="Freeform 18">
            <a:extLst>
              <a:ext uri="{FF2B5EF4-FFF2-40B4-BE49-F238E27FC236}">
                <a16:creationId xmlns:a16="http://schemas.microsoft.com/office/drawing/2014/main" id="{21AE6AFA-8CD7-0F7D-99AF-065EE7C0CCE5}"/>
              </a:ext>
            </a:extLst>
          </p:cNvPr>
          <p:cNvSpPr/>
          <p:nvPr/>
        </p:nvSpPr>
        <p:spPr>
          <a:xfrm>
            <a:off x="11768345" y="1979371"/>
            <a:ext cx="436407" cy="436407"/>
          </a:xfrm>
          <a:custGeom>
            <a:avLst/>
            <a:gdLst/>
            <a:ahLst/>
            <a:cxnLst/>
            <a:rect l="l" t="t" r="r" b="b"/>
            <a:pathLst>
              <a:path w="436407" h="436407">
                <a:moveTo>
                  <a:pt x="0" y="0"/>
                </a:moveTo>
                <a:lnTo>
                  <a:pt x="436407" y="0"/>
                </a:lnTo>
                <a:lnTo>
                  <a:pt x="436407" y="436407"/>
                </a:lnTo>
                <a:lnTo>
                  <a:pt x="0" y="436407"/>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AU"/>
          </a:p>
        </p:txBody>
      </p:sp>
      <p:sp>
        <p:nvSpPr>
          <p:cNvPr id="41" name="Freeform 19">
            <a:extLst>
              <a:ext uri="{FF2B5EF4-FFF2-40B4-BE49-F238E27FC236}">
                <a16:creationId xmlns:a16="http://schemas.microsoft.com/office/drawing/2014/main" id="{420D485B-54B8-6EB6-97D7-24C211FD12C5}"/>
              </a:ext>
            </a:extLst>
          </p:cNvPr>
          <p:cNvSpPr/>
          <p:nvPr/>
        </p:nvSpPr>
        <p:spPr>
          <a:xfrm>
            <a:off x="10899058" y="9024743"/>
            <a:ext cx="3985647" cy="747309"/>
          </a:xfrm>
          <a:custGeom>
            <a:avLst/>
            <a:gdLst/>
            <a:ahLst/>
            <a:cxnLst/>
            <a:rect l="l" t="t" r="r" b="b"/>
            <a:pathLst>
              <a:path w="3985647" h="747309">
                <a:moveTo>
                  <a:pt x="0" y="0"/>
                </a:moveTo>
                <a:lnTo>
                  <a:pt x="3985647" y="0"/>
                </a:lnTo>
                <a:lnTo>
                  <a:pt x="3985647" y="747309"/>
                </a:lnTo>
                <a:lnTo>
                  <a:pt x="0" y="7473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42" name="Freeform 22">
            <a:extLst>
              <a:ext uri="{FF2B5EF4-FFF2-40B4-BE49-F238E27FC236}">
                <a16:creationId xmlns:a16="http://schemas.microsoft.com/office/drawing/2014/main" id="{3C5B6563-3600-25B0-DB83-7CD5A40AC82F}"/>
              </a:ext>
            </a:extLst>
          </p:cNvPr>
          <p:cNvSpPr/>
          <p:nvPr/>
        </p:nvSpPr>
        <p:spPr>
          <a:xfrm>
            <a:off x="11705546" y="8001464"/>
            <a:ext cx="508731" cy="417174"/>
          </a:xfrm>
          <a:custGeom>
            <a:avLst/>
            <a:gdLst/>
            <a:ahLst/>
            <a:cxnLst/>
            <a:rect l="l" t="t" r="r" b="b"/>
            <a:pathLst>
              <a:path w="508731" h="417174">
                <a:moveTo>
                  <a:pt x="0" y="0"/>
                </a:moveTo>
                <a:lnTo>
                  <a:pt x="508731" y="0"/>
                </a:lnTo>
                <a:lnTo>
                  <a:pt x="508731" y="417175"/>
                </a:lnTo>
                <a:lnTo>
                  <a:pt x="0" y="417175"/>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43" name="Freeform 23">
            <a:extLst>
              <a:ext uri="{FF2B5EF4-FFF2-40B4-BE49-F238E27FC236}">
                <a16:creationId xmlns:a16="http://schemas.microsoft.com/office/drawing/2014/main" id="{87F0743E-7DEB-4A26-8010-5B144CE59160}"/>
              </a:ext>
            </a:extLst>
          </p:cNvPr>
          <p:cNvSpPr/>
          <p:nvPr/>
        </p:nvSpPr>
        <p:spPr>
          <a:xfrm>
            <a:off x="11032719" y="9177143"/>
            <a:ext cx="440789" cy="436782"/>
          </a:xfrm>
          <a:custGeom>
            <a:avLst/>
            <a:gdLst/>
            <a:ahLst/>
            <a:cxnLst/>
            <a:rect l="l" t="t" r="r" b="b"/>
            <a:pathLst>
              <a:path w="440789" h="436782">
                <a:moveTo>
                  <a:pt x="0" y="0"/>
                </a:moveTo>
                <a:lnTo>
                  <a:pt x="440788" y="0"/>
                </a:lnTo>
                <a:lnTo>
                  <a:pt x="440788" y="436782"/>
                </a:lnTo>
                <a:lnTo>
                  <a:pt x="0" y="436782"/>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AU"/>
          </a:p>
        </p:txBody>
      </p:sp>
      <p:sp>
        <p:nvSpPr>
          <p:cNvPr id="44" name="Freeform 24">
            <a:extLst>
              <a:ext uri="{FF2B5EF4-FFF2-40B4-BE49-F238E27FC236}">
                <a16:creationId xmlns:a16="http://schemas.microsoft.com/office/drawing/2014/main" id="{C8AEC69B-72B3-8316-23A3-6AD039432B40}"/>
              </a:ext>
            </a:extLst>
          </p:cNvPr>
          <p:cNvSpPr/>
          <p:nvPr/>
        </p:nvSpPr>
        <p:spPr>
          <a:xfrm>
            <a:off x="13095117" y="3201479"/>
            <a:ext cx="448200" cy="432717"/>
          </a:xfrm>
          <a:custGeom>
            <a:avLst/>
            <a:gdLst/>
            <a:ahLst/>
            <a:cxnLst/>
            <a:rect l="l" t="t" r="r" b="b"/>
            <a:pathLst>
              <a:path w="448200" h="432717">
                <a:moveTo>
                  <a:pt x="0" y="0"/>
                </a:moveTo>
                <a:lnTo>
                  <a:pt x="448200" y="0"/>
                </a:lnTo>
                <a:lnTo>
                  <a:pt x="448200" y="432717"/>
                </a:lnTo>
                <a:lnTo>
                  <a:pt x="0" y="432717"/>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AU"/>
          </a:p>
        </p:txBody>
      </p:sp>
      <p:sp>
        <p:nvSpPr>
          <p:cNvPr id="45" name="TextBox 30">
            <a:extLst>
              <a:ext uri="{FF2B5EF4-FFF2-40B4-BE49-F238E27FC236}">
                <a16:creationId xmlns:a16="http://schemas.microsoft.com/office/drawing/2014/main" id="{1CAFF587-14DB-5984-18EE-2B3963A61AB4}"/>
              </a:ext>
            </a:extLst>
          </p:cNvPr>
          <p:cNvSpPr txBox="1"/>
          <p:nvPr/>
        </p:nvSpPr>
        <p:spPr>
          <a:xfrm>
            <a:off x="14318449" y="3149625"/>
            <a:ext cx="2391156" cy="523875"/>
          </a:xfrm>
          <a:prstGeom prst="rect">
            <a:avLst/>
          </a:prstGeom>
        </p:spPr>
        <p:txBody>
          <a:bodyPr lIns="0" tIns="0" rIns="0" bIns="0" rtlCol="0" anchor="t">
            <a:spAutoFit/>
          </a:bodyPr>
          <a:lstStyle/>
          <a:p>
            <a:pPr>
              <a:lnSpc>
                <a:spcPts val="2040"/>
              </a:lnSpc>
              <a:spcBef>
                <a:spcPct val="0"/>
              </a:spcBef>
              <a:defRPr/>
            </a:pPr>
            <a:r>
              <a:rPr kumimoji="0" lang="en-US" sz="1700" b="0" i="0" u="none" strike="noStrike" kern="1200" cap="none" spc="0" normalizeH="0" baseline="0" noProof="0">
                <a:ln>
                  <a:noFill/>
                </a:ln>
                <a:solidFill>
                  <a:srgbClr val="000000"/>
                </a:solidFill>
                <a:effectLst/>
                <a:uLnTx/>
                <a:uFillTx/>
                <a:latin typeface="Lato"/>
                <a:ea typeface="+mn-ea"/>
                <a:cs typeface="+mn-cs"/>
              </a:rPr>
              <a:t>Indigenous Ecological </a:t>
            </a:r>
            <a:r>
              <a:rPr lang="en-US" sz="1700">
                <a:solidFill>
                  <a:srgbClr val="000000"/>
                </a:solidFill>
                <a:latin typeface="Lato"/>
              </a:rPr>
              <a:t>Knowledge</a:t>
            </a:r>
            <a:endParaRPr lang="en-US" sz="1700" b="0" i="0" u="none" strike="noStrike" kern="1200" cap="none" spc="0" normalizeH="0" baseline="0" noProof="0" err="1">
              <a:ln>
                <a:noFill/>
              </a:ln>
              <a:solidFill>
                <a:srgbClr val="000000"/>
              </a:solidFill>
              <a:effectLst/>
              <a:uLnTx/>
              <a:uFillTx/>
              <a:latin typeface="Lato"/>
              <a:ea typeface="Lato"/>
              <a:cs typeface="Lato"/>
            </a:endParaRPr>
          </a:p>
        </p:txBody>
      </p:sp>
      <p:sp>
        <p:nvSpPr>
          <p:cNvPr id="46" name="TextBox 31">
            <a:extLst>
              <a:ext uri="{FF2B5EF4-FFF2-40B4-BE49-F238E27FC236}">
                <a16:creationId xmlns:a16="http://schemas.microsoft.com/office/drawing/2014/main" id="{764A5647-E34B-F0E3-2229-C4B7E9CB2470}"/>
              </a:ext>
            </a:extLst>
          </p:cNvPr>
          <p:cNvSpPr txBox="1"/>
          <p:nvPr/>
        </p:nvSpPr>
        <p:spPr>
          <a:xfrm>
            <a:off x="14724871" y="4466970"/>
            <a:ext cx="2391156" cy="256480"/>
          </a:xfrm>
          <a:prstGeom prst="rect">
            <a:avLst/>
          </a:prstGeom>
        </p:spPr>
        <p:txBody>
          <a:bodyPr lIns="0" tIns="0" rIns="0" bIns="0" rtlCol="0" anchor="t">
            <a:spAutoFit/>
          </a:bodyPr>
          <a:lstStyle/>
          <a:p>
            <a:pPr marL="0" marR="0" lvl="0" indent="0" algn="l" defTabSz="914400" rtl="0" eaLnBrk="1" fontAlgn="auto" latinLnBrk="0" hangingPunct="1">
              <a:lnSpc>
                <a:spcPts val="2040"/>
              </a:lnSpc>
              <a:spcBef>
                <a:spcPct val="0"/>
              </a:spcBef>
              <a:spcAft>
                <a:spcPts val="0"/>
              </a:spcAft>
              <a:buClrTx/>
              <a:buSzTx/>
              <a:buFontTx/>
              <a:buNone/>
              <a:tabLst/>
              <a:defRPr/>
            </a:pPr>
            <a:r>
              <a:rPr kumimoji="0" lang="en-US" sz="1700" b="0" i="0" u="none" strike="noStrike" kern="1200" cap="none" spc="0" normalizeH="0" baseline="0" noProof="0">
                <a:ln>
                  <a:noFill/>
                </a:ln>
                <a:solidFill>
                  <a:srgbClr val="000000"/>
                </a:solidFill>
                <a:effectLst/>
                <a:uLnTx/>
                <a:uFillTx/>
                <a:latin typeface="Lato"/>
                <a:ea typeface="+mn-ea"/>
                <a:cs typeface="+mn-cs"/>
              </a:rPr>
              <a:t>Life histories</a:t>
            </a:r>
          </a:p>
        </p:txBody>
      </p:sp>
      <p:sp>
        <p:nvSpPr>
          <p:cNvPr id="47" name="TextBox 32">
            <a:extLst>
              <a:ext uri="{FF2B5EF4-FFF2-40B4-BE49-F238E27FC236}">
                <a16:creationId xmlns:a16="http://schemas.microsoft.com/office/drawing/2014/main" id="{6477E9A8-59D5-8D89-1F81-3AF7DCEC9A06}"/>
              </a:ext>
            </a:extLst>
          </p:cNvPr>
          <p:cNvSpPr txBox="1"/>
          <p:nvPr/>
        </p:nvSpPr>
        <p:spPr>
          <a:xfrm>
            <a:off x="14604494" y="5713901"/>
            <a:ext cx="2791132" cy="256480"/>
          </a:xfrm>
          <a:prstGeom prst="rect">
            <a:avLst/>
          </a:prstGeom>
        </p:spPr>
        <p:txBody>
          <a:bodyPr lIns="0" tIns="0" rIns="0" bIns="0" rtlCol="0" anchor="t">
            <a:spAutoFit/>
          </a:bodyPr>
          <a:lstStyle/>
          <a:p>
            <a:pPr marL="0" marR="0" lvl="0" indent="0" algn="l" defTabSz="914400" rtl="0" eaLnBrk="1" fontAlgn="auto" latinLnBrk="0" hangingPunct="1">
              <a:lnSpc>
                <a:spcPts val="2040"/>
              </a:lnSpc>
              <a:spcBef>
                <a:spcPct val="0"/>
              </a:spcBef>
              <a:spcAft>
                <a:spcPts val="0"/>
              </a:spcAft>
              <a:buClrTx/>
              <a:buSzTx/>
              <a:buFontTx/>
              <a:buNone/>
              <a:tabLst/>
              <a:defRPr/>
            </a:pPr>
            <a:r>
              <a:rPr lang="en-US" sz="1700">
                <a:solidFill>
                  <a:srgbClr val="000000"/>
                </a:solidFill>
                <a:latin typeface="Lato"/>
              </a:rPr>
              <a:t>Trespassing</a:t>
            </a:r>
            <a:endParaRPr kumimoji="0" lang="en-US" sz="1700" b="0" i="0" u="none" strike="noStrike" kern="1200" cap="none" spc="0" normalizeH="0" baseline="0" noProof="0">
              <a:ln>
                <a:noFill/>
              </a:ln>
              <a:solidFill>
                <a:srgbClr val="000000"/>
              </a:solidFill>
              <a:effectLst/>
              <a:uLnTx/>
              <a:uFillTx/>
              <a:latin typeface="Lato"/>
              <a:ea typeface="+mn-ea"/>
              <a:cs typeface="+mn-cs"/>
            </a:endParaRPr>
          </a:p>
        </p:txBody>
      </p:sp>
      <p:sp>
        <p:nvSpPr>
          <p:cNvPr id="48" name="TextBox 33">
            <a:extLst>
              <a:ext uri="{FF2B5EF4-FFF2-40B4-BE49-F238E27FC236}">
                <a16:creationId xmlns:a16="http://schemas.microsoft.com/office/drawing/2014/main" id="{6A0AC10C-A6F6-8D43-1823-7F6BA9114999}"/>
              </a:ext>
            </a:extLst>
          </p:cNvPr>
          <p:cNvSpPr txBox="1"/>
          <p:nvPr/>
        </p:nvSpPr>
        <p:spPr>
          <a:xfrm>
            <a:off x="14318449" y="6948434"/>
            <a:ext cx="2391156" cy="266700"/>
          </a:xfrm>
          <a:prstGeom prst="rect">
            <a:avLst/>
          </a:prstGeom>
        </p:spPr>
        <p:txBody>
          <a:bodyPr lIns="0" tIns="0" rIns="0" bIns="0" rtlCol="0" anchor="t">
            <a:spAutoFit/>
          </a:bodyPr>
          <a:lstStyle/>
          <a:p>
            <a:pPr marL="0" marR="0" lvl="0" indent="0" algn="l" defTabSz="914400" rtl="0" eaLnBrk="1" fontAlgn="auto" latinLnBrk="0" hangingPunct="1">
              <a:lnSpc>
                <a:spcPts val="2040"/>
              </a:lnSpc>
              <a:spcBef>
                <a:spcPct val="0"/>
              </a:spcBef>
              <a:spcAft>
                <a:spcPts val="0"/>
              </a:spcAft>
              <a:buClrTx/>
              <a:buSzTx/>
              <a:buFontTx/>
              <a:buNone/>
              <a:tabLst/>
              <a:defRPr/>
            </a:pPr>
            <a:r>
              <a:rPr kumimoji="0" lang="en-US" sz="1700" b="0" i="0" u="none" strike="noStrike" kern="1200" cap="none" spc="0" normalizeH="0" baseline="0" noProof="0">
                <a:ln>
                  <a:noFill/>
                </a:ln>
                <a:solidFill>
                  <a:srgbClr val="000000"/>
                </a:solidFill>
                <a:effectLst/>
                <a:uLnTx/>
                <a:uFillTx/>
                <a:latin typeface="Lato"/>
                <a:ea typeface="+mn-ea"/>
                <a:cs typeface="+mn-cs"/>
              </a:rPr>
              <a:t>Personal information</a:t>
            </a:r>
          </a:p>
        </p:txBody>
      </p:sp>
      <p:sp>
        <p:nvSpPr>
          <p:cNvPr id="49" name="TextBox 34">
            <a:extLst>
              <a:ext uri="{FF2B5EF4-FFF2-40B4-BE49-F238E27FC236}">
                <a16:creationId xmlns:a16="http://schemas.microsoft.com/office/drawing/2014/main" id="{329593A0-B18F-13EE-121E-1B5041EE14EF}"/>
              </a:ext>
            </a:extLst>
          </p:cNvPr>
          <p:cNvSpPr txBox="1"/>
          <p:nvPr/>
        </p:nvSpPr>
        <p:spPr>
          <a:xfrm>
            <a:off x="12891882" y="1930875"/>
            <a:ext cx="2391156" cy="512961"/>
          </a:xfrm>
          <a:prstGeom prst="rect">
            <a:avLst/>
          </a:prstGeom>
        </p:spPr>
        <p:txBody>
          <a:bodyPr lIns="0" tIns="0" rIns="0" bIns="0" rtlCol="0" anchor="t">
            <a:spAutoFit/>
          </a:bodyPr>
          <a:lstStyle/>
          <a:p>
            <a:pPr marL="0" marR="0" lvl="0" indent="0" algn="l" defTabSz="914400" rtl="0" eaLnBrk="1" fontAlgn="auto" latinLnBrk="0" hangingPunct="1">
              <a:lnSpc>
                <a:spcPts val="2040"/>
              </a:lnSpc>
              <a:spcBef>
                <a:spcPct val="0"/>
              </a:spcBef>
              <a:spcAft>
                <a:spcPts val="0"/>
              </a:spcAft>
              <a:buClrTx/>
              <a:buSzTx/>
              <a:buFontTx/>
              <a:buNone/>
              <a:tabLst/>
              <a:defRPr/>
            </a:pPr>
            <a:r>
              <a:rPr kumimoji="0" lang="en-US" sz="1700" b="0" i="0" u="none" strike="noStrike" kern="1200" cap="none" spc="0" normalizeH="0" baseline="0" noProof="0">
                <a:ln>
                  <a:noFill/>
                </a:ln>
                <a:solidFill>
                  <a:srgbClr val="000000"/>
                </a:solidFill>
                <a:effectLst/>
                <a:uLnTx/>
                <a:uFillTx/>
                <a:latin typeface="Lato"/>
                <a:ea typeface="+mn-ea"/>
                <a:cs typeface="+mn-cs"/>
              </a:rPr>
              <a:t>Scientific research publications</a:t>
            </a:r>
          </a:p>
        </p:txBody>
      </p:sp>
      <p:sp>
        <p:nvSpPr>
          <p:cNvPr id="50" name="TextBox 35">
            <a:extLst>
              <a:ext uri="{FF2B5EF4-FFF2-40B4-BE49-F238E27FC236}">
                <a16:creationId xmlns:a16="http://schemas.microsoft.com/office/drawing/2014/main" id="{44DDC837-F50A-3678-F019-4757D8C0D1E3}"/>
              </a:ext>
            </a:extLst>
          </p:cNvPr>
          <p:cNvSpPr txBox="1"/>
          <p:nvPr/>
        </p:nvSpPr>
        <p:spPr>
          <a:xfrm>
            <a:off x="12123639" y="9273540"/>
            <a:ext cx="2391156" cy="256480"/>
          </a:xfrm>
          <a:prstGeom prst="rect">
            <a:avLst/>
          </a:prstGeom>
        </p:spPr>
        <p:txBody>
          <a:bodyPr lIns="0" tIns="0" rIns="0" bIns="0" rtlCol="0" anchor="t">
            <a:sp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0" i="0" u="none" strike="noStrike" kern="1200" cap="none" spc="0" normalizeH="0" baseline="0" noProof="0">
                <a:ln>
                  <a:noFill/>
                </a:ln>
                <a:solidFill>
                  <a:srgbClr val="000000"/>
                </a:solidFill>
                <a:effectLst/>
                <a:uLnTx/>
                <a:uFillTx/>
                <a:latin typeface="Lato"/>
                <a:ea typeface="+mn-ea"/>
                <a:cs typeface="+mn-cs"/>
              </a:rPr>
              <a:t>Illegal collection</a:t>
            </a:r>
          </a:p>
        </p:txBody>
      </p:sp>
      <p:sp>
        <p:nvSpPr>
          <p:cNvPr id="51" name="TextBox 36">
            <a:extLst>
              <a:ext uri="{FF2B5EF4-FFF2-40B4-BE49-F238E27FC236}">
                <a16:creationId xmlns:a16="http://schemas.microsoft.com/office/drawing/2014/main" id="{4702B9F8-CD00-3C3E-1804-40B1A06606AD}"/>
              </a:ext>
            </a:extLst>
          </p:cNvPr>
          <p:cNvSpPr txBox="1"/>
          <p:nvPr/>
        </p:nvSpPr>
        <p:spPr>
          <a:xfrm>
            <a:off x="12885286" y="8055252"/>
            <a:ext cx="2391156" cy="256480"/>
          </a:xfrm>
          <a:prstGeom prst="rect">
            <a:avLst/>
          </a:prstGeom>
        </p:spPr>
        <p:txBody>
          <a:bodyPr lIns="0" tIns="0" rIns="0" bIns="0" rtlCol="0" anchor="t">
            <a:spAutoFit/>
          </a:bodyPr>
          <a:lstStyle/>
          <a:p>
            <a:pPr marL="0" marR="0" lvl="0" indent="0" algn="l" defTabSz="914400" rtl="0" eaLnBrk="1" fontAlgn="auto" latinLnBrk="0" hangingPunct="1">
              <a:lnSpc>
                <a:spcPts val="2040"/>
              </a:lnSpc>
              <a:spcBef>
                <a:spcPct val="0"/>
              </a:spcBef>
              <a:spcAft>
                <a:spcPts val="0"/>
              </a:spcAft>
              <a:buClrTx/>
              <a:buSzTx/>
              <a:buFontTx/>
              <a:buNone/>
              <a:tabLst/>
              <a:defRPr/>
            </a:pPr>
            <a:r>
              <a:rPr kumimoji="0" lang="en-US" sz="1700" b="0" i="0" u="none" strike="noStrike" kern="1200" cap="none" spc="0" normalizeH="0" baseline="0" noProof="0">
                <a:ln>
                  <a:noFill/>
                </a:ln>
                <a:solidFill>
                  <a:srgbClr val="000000"/>
                </a:solidFill>
                <a:effectLst/>
                <a:uLnTx/>
                <a:uFillTx/>
                <a:latin typeface="Lato"/>
                <a:ea typeface="+mn-ea"/>
                <a:cs typeface="+mn-cs"/>
              </a:rPr>
              <a:t>Biosecurity</a:t>
            </a:r>
            <a:r>
              <a:rPr lang="en-US" sz="1700">
                <a:solidFill>
                  <a:srgbClr val="000000"/>
                </a:solidFill>
                <a:latin typeface="Lato"/>
              </a:rPr>
              <a:t> taxa</a:t>
            </a:r>
            <a:endParaRPr kumimoji="0" lang="en-US" sz="1700" b="0" i="0" u="none" strike="noStrike" kern="1200" cap="none" spc="0" normalizeH="0" baseline="0" noProof="0">
              <a:ln>
                <a:noFill/>
              </a:ln>
              <a:solidFill>
                <a:srgbClr val="000000"/>
              </a:solidFill>
              <a:effectLst/>
              <a:uLnTx/>
              <a:uFillTx/>
              <a:latin typeface="Lato"/>
              <a:ea typeface="+mn-ea"/>
              <a:cs typeface="+mn-cs"/>
            </a:endParaRPr>
          </a:p>
        </p:txBody>
      </p:sp>
      <p:pic>
        <p:nvPicPr>
          <p:cNvPr id="52" name="Picture 51" descr="A pink and white bird standing on a branch in water&#10;&#10;AI-generated content may be incorrect.">
            <a:extLst>
              <a:ext uri="{FF2B5EF4-FFF2-40B4-BE49-F238E27FC236}">
                <a16:creationId xmlns:a16="http://schemas.microsoft.com/office/drawing/2014/main" id="{FEE1A37A-C51C-B110-A781-FB28384F544F}"/>
              </a:ext>
            </a:extLst>
          </p:cNvPr>
          <p:cNvPicPr>
            <a:picLocks noChangeAspect="1"/>
          </p:cNvPicPr>
          <p:nvPr/>
        </p:nvPicPr>
        <p:blipFill>
          <a:blip r:embed="rId16">
            <a:extLst>
              <a:ext uri="{28A0092B-C50C-407E-A947-70E740481C1C}">
                <a14:useLocalDpi xmlns:a14="http://schemas.microsoft.com/office/drawing/2010/main" val="0"/>
              </a:ext>
            </a:extLst>
          </a:blip>
          <a:srcRect l="15968" t="10132" r="23096"/>
          <a:stretch/>
        </p:blipFill>
        <p:spPr>
          <a:xfrm>
            <a:off x="5876396" y="2388974"/>
            <a:ext cx="6055095" cy="5953366"/>
          </a:xfrm>
          <a:prstGeom prst="flowChartConnector">
            <a:avLst/>
          </a:prstGeom>
          <a:ln w="127000">
            <a:solidFill>
              <a:schemeClr val="bg1"/>
            </a:solidFill>
          </a:ln>
        </p:spPr>
      </p:pic>
      <p:sp>
        <p:nvSpPr>
          <p:cNvPr id="53" name="TextBox 37">
            <a:extLst>
              <a:ext uri="{FF2B5EF4-FFF2-40B4-BE49-F238E27FC236}">
                <a16:creationId xmlns:a16="http://schemas.microsoft.com/office/drawing/2014/main" id="{28F342B6-03BC-0914-9065-4F4194844968}"/>
              </a:ext>
            </a:extLst>
          </p:cNvPr>
          <p:cNvSpPr txBox="1"/>
          <p:nvPr/>
        </p:nvSpPr>
        <p:spPr>
          <a:xfrm>
            <a:off x="7323679" y="7128850"/>
            <a:ext cx="2921512" cy="901081"/>
          </a:xfrm>
          <a:prstGeom prst="rect">
            <a:avLst/>
          </a:prstGeom>
        </p:spPr>
        <p:txBody>
          <a:bodyPr wrap="square" lIns="0" tIns="0" rIns="0" bIns="0" rtlCol="0" anchor="t">
            <a:spAutoFit/>
          </a:bodyPr>
          <a:lstStyle/>
          <a:p>
            <a:pPr marL="0" marR="0" lvl="0" indent="0" algn="r" defTabSz="914400" rtl="0" eaLnBrk="1" fontAlgn="auto" latinLnBrk="0" hangingPunct="1">
              <a:lnSpc>
                <a:spcPts val="1819"/>
              </a:lnSpc>
              <a:spcBef>
                <a:spcPts val="0"/>
              </a:spcBef>
              <a:spcAft>
                <a:spcPts val="0"/>
              </a:spcAft>
              <a:buClrTx/>
              <a:buSzTx/>
              <a:buFontTx/>
              <a:buNone/>
              <a:tabLst/>
              <a:defRPr/>
            </a:pPr>
            <a:r>
              <a:rPr kumimoji="0" lang="en-US" sz="1299" b="0" i="0" u="none" strike="noStrike" kern="1200" cap="none" spc="0" normalizeH="0" baseline="0" noProof="0">
                <a:ln>
                  <a:noFill/>
                </a:ln>
                <a:solidFill>
                  <a:srgbClr val="FFFFFF"/>
                </a:solidFill>
                <a:effectLst/>
                <a:uLnTx/>
                <a:uFillTx/>
                <a:latin typeface="Lato"/>
                <a:ea typeface="+mn-ea"/>
                <a:cs typeface="+mn-cs"/>
              </a:rPr>
              <a:t>Pink Cockatoo</a:t>
            </a:r>
          </a:p>
          <a:p>
            <a:pPr marL="0" marR="0" lvl="0" indent="0" algn="r" defTabSz="914400" rtl="0" eaLnBrk="1" fontAlgn="auto" latinLnBrk="0" hangingPunct="1">
              <a:lnSpc>
                <a:spcPts val="1819"/>
              </a:lnSpc>
              <a:spcBef>
                <a:spcPts val="0"/>
              </a:spcBef>
              <a:spcAft>
                <a:spcPts val="0"/>
              </a:spcAft>
              <a:buClrTx/>
              <a:buSzTx/>
              <a:buFontTx/>
              <a:buNone/>
              <a:tabLst/>
              <a:defRPr/>
            </a:pPr>
            <a:r>
              <a:rPr kumimoji="0" lang="en-US" sz="1299" b="0" i="0" u="none" strike="noStrike" kern="1200" cap="none" spc="0" normalizeH="0" baseline="0" noProof="0">
                <a:ln>
                  <a:noFill/>
                </a:ln>
                <a:solidFill>
                  <a:srgbClr val="FFFFFF"/>
                </a:solidFill>
                <a:effectLst/>
                <a:uLnTx/>
                <a:uFillTx/>
                <a:latin typeface="Lato"/>
                <a:ea typeface="+mn-ea"/>
                <a:cs typeface="+mn-cs"/>
              </a:rPr>
              <a:t>(</a:t>
            </a:r>
            <a:r>
              <a:rPr kumimoji="0" lang="en-US" sz="1299" b="0" i="1" u="none" strike="noStrike" kern="1200" cap="none" spc="0" normalizeH="0" baseline="0" noProof="0" err="1">
                <a:ln>
                  <a:noFill/>
                </a:ln>
                <a:solidFill>
                  <a:srgbClr val="FFFFFF"/>
                </a:solidFill>
                <a:effectLst/>
                <a:uLnTx/>
                <a:uFillTx/>
                <a:latin typeface="Lato"/>
                <a:ea typeface="+mn-ea"/>
                <a:cs typeface="+mn-cs"/>
              </a:rPr>
              <a:t>Lophochroa</a:t>
            </a:r>
            <a:r>
              <a:rPr kumimoji="0" lang="en-US" sz="1299" b="0" i="1" u="none" strike="noStrike" kern="1200" cap="none" spc="0" normalizeH="0" baseline="0" noProof="0">
                <a:ln>
                  <a:noFill/>
                </a:ln>
                <a:solidFill>
                  <a:srgbClr val="FFFFFF"/>
                </a:solidFill>
                <a:effectLst/>
                <a:uLnTx/>
                <a:uFillTx/>
                <a:latin typeface="Lato"/>
                <a:ea typeface="+mn-ea"/>
                <a:cs typeface="+mn-cs"/>
              </a:rPr>
              <a:t> </a:t>
            </a:r>
            <a:r>
              <a:rPr kumimoji="0" lang="en-US" sz="1299" b="0" i="1" u="none" strike="noStrike" kern="1200" cap="none" spc="0" normalizeH="0" baseline="0" noProof="0" err="1">
                <a:ln>
                  <a:noFill/>
                </a:ln>
                <a:solidFill>
                  <a:srgbClr val="FFFFFF"/>
                </a:solidFill>
                <a:effectLst/>
                <a:uLnTx/>
                <a:uFillTx/>
                <a:latin typeface="Lato"/>
                <a:ea typeface="+mn-ea"/>
                <a:cs typeface="+mn-cs"/>
              </a:rPr>
              <a:t>leadbeateri</a:t>
            </a:r>
            <a:r>
              <a:rPr kumimoji="0" lang="en-US" sz="1299" b="0" i="1" u="none" strike="noStrike" kern="1200" cap="none" spc="0" normalizeH="0" baseline="0" noProof="0">
                <a:ln>
                  <a:noFill/>
                </a:ln>
                <a:solidFill>
                  <a:srgbClr val="FFFFFF"/>
                </a:solidFill>
                <a:effectLst/>
                <a:uLnTx/>
                <a:uFillTx/>
                <a:latin typeface="Lato"/>
                <a:ea typeface="+mn-ea"/>
                <a:cs typeface="+mn-cs"/>
              </a:rPr>
              <a:t> ssp. </a:t>
            </a:r>
            <a:r>
              <a:rPr kumimoji="0" lang="en-US" sz="1299" b="0" i="1" u="none" strike="noStrike" kern="1200" cap="none" spc="0" normalizeH="0" baseline="0" noProof="0" err="1">
                <a:ln>
                  <a:noFill/>
                </a:ln>
                <a:solidFill>
                  <a:srgbClr val="FFFFFF"/>
                </a:solidFill>
                <a:effectLst/>
                <a:uLnTx/>
                <a:uFillTx/>
                <a:latin typeface="Lato"/>
                <a:ea typeface="+mn-ea"/>
                <a:cs typeface="+mn-cs"/>
              </a:rPr>
              <a:t>leadbeateri</a:t>
            </a:r>
            <a:r>
              <a:rPr kumimoji="0" lang="en-US" sz="1299" b="0" i="0" u="none" strike="noStrike" kern="1200" cap="none" spc="0" normalizeH="0" baseline="0" noProof="0">
                <a:ln>
                  <a:noFill/>
                </a:ln>
                <a:solidFill>
                  <a:srgbClr val="FFFFFF"/>
                </a:solidFill>
                <a:effectLst/>
                <a:uLnTx/>
                <a:uFillTx/>
                <a:latin typeface="Lato"/>
                <a:ea typeface="+mn-ea"/>
                <a:cs typeface="+mn-cs"/>
              </a:rPr>
              <a:t>)</a:t>
            </a:r>
          </a:p>
          <a:p>
            <a:pPr marL="0" marR="0" lvl="0" indent="0" algn="r" defTabSz="914400" rtl="0" eaLnBrk="1" fontAlgn="auto" latinLnBrk="0" hangingPunct="1">
              <a:lnSpc>
                <a:spcPts val="1819"/>
              </a:lnSpc>
              <a:spcBef>
                <a:spcPts val="0"/>
              </a:spcBef>
              <a:spcAft>
                <a:spcPts val="0"/>
              </a:spcAft>
              <a:buClrTx/>
              <a:buSzTx/>
              <a:buFontTx/>
              <a:buNone/>
              <a:tabLst/>
              <a:defRPr/>
            </a:pPr>
            <a:r>
              <a:rPr kumimoji="0" lang="en-US" sz="1299" b="0" i="0" u="none" strike="noStrike" kern="1200" cap="none" spc="0" normalizeH="0" baseline="0" noProof="0">
                <a:ln>
                  <a:noFill/>
                </a:ln>
                <a:solidFill>
                  <a:srgbClr val="FFFFFF"/>
                </a:solidFill>
                <a:effectLst/>
                <a:uLnTx/>
                <a:uFillTx/>
                <a:latin typeface="Lato"/>
                <a:ea typeface="+mn-ea"/>
                <a:cs typeface="+mn-cs"/>
              </a:rPr>
              <a:t>Photo Credit Michael Hains</a:t>
            </a:r>
          </a:p>
          <a:p>
            <a:pPr marL="0" marR="0" lvl="0" indent="0" algn="r" defTabSz="914400" rtl="0" eaLnBrk="1" fontAlgn="auto" latinLnBrk="0" hangingPunct="1">
              <a:lnSpc>
                <a:spcPts val="1819"/>
              </a:lnSpc>
              <a:spcBef>
                <a:spcPts val="0"/>
              </a:spcBef>
              <a:spcAft>
                <a:spcPts val="0"/>
              </a:spcAft>
              <a:buClrTx/>
              <a:buSzTx/>
              <a:buFontTx/>
              <a:buNone/>
              <a:tabLst/>
              <a:defRPr/>
            </a:pPr>
            <a:r>
              <a:rPr kumimoji="0" lang="en-US" sz="1299" b="0" i="0" u="none" strike="noStrike" kern="1200" cap="none" spc="0" normalizeH="0" baseline="0" noProof="0">
                <a:ln>
                  <a:noFill/>
                </a:ln>
                <a:solidFill>
                  <a:srgbClr val="FFFFFF"/>
                </a:solidFill>
                <a:effectLst/>
                <a:uLnTx/>
                <a:uFillTx/>
                <a:latin typeface="Lato"/>
                <a:ea typeface="+mn-ea"/>
                <a:cs typeface="+mn-cs"/>
              </a:rPr>
              <a:t>CC BY NC</a:t>
            </a:r>
          </a:p>
        </p:txBody>
      </p:sp>
      <p:sp>
        <p:nvSpPr>
          <p:cNvPr id="54" name="TextBox 30">
            <a:extLst>
              <a:ext uri="{FF2B5EF4-FFF2-40B4-BE49-F238E27FC236}">
                <a16:creationId xmlns:a16="http://schemas.microsoft.com/office/drawing/2014/main" id="{8F82A0AC-D4AE-909E-58D8-D37245523904}"/>
              </a:ext>
            </a:extLst>
          </p:cNvPr>
          <p:cNvSpPr txBox="1"/>
          <p:nvPr/>
        </p:nvSpPr>
        <p:spPr>
          <a:xfrm>
            <a:off x="2323654" y="1942990"/>
            <a:ext cx="2391156" cy="512961"/>
          </a:xfrm>
          <a:prstGeom prst="rect">
            <a:avLst/>
          </a:prstGeom>
        </p:spPr>
        <p:txBody>
          <a:bodyPr lIns="0" tIns="0" rIns="0" bIns="0" rtlCol="0" anchor="t">
            <a:spAutoFit/>
          </a:bodyPr>
          <a:lstStyle/>
          <a:p>
            <a:pPr algn="r">
              <a:lnSpc>
                <a:spcPts val="2040"/>
              </a:lnSpc>
              <a:spcBef>
                <a:spcPct val="0"/>
              </a:spcBef>
              <a:defRPr/>
            </a:pPr>
            <a:r>
              <a:rPr lang="en-US" sz="1700">
                <a:solidFill>
                  <a:srgbClr val="000000"/>
                </a:solidFill>
                <a:latin typeface="Lato"/>
              </a:rPr>
              <a:t>Associations with other taxa</a:t>
            </a:r>
            <a:endParaRPr lang="en-US" sz="1700" b="0" i="0" u="none" strike="noStrike" kern="1200" cap="none" spc="0" normalizeH="0" baseline="0" noProof="0" err="1">
              <a:ln>
                <a:noFill/>
              </a:ln>
              <a:solidFill>
                <a:srgbClr val="000000"/>
              </a:solidFill>
              <a:effectLst/>
              <a:uLnTx/>
              <a:uFillTx/>
              <a:latin typeface="Lato"/>
              <a:ea typeface="Lato"/>
              <a:cs typeface="Lato"/>
            </a:endParaRPr>
          </a:p>
        </p:txBody>
      </p:sp>
      <p:pic>
        <p:nvPicPr>
          <p:cNvPr id="55" name="Graphic 54" descr="Anemone and clownfish with solid fill">
            <a:extLst>
              <a:ext uri="{FF2B5EF4-FFF2-40B4-BE49-F238E27FC236}">
                <a16:creationId xmlns:a16="http://schemas.microsoft.com/office/drawing/2014/main" id="{84B1A0B9-7F79-74C7-557C-47B2E0C8B80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495142" y="1983333"/>
            <a:ext cx="435600" cy="435600"/>
          </a:xfrm>
          <a:prstGeom prst="rect">
            <a:avLst/>
          </a:prstGeom>
        </p:spPr>
      </p:pic>
      <p:sp>
        <p:nvSpPr>
          <p:cNvPr id="56" name="TextBox 30">
            <a:extLst>
              <a:ext uri="{FF2B5EF4-FFF2-40B4-BE49-F238E27FC236}">
                <a16:creationId xmlns:a16="http://schemas.microsoft.com/office/drawing/2014/main" id="{CB775ECF-5069-6565-1532-8E96266CC170}"/>
              </a:ext>
            </a:extLst>
          </p:cNvPr>
          <p:cNvSpPr txBox="1"/>
          <p:nvPr/>
        </p:nvSpPr>
        <p:spPr>
          <a:xfrm>
            <a:off x="1183806" y="3280255"/>
            <a:ext cx="2391156" cy="256480"/>
          </a:xfrm>
          <a:prstGeom prst="rect">
            <a:avLst/>
          </a:prstGeom>
        </p:spPr>
        <p:txBody>
          <a:bodyPr lIns="0" tIns="0" rIns="0" bIns="0" rtlCol="0" anchor="t">
            <a:spAutoFit/>
          </a:bodyPr>
          <a:lstStyle/>
          <a:p>
            <a:pPr algn="r">
              <a:lnSpc>
                <a:spcPts val="2040"/>
              </a:lnSpc>
              <a:spcBef>
                <a:spcPct val="0"/>
              </a:spcBef>
              <a:defRPr/>
            </a:pPr>
            <a:r>
              <a:rPr lang="en-US" sz="1700">
                <a:solidFill>
                  <a:srgbClr val="000000"/>
                </a:solidFill>
                <a:latin typeface="Lato"/>
              </a:rPr>
              <a:t>Risk to human life</a:t>
            </a:r>
            <a:endParaRPr lang="en-US" sz="1700" b="0" i="0" u="none" strike="noStrike" kern="1200" cap="none" spc="0" normalizeH="0" baseline="0" noProof="0" err="1">
              <a:ln>
                <a:noFill/>
              </a:ln>
              <a:solidFill>
                <a:srgbClr val="000000"/>
              </a:solidFill>
              <a:effectLst/>
              <a:uLnTx/>
              <a:uFillTx/>
              <a:latin typeface="Lato"/>
              <a:ea typeface="Lato"/>
              <a:cs typeface="Lato"/>
            </a:endParaRPr>
          </a:p>
        </p:txBody>
      </p:sp>
      <p:sp>
        <p:nvSpPr>
          <p:cNvPr id="57" name="TextBox 30">
            <a:extLst>
              <a:ext uri="{FF2B5EF4-FFF2-40B4-BE49-F238E27FC236}">
                <a16:creationId xmlns:a16="http://schemas.microsoft.com/office/drawing/2014/main" id="{95D1B277-7E44-96D1-02D3-9850DEF40C66}"/>
              </a:ext>
            </a:extLst>
          </p:cNvPr>
          <p:cNvSpPr txBox="1"/>
          <p:nvPr/>
        </p:nvSpPr>
        <p:spPr>
          <a:xfrm>
            <a:off x="894530" y="4496362"/>
            <a:ext cx="2391156" cy="256480"/>
          </a:xfrm>
          <a:prstGeom prst="rect">
            <a:avLst/>
          </a:prstGeom>
        </p:spPr>
        <p:txBody>
          <a:bodyPr lIns="0" tIns="0" rIns="0" bIns="0" rtlCol="0" anchor="t">
            <a:spAutoFit/>
          </a:bodyPr>
          <a:lstStyle/>
          <a:p>
            <a:pPr algn="r">
              <a:lnSpc>
                <a:spcPts val="2040"/>
              </a:lnSpc>
              <a:spcBef>
                <a:spcPct val="0"/>
              </a:spcBef>
              <a:defRPr/>
            </a:pPr>
            <a:r>
              <a:rPr lang="en-US" sz="1700">
                <a:solidFill>
                  <a:srgbClr val="000000"/>
                </a:solidFill>
                <a:latin typeface="Lato"/>
              </a:rPr>
              <a:t>Site description</a:t>
            </a:r>
            <a:endParaRPr lang="en-US" sz="1700" b="0" i="0" u="none" strike="noStrike" kern="1200" cap="none" spc="0" normalizeH="0" baseline="0" noProof="0" err="1">
              <a:ln>
                <a:noFill/>
              </a:ln>
              <a:solidFill>
                <a:srgbClr val="000000"/>
              </a:solidFill>
              <a:effectLst/>
              <a:uLnTx/>
              <a:uFillTx/>
              <a:latin typeface="Lato"/>
              <a:ea typeface="Lato"/>
              <a:cs typeface="Lato"/>
            </a:endParaRPr>
          </a:p>
        </p:txBody>
      </p:sp>
      <p:sp>
        <p:nvSpPr>
          <p:cNvPr id="58" name="TextBox 30">
            <a:extLst>
              <a:ext uri="{FF2B5EF4-FFF2-40B4-BE49-F238E27FC236}">
                <a16:creationId xmlns:a16="http://schemas.microsoft.com/office/drawing/2014/main" id="{D9E26A44-40F0-A603-4225-D054B7BEF120}"/>
              </a:ext>
            </a:extLst>
          </p:cNvPr>
          <p:cNvSpPr txBox="1"/>
          <p:nvPr/>
        </p:nvSpPr>
        <p:spPr>
          <a:xfrm>
            <a:off x="1147367" y="5725501"/>
            <a:ext cx="2391156" cy="256480"/>
          </a:xfrm>
          <a:prstGeom prst="rect">
            <a:avLst/>
          </a:prstGeom>
        </p:spPr>
        <p:txBody>
          <a:bodyPr lIns="0" tIns="0" rIns="0" bIns="0" rtlCol="0" anchor="t">
            <a:spAutoFit/>
          </a:bodyPr>
          <a:lstStyle/>
          <a:p>
            <a:pPr algn="r">
              <a:lnSpc>
                <a:spcPts val="2040"/>
              </a:lnSpc>
              <a:spcBef>
                <a:spcPct val="0"/>
              </a:spcBef>
              <a:defRPr/>
            </a:pPr>
            <a:r>
              <a:rPr lang="en-US" sz="1700">
                <a:solidFill>
                  <a:srgbClr val="000000"/>
                </a:solidFill>
                <a:latin typeface="Lato"/>
              </a:rPr>
              <a:t>Habitat information</a:t>
            </a:r>
            <a:endParaRPr lang="en-US" sz="1700" b="0" i="0" u="none" strike="noStrike" kern="1200" cap="none" spc="0" normalizeH="0" baseline="0" noProof="0" err="1">
              <a:ln>
                <a:noFill/>
              </a:ln>
              <a:solidFill>
                <a:srgbClr val="000000"/>
              </a:solidFill>
              <a:effectLst/>
              <a:uLnTx/>
              <a:uFillTx/>
              <a:latin typeface="Lato"/>
              <a:ea typeface="Lato"/>
              <a:cs typeface="Lato"/>
            </a:endParaRPr>
          </a:p>
        </p:txBody>
      </p:sp>
      <p:sp>
        <p:nvSpPr>
          <p:cNvPr id="59" name="TextBox 30">
            <a:extLst>
              <a:ext uri="{FF2B5EF4-FFF2-40B4-BE49-F238E27FC236}">
                <a16:creationId xmlns:a16="http://schemas.microsoft.com/office/drawing/2014/main" id="{4412E973-A4AF-458C-FDA5-D5E6833394CB}"/>
              </a:ext>
            </a:extLst>
          </p:cNvPr>
          <p:cNvSpPr txBox="1"/>
          <p:nvPr/>
        </p:nvSpPr>
        <p:spPr>
          <a:xfrm>
            <a:off x="1374300" y="6850951"/>
            <a:ext cx="2391156" cy="256480"/>
          </a:xfrm>
          <a:prstGeom prst="rect">
            <a:avLst/>
          </a:prstGeom>
        </p:spPr>
        <p:txBody>
          <a:bodyPr lIns="0" tIns="0" rIns="0" bIns="0" rtlCol="0" anchor="t">
            <a:spAutoFit/>
          </a:bodyPr>
          <a:lstStyle/>
          <a:p>
            <a:pPr algn="r">
              <a:lnSpc>
                <a:spcPts val="2040"/>
              </a:lnSpc>
              <a:spcBef>
                <a:spcPct val="0"/>
              </a:spcBef>
              <a:defRPr/>
            </a:pPr>
            <a:r>
              <a:rPr lang="en-US" sz="1700">
                <a:solidFill>
                  <a:srgbClr val="000000"/>
                </a:solidFill>
                <a:latin typeface="Lato"/>
              </a:rPr>
              <a:t>Pest / weed control</a:t>
            </a:r>
            <a:endParaRPr lang="en-US" sz="1700" b="0" i="0" u="none" strike="noStrike" kern="1200" cap="none" spc="0" normalizeH="0" baseline="0" noProof="0" err="1">
              <a:ln>
                <a:noFill/>
              </a:ln>
              <a:solidFill>
                <a:srgbClr val="000000"/>
              </a:solidFill>
              <a:effectLst/>
              <a:uLnTx/>
              <a:uFillTx/>
              <a:latin typeface="Lato"/>
              <a:ea typeface="Lato"/>
              <a:cs typeface="Lato"/>
            </a:endParaRPr>
          </a:p>
        </p:txBody>
      </p:sp>
      <p:sp>
        <p:nvSpPr>
          <p:cNvPr id="60" name="Freeform 14">
            <a:extLst>
              <a:ext uri="{FF2B5EF4-FFF2-40B4-BE49-F238E27FC236}">
                <a16:creationId xmlns:a16="http://schemas.microsoft.com/office/drawing/2014/main" id="{253DC250-1F24-6E0B-F637-5742D15FA316}"/>
              </a:ext>
            </a:extLst>
          </p:cNvPr>
          <p:cNvSpPr/>
          <p:nvPr/>
        </p:nvSpPr>
        <p:spPr>
          <a:xfrm rot="10800000">
            <a:off x="2012000" y="7800777"/>
            <a:ext cx="3985647" cy="747309"/>
          </a:xfrm>
          <a:custGeom>
            <a:avLst/>
            <a:gdLst/>
            <a:ahLst/>
            <a:cxnLst/>
            <a:rect l="l" t="t" r="r" b="b"/>
            <a:pathLst>
              <a:path w="3985647" h="747309">
                <a:moveTo>
                  <a:pt x="0" y="0"/>
                </a:moveTo>
                <a:lnTo>
                  <a:pt x="3985647" y="0"/>
                </a:lnTo>
                <a:lnTo>
                  <a:pt x="3985647" y="747308"/>
                </a:lnTo>
                <a:lnTo>
                  <a:pt x="0" y="74730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AU"/>
          </a:p>
        </p:txBody>
      </p:sp>
      <p:sp>
        <p:nvSpPr>
          <p:cNvPr id="61" name="TextBox 30">
            <a:extLst>
              <a:ext uri="{FF2B5EF4-FFF2-40B4-BE49-F238E27FC236}">
                <a16:creationId xmlns:a16="http://schemas.microsoft.com/office/drawing/2014/main" id="{47831877-0839-CE75-9C60-775C5152AE02}"/>
              </a:ext>
            </a:extLst>
          </p:cNvPr>
          <p:cNvSpPr txBox="1"/>
          <p:nvPr/>
        </p:nvSpPr>
        <p:spPr>
          <a:xfrm>
            <a:off x="2285198" y="7991531"/>
            <a:ext cx="2391156" cy="256480"/>
          </a:xfrm>
          <a:prstGeom prst="rect">
            <a:avLst/>
          </a:prstGeom>
        </p:spPr>
        <p:txBody>
          <a:bodyPr lIns="0" tIns="0" rIns="0" bIns="0" rtlCol="0" anchor="t">
            <a:spAutoFit/>
          </a:bodyPr>
          <a:lstStyle/>
          <a:p>
            <a:pPr algn="r">
              <a:lnSpc>
                <a:spcPts val="2040"/>
              </a:lnSpc>
              <a:spcBef>
                <a:spcPct val="0"/>
              </a:spcBef>
              <a:defRPr/>
            </a:pPr>
            <a:r>
              <a:rPr lang="en-US" sz="1700">
                <a:solidFill>
                  <a:srgbClr val="000000"/>
                </a:solidFill>
                <a:latin typeface="Lato"/>
              </a:rPr>
              <a:t>Legal / non-legal reasons</a:t>
            </a:r>
            <a:endParaRPr lang="en-US" sz="1700" b="0" i="0" u="none" strike="noStrike" kern="1200" cap="none" spc="0" normalizeH="0" baseline="0" noProof="0" err="1">
              <a:ln>
                <a:noFill/>
              </a:ln>
              <a:solidFill>
                <a:srgbClr val="000000"/>
              </a:solidFill>
              <a:effectLst/>
              <a:uLnTx/>
              <a:uFillTx/>
              <a:latin typeface="Lato"/>
              <a:ea typeface="Lato"/>
              <a:cs typeface="Lato"/>
            </a:endParaRPr>
          </a:p>
        </p:txBody>
      </p:sp>
      <p:sp>
        <p:nvSpPr>
          <p:cNvPr id="62" name="TextBox 30">
            <a:extLst>
              <a:ext uri="{FF2B5EF4-FFF2-40B4-BE49-F238E27FC236}">
                <a16:creationId xmlns:a16="http://schemas.microsoft.com/office/drawing/2014/main" id="{44F945F7-0674-703B-1E18-F684E713FEEE}"/>
              </a:ext>
            </a:extLst>
          </p:cNvPr>
          <p:cNvSpPr txBox="1"/>
          <p:nvPr/>
        </p:nvSpPr>
        <p:spPr>
          <a:xfrm>
            <a:off x="3398301" y="9247366"/>
            <a:ext cx="2391156" cy="256480"/>
          </a:xfrm>
          <a:prstGeom prst="rect">
            <a:avLst/>
          </a:prstGeom>
        </p:spPr>
        <p:txBody>
          <a:bodyPr lIns="0" tIns="0" rIns="0" bIns="0" rtlCol="0" anchor="t">
            <a:spAutoFit/>
          </a:bodyPr>
          <a:lstStyle/>
          <a:p>
            <a:pPr algn="r">
              <a:lnSpc>
                <a:spcPts val="2040"/>
              </a:lnSpc>
              <a:spcBef>
                <a:spcPct val="0"/>
              </a:spcBef>
              <a:defRPr/>
            </a:pPr>
            <a:r>
              <a:rPr lang="en-US" sz="1700">
                <a:solidFill>
                  <a:srgbClr val="000000"/>
                </a:solidFill>
                <a:latin typeface="Lato"/>
              </a:rPr>
              <a:t>Privacy</a:t>
            </a:r>
            <a:endParaRPr lang="en-US" sz="1700" b="0" i="0" u="none" strike="noStrike" kern="1200" cap="none" spc="0" normalizeH="0" baseline="0" noProof="0" err="1">
              <a:ln>
                <a:noFill/>
              </a:ln>
              <a:solidFill>
                <a:srgbClr val="000000"/>
              </a:solidFill>
              <a:effectLst/>
              <a:uLnTx/>
              <a:uFillTx/>
              <a:latin typeface="Lato"/>
              <a:ea typeface="Lato"/>
              <a:cs typeface="Lato"/>
            </a:endParaRPr>
          </a:p>
        </p:txBody>
      </p:sp>
      <p:pic>
        <p:nvPicPr>
          <p:cNvPr id="63" name="Graphic 62" descr="Bow And Arrow with solid fill">
            <a:extLst>
              <a:ext uri="{FF2B5EF4-FFF2-40B4-BE49-F238E27FC236}">
                <a16:creationId xmlns:a16="http://schemas.microsoft.com/office/drawing/2014/main" id="{291F098C-9F12-93CF-71DD-FEFEA7C42DEA}"/>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3562905" y="5624341"/>
            <a:ext cx="435600" cy="435600"/>
          </a:xfrm>
          <a:prstGeom prst="rect">
            <a:avLst/>
          </a:prstGeom>
        </p:spPr>
      </p:pic>
      <p:pic>
        <p:nvPicPr>
          <p:cNvPr id="64" name="Graphic 63" descr="Atom with solid fill">
            <a:extLst>
              <a:ext uri="{FF2B5EF4-FFF2-40B4-BE49-F238E27FC236}">
                <a16:creationId xmlns:a16="http://schemas.microsoft.com/office/drawing/2014/main" id="{3CF56C29-46B5-7EC0-3B06-B96047CBB664}"/>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464820" y="3184901"/>
            <a:ext cx="435600" cy="435600"/>
          </a:xfrm>
          <a:prstGeom prst="rect">
            <a:avLst/>
          </a:prstGeom>
        </p:spPr>
      </p:pic>
      <p:pic>
        <p:nvPicPr>
          <p:cNvPr id="65" name="Graphic 64" descr="Canyon scene outline">
            <a:extLst>
              <a:ext uri="{FF2B5EF4-FFF2-40B4-BE49-F238E27FC236}">
                <a16:creationId xmlns:a16="http://schemas.microsoft.com/office/drawing/2014/main" id="{361FC0E2-4248-B62E-587F-6228134C285B}"/>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063917" y="4390082"/>
            <a:ext cx="435600" cy="435600"/>
          </a:xfrm>
          <a:prstGeom prst="rect">
            <a:avLst/>
          </a:prstGeom>
        </p:spPr>
      </p:pic>
      <p:pic>
        <p:nvPicPr>
          <p:cNvPr id="66" name="Graphic 65" descr="Egg with solid fill">
            <a:extLst>
              <a:ext uri="{FF2B5EF4-FFF2-40B4-BE49-F238E27FC236}">
                <a16:creationId xmlns:a16="http://schemas.microsoft.com/office/drawing/2014/main" id="{0C94F665-10DA-3390-C917-0CAEA3131BFC}"/>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3586745" y="4408112"/>
            <a:ext cx="435600" cy="435600"/>
          </a:xfrm>
          <a:prstGeom prst="rect">
            <a:avLst/>
          </a:prstGeom>
        </p:spPr>
      </p:pic>
      <p:pic>
        <p:nvPicPr>
          <p:cNvPr id="67" name="Graphic 66" descr="Eye with solid fill">
            <a:extLst>
              <a:ext uri="{FF2B5EF4-FFF2-40B4-BE49-F238E27FC236}">
                <a16:creationId xmlns:a16="http://schemas.microsoft.com/office/drawing/2014/main" id="{67715BE2-4E21-B379-8771-919D70E324C3}"/>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604172" y="9157806"/>
            <a:ext cx="435600" cy="435600"/>
          </a:xfrm>
          <a:prstGeom prst="rect">
            <a:avLst/>
          </a:prstGeom>
        </p:spPr>
      </p:pic>
      <p:pic>
        <p:nvPicPr>
          <p:cNvPr id="68" name="Graphic 67" descr="Farmer female with solid fill">
            <a:extLst>
              <a:ext uri="{FF2B5EF4-FFF2-40B4-BE49-F238E27FC236}">
                <a16:creationId xmlns:a16="http://schemas.microsoft.com/office/drawing/2014/main" id="{866E7E35-A2AF-E08C-835F-16CFDA02758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4560518" y="6750715"/>
            <a:ext cx="435600" cy="435600"/>
          </a:xfrm>
          <a:prstGeom prst="rect">
            <a:avLst/>
          </a:prstGeom>
        </p:spPr>
      </p:pic>
      <p:pic>
        <p:nvPicPr>
          <p:cNvPr id="69" name="Graphic 68" descr="Handshake with solid fill">
            <a:extLst>
              <a:ext uri="{FF2B5EF4-FFF2-40B4-BE49-F238E27FC236}">
                <a16:creationId xmlns:a16="http://schemas.microsoft.com/office/drawing/2014/main" id="{AEAD371A-A666-C043-20B9-D1C1C072AF04}"/>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394136" y="7955759"/>
            <a:ext cx="435600" cy="435600"/>
          </a:xfrm>
          <a:prstGeom prst="rect">
            <a:avLst/>
          </a:prstGeom>
        </p:spPr>
      </p:pic>
      <p:pic>
        <p:nvPicPr>
          <p:cNvPr id="70" name="Graphic 69" descr="Hill scene with solid fill">
            <a:extLst>
              <a:ext uri="{FF2B5EF4-FFF2-40B4-BE49-F238E27FC236}">
                <a16:creationId xmlns:a16="http://schemas.microsoft.com/office/drawing/2014/main" id="{CB0A8A12-B4F4-9D34-1240-F349059F80BE}"/>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4191057" y="5598037"/>
            <a:ext cx="435600" cy="435600"/>
          </a:xfrm>
          <a:prstGeom prst="rect">
            <a:avLst/>
          </a:prstGeom>
        </p:spPr>
      </p:pic>
    </p:spTree>
    <p:extLst>
      <p:ext uri="{BB962C8B-B14F-4D97-AF65-F5344CB8AC3E}">
        <p14:creationId xmlns:p14="http://schemas.microsoft.com/office/powerpoint/2010/main" val="285944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B65B8E-F948-766E-A14E-F1F2A24BB1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0CF786D-1366-3920-FE8F-2E66EB7F7388}"/>
              </a:ext>
            </a:extLst>
          </p:cNvPr>
          <p:cNvSpPr/>
          <p:nvPr/>
        </p:nvSpPr>
        <p:spPr>
          <a:xfrm flipV="1">
            <a:off x="-680232" y="61652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66F053C4-87E9-CF40-CC99-6710272819B4}"/>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Reasons that Records Might Not Be RASD</a:t>
            </a:r>
          </a:p>
        </p:txBody>
      </p:sp>
      <p:sp>
        <p:nvSpPr>
          <p:cNvPr id="13" name="TextBox 12">
            <a:extLst>
              <a:ext uri="{FF2B5EF4-FFF2-40B4-BE49-F238E27FC236}">
                <a16:creationId xmlns:a16="http://schemas.microsoft.com/office/drawing/2014/main" id="{BC0540FF-377F-99C0-D85B-771C8D3C65FD}"/>
              </a:ext>
            </a:extLst>
          </p:cNvPr>
          <p:cNvSpPr txBox="1"/>
          <p:nvPr/>
        </p:nvSpPr>
        <p:spPr>
          <a:xfrm>
            <a:off x="11719085" y="5842072"/>
            <a:ext cx="9493134" cy="646331"/>
          </a:xfrm>
          <a:prstGeom prst="rect">
            <a:avLst/>
          </a:prstGeom>
          <a:noFill/>
        </p:spPr>
        <p:txBody>
          <a:bodyPr wrap="square">
            <a:spAutoFit/>
          </a:bodyPr>
          <a:lstStyle/>
          <a:p>
            <a:r>
              <a:rPr lang="en-AU" b="1" dirty="0" err="1">
                <a:solidFill>
                  <a:schemeClr val="bg1">
                    <a:lumMod val="95000"/>
                  </a:schemeClr>
                </a:solidFill>
              </a:rPr>
              <a:t>Boletellus</a:t>
            </a:r>
            <a:r>
              <a:rPr lang="en-AU" b="1" dirty="0">
                <a:solidFill>
                  <a:schemeClr val="bg1">
                    <a:lumMod val="95000"/>
                  </a:schemeClr>
                </a:solidFill>
              </a:rPr>
              <a:t> </a:t>
            </a:r>
            <a:r>
              <a:rPr lang="en-AU" b="1" dirty="0" err="1">
                <a:solidFill>
                  <a:schemeClr val="bg1">
                    <a:lumMod val="95000"/>
                  </a:schemeClr>
                </a:solidFill>
              </a:rPr>
              <a:t>emodensis</a:t>
            </a:r>
            <a:r>
              <a:rPr lang="en-AU" b="1" dirty="0">
                <a:solidFill>
                  <a:schemeClr val="bg1">
                    <a:lumMod val="95000"/>
                  </a:schemeClr>
                </a:solidFill>
              </a:rPr>
              <a:t> (Berk.) Singer</a:t>
            </a:r>
          </a:p>
          <a:p>
            <a:r>
              <a:rPr lang="en-AU" b="1" dirty="0">
                <a:solidFill>
                  <a:schemeClr val="bg1">
                    <a:lumMod val="95000"/>
                  </a:schemeClr>
                </a:solidFill>
              </a:rPr>
              <a:t>Photo: C. Slatyer</a:t>
            </a:r>
          </a:p>
        </p:txBody>
      </p:sp>
      <p:sp>
        <p:nvSpPr>
          <p:cNvPr id="6" name="TextBox 5">
            <a:extLst>
              <a:ext uri="{FF2B5EF4-FFF2-40B4-BE49-F238E27FC236}">
                <a16:creationId xmlns:a16="http://schemas.microsoft.com/office/drawing/2014/main" id="{63ABCC86-A938-147F-BCD2-7E7C88237413}"/>
              </a:ext>
            </a:extLst>
          </p:cNvPr>
          <p:cNvSpPr txBox="1"/>
          <p:nvPr/>
        </p:nvSpPr>
        <p:spPr>
          <a:xfrm>
            <a:off x="967411" y="3869690"/>
            <a:ext cx="9193059" cy="3939540"/>
          </a:xfrm>
          <a:prstGeom prst="rect">
            <a:avLst/>
          </a:prstGeom>
          <a:noFill/>
        </p:spPr>
        <p:txBody>
          <a:bodyPr wrap="square" lIns="91440" tIns="45720" rIns="91440" bIns="45720" rtlCol="0" anchor="t">
            <a:spAutoFit/>
          </a:bodyPr>
          <a:lstStyle/>
          <a:p>
            <a:pPr marL="457200" indent="-457200" fontAlgn="base">
              <a:spcAft>
                <a:spcPts val="3600"/>
              </a:spcAft>
              <a:buAutoNum type="arabicPeriod"/>
            </a:pPr>
            <a:r>
              <a:rPr lang="en-AU" sz="4000" dirty="0">
                <a:solidFill>
                  <a:schemeClr val="accent3">
                    <a:lumMod val="50000"/>
                  </a:schemeClr>
                </a:solidFill>
                <a:latin typeface="Lato"/>
                <a:ea typeface="Lato"/>
                <a:cs typeface="Lato"/>
              </a:rPr>
              <a:t>Public availability of data</a:t>
            </a:r>
            <a:endParaRPr lang="en-US" sz="4000" dirty="0">
              <a:solidFill>
                <a:schemeClr val="accent3">
                  <a:lumMod val="50000"/>
                </a:schemeClr>
              </a:solidFill>
              <a:latin typeface="Calibri"/>
              <a:ea typeface="Calibri"/>
              <a:cs typeface="Calibri"/>
            </a:endParaRPr>
          </a:p>
          <a:p>
            <a:pPr marL="457200" indent="-457200">
              <a:spcAft>
                <a:spcPts val="3600"/>
              </a:spcAft>
              <a:buAutoNum type="arabicPeriod"/>
            </a:pPr>
            <a:r>
              <a:rPr lang="en-AU" sz="4000" dirty="0">
                <a:solidFill>
                  <a:schemeClr val="accent3">
                    <a:lumMod val="50000"/>
                  </a:schemeClr>
                </a:solidFill>
                <a:latin typeface="Lato"/>
                <a:ea typeface="Lato"/>
                <a:cs typeface="Lato"/>
              </a:rPr>
              <a:t>Low risk life history stages </a:t>
            </a:r>
          </a:p>
          <a:p>
            <a:pPr marL="457200" indent="-457200">
              <a:spcAft>
                <a:spcPts val="3600"/>
              </a:spcAft>
              <a:buAutoNum type="arabicPeriod"/>
            </a:pPr>
            <a:r>
              <a:rPr lang="en-AU" sz="4000" dirty="0">
                <a:solidFill>
                  <a:schemeClr val="accent3">
                    <a:lumMod val="50000"/>
                  </a:schemeClr>
                </a:solidFill>
                <a:latin typeface="Lato"/>
                <a:ea typeface="Lato"/>
                <a:cs typeface="Lato"/>
              </a:rPr>
              <a:t>Difficult to find  </a:t>
            </a:r>
            <a:endParaRPr lang="en-US" sz="4000" dirty="0">
              <a:solidFill>
                <a:schemeClr val="accent3">
                  <a:lumMod val="50000"/>
                </a:schemeClr>
              </a:solidFill>
              <a:latin typeface="Calibri"/>
              <a:ea typeface="Calibri"/>
              <a:cs typeface="Calibri"/>
            </a:endParaRPr>
          </a:p>
          <a:p>
            <a:pPr marL="457200" indent="-457200">
              <a:spcAft>
                <a:spcPts val="3600"/>
              </a:spcAft>
              <a:buAutoNum type="arabicPeriod"/>
            </a:pPr>
            <a:r>
              <a:rPr lang="en-AU" sz="4000" dirty="0">
                <a:solidFill>
                  <a:schemeClr val="accent3">
                    <a:lumMod val="50000"/>
                  </a:schemeClr>
                </a:solidFill>
                <a:latin typeface="Lato"/>
                <a:ea typeface="Lato"/>
                <a:cs typeface="Lato"/>
              </a:rPr>
              <a:t>Low risk of poaching</a:t>
            </a:r>
            <a:endParaRPr lang="en-US" sz="4000" i="0" dirty="0">
              <a:solidFill>
                <a:schemeClr val="accent3">
                  <a:lumMod val="50000"/>
                </a:schemeClr>
              </a:solidFill>
              <a:effectLst/>
              <a:latin typeface="Lato"/>
              <a:ea typeface="Lato"/>
              <a:cs typeface="Lato"/>
            </a:endParaRPr>
          </a:p>
        </p:txBody>
      </p:sp>
      <p:pic>
        <p:nvPicPr>
          <p:cNvPr id="10" name="Picture 9">
            <a:extLst>
              <a:ext uri="{FF2B5EF4-FFF2-40B4-BE49-F238E27FC236}">
                <a16:creationId xmlns:a16="http://schemas.microsoft.com/office/drawing/2014/main" id="{AA34F809-E442-CAA9-2D3E-5ECF0AF1762D}"/>
              </a:ext>
            </a:extLst>
          </p:cNvPr>
          <p:cNvPicPr>
            <a:picLocks noChangeAspect="1"/>
          </p:cNvPicPr>
          <p:nvPr/>
        </p:nvPicPr>
        <p:blipFill>
          <a:blip r:embed="rId4">
            <a:extLst>
              <a:ext uri="{28A0092B-C50C-407E-A947-70E740481C1C}">
                <a14:useLocalDpi xmlns:a14="http://schemas.microsoft.com/office/drawing/2010/main" val="0"/>
              </a:ext>
            </a:extLst>
          </a:blip>
          <a:srcRect l="15865" r="15865"/>
          <a:stretch/>
        </p:blipFill>
        <p:spPr>
          <a:xfrm>
            <a:off x="10337021" y="2385060"/>
            <a:ext cx="9086781" cy="8877707"/>
          </a:xfrm>
          <a:prstGeom prst="flowChartConnector">
            <a:avLst/>
          </a:prstGeom>
          <a:ln w="127000">
            <a:solidFill>
              <a:schemeClr val="bg1"/>
            </a:solidFill>
          </a:ln>
        </p:spPr>
      </p:pic>
      <p:sp>
        <p:nvSpPr>
          <p:cNvPr id="11" name="TextBox 69">
            <a:extLst>
              <a:ext uri="{FF2B5EF4-FFF2-40B4-BE49-F238E27FC236}">
                <a16:creationId xmlns:a16="http://schemas.microsoft.com/office/drawing/2014/main" id="{CF505D01-F944-7AAA-A5FC-B13BA43C67E5}"/>
              </a:ext>
            </a:extLst>
          </p:cNvPr>
          <p:cNvSpPr txBox="1"/>
          <p:nvPr/>
        </p:nvSpPr>
        <p:spPr>
          <a:xfrm>
            <a:off x="11808113" y="9065092"/>
            <a:ext cx="2843755" cy="410369"/>
          </a:xfrm>
          <a:prstGeom prst="rect">
            <a:avLst/>
          </a:prstGeom>
        </p:spPr>
        <p:txBody>
          <a:bodyPr wrap="square" lIns="0" tIns="0" rIns="0" bIns="0" rtlCol="0" anchor="t">
            <a:spAutoFit/>
          </a:bodyPr>
          <a:lstStyle/>
          <a:p>
            <a:pPr>
              <a:lnSpc>
                <a:spcPts val="1630"/>
              </a:lnSpc>
              <a:spcBef>
                <a:spcPct val="0"/>
              </a:spcBef>
            </a:pPr>
            <a:r>
              <a:rPr lang="en-US" sz="1358" spc="-52" dirty="0">
                <a:solidFill>
                  <a:srgbClr val="FFFFFF"/>
                </a:solidFill>
                <a:latin typeface="Lato"/>
              </a:rPr>
              <a:t>Whale Shark (</a:t>
            </a:r>
            <a:r>
              <a:rPr lang="en-US" sz="1358" i="1" spc="-52" dirty="0">
                <a:solidFill>
                  <a:srgbClr val="FFFFFF"/>
                </a:solidFill>
                <a:latin typeface="Lato"/>
              </a:rPr>
              <a:t>Rhincodon typus</a:t>
            </a:r>
            <a:r>
              <a:rPr lang="en-US" sz="1358" spc="-52" dirty="0">
                <a:solidFill>
                  <a:srgbClr val="FFFFFF"/>
                </a:solidFill>
                <a:latin typeface="Lato"/>
              </a:rPr>
              <a:t>)</a:t>
            </a:r>
          </a:p>
          <a:p>
            <a:pPr>
              <a:lnSpc>
                <a:spcPts val="1630"/>
              </a:lnSpc>
              <a:spcBef>
                <a:spcPct val="0"/>
              </a:spcBef>
            </a:pPr>
            <a:r>
              <a:rPr lang="en-US" sz="1358" spc="-52" dirty="0">
                <a:solidFill>
                  <a:srgbClr val="FFFFFF"/>
                </a:solidFill>
                <a:latin typeface="Lato"/>
              </a:rPr>
              <a:t> Photo Credit </a:t>
            </a:r>
            <a:r>
              <a:rPr lang="en-US" sz="1358" spc="-52" dirty="0" err="1">
                <a:solidFill>
                  <a:srgbClr val="FFFFFF"/>
                </a:solidFill>
                <a:latin typeface="Lato"/>
              </a:rPr>
              <a:t>valeriecornet</a:t>
            </a:r>
            <a:r>
              <a:rPr lang="en-US" sz="1358" spc="-52" dirty="0">
                <a:solidFill>
                  <a:srgbClr val="FFFFFF"/>
                </a:solidFill>
                <a:latin typeface="Lato"/>
              </a:rPr>
              <a:t>  CC BY NC</a:t>
            </a:r>
            <a:endParaRPr lang="en-US" sz="1358" spc="-54" dirty="0">
              <a:solidFill>
                <a:srgbClr val="FFFFFF"/>
              </a:solidFill>
              <a:latin typeface="Lato"/>
            </a:endParaRPr>
          </a:p>
        </p:txBody>
      </p:sp>
    </p:spTree>
    <p:extLst>
      <p:ext uri="{BB962C8B-B14F-4D97-AF65-F5344CB8AC3E}">
        <p14:creationId xmlns:p14="http://schemas.microsoft.com/office/powerpoint/2010/main" val="138918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A99CD60-852B-9863-E971-CA5895F6F3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0ACE0A3-F6B9-C040-D4CD-2BFEFC8230C4}"/>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349CDDB7-0DC7-28E6-4D38-55FD61593081}"/>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RASD Task Group</a:t>
            </a:r>
          </a:p>
        </p:txBody>
      </p:sp>
      <p:sp>
        <p:nvSpPr>
          <p:cNvPr id="4" name="TextBox 3">
            <a:extLst>
              <a:ext uri="{FF2B5EF4-FFF2-40B4-BE49-F238E27FC236}">
                <a16:creationId xmlns:a16="http://schemas.microsoft.com/office/drawing/2014/main" id="{4B730F51-90E9-BE62-AABC-9ADDB74E6B0C}"/>
              </a:ext>
            </a:extLst>
          </p:cNvPr>
          <p:cNvSpPr txBox="1"/>
          <p:nvPr/>
        </p:nvSpPr>
        <p:spPr>
          <a:xfrm>
            <a:off x="710221" y="1606566"/>
            <a:ext cx="9512488" cy="8463855"/>
          </a:xfrm>
          <a:prstGeom prst="rect">
            <a:avLst/>
          </a:prstGeom>
          <a:noFill/>
        </p:spPr>
        <p:txBody>
          <a:bodyPr wrap="square">
            <a:spAutoFit/>
          </a:bodyPr>
          <a:lstStyle/>
          <a:p>
            <a:pPr marL="457200" indent="-457200">
              <a:buFont typeface="Arial" panose="020B0604020202020204" pitchFamily="34" charset="0"/>
              <a:buChar char="•"/>
            </a:pPr>
            <a:r>
              <a:rPr lang="en-AU" sz="2800" b="0" i="0" u="none" strike="noStrike" dirty="0">
                <a:solidFill>
                  <a:schemeClr val="bg2">
                    <a:lumMod val="25000"/>
                  </a:schemeClr>
                </a:solidFill>
                <a:effectLst/>
                <a:latin typeface="Lato" panose="020F0502020204030203" pitchFamily="34" charset="0"/>
              </a:rPr>
              <a:t>Arose out of a workshop at the 2023 TDWG Meeting:</a:t>
            </a:r>
          </a:p>
          <a:p>
            <a:pPr marL="914400" lvl="1" indent="-457200">
              <a:buFont typeface="Arial" panose="020B0604020202020204" pitchFamily="34" charset="0"/>
              <a:buChar char="•"/>
            </a:pPr>
            <a:r>
              <a:rPr lang="en-AU" sz="2000" b="0" i="0" u="none" strike="noStrike" dirty="0">
                <a:solidFill>
                  <a:schemeClr val="bg2">
                    <a:lumMod val="25000"/>
                  </a:schemeClr>
                </a:solidFill>
                <a:effectLst/>
                <a:latin typeface="Lato" panose="020F0502020204030203" pitchFamily="34" charset="0"/>
              </a:rPr>
              <a:t>Develop a new </a:t>
            </a:r>
            <a:r>
              <a:rPr lang="en-AU" sz="2000" b="0" i="0" u="none" strike="noStrike" dirty="0" err="1">
                <a:solidFill>
                  <a:schemeClr val="bg2">
                    <a:lumMod val="25000"/>
                  </a:schemeClr>
                </a:solidFill>
                <a:effectLst/>
                <a:latin typeface="Lato" panose="020F0502020204030203" pitchFamily="34" charset="0"/>
              </a:rPr>
              <a:t>DwC</a:t>
            </a:r>
            <a:r>
              <a:rPr lang="en-AU" sz="2000" b="0" i="0" u="none" strike="noStrike" dirty="0">
                <a:solidFill>
                  <a:schemeClr val="bg2">
                    <a:lumMod val="25000"/>
                  </a:schemeClr>
                </a:solidFill>
                <a:effectLst/>
                <a:latin typeface="Lato" panose="020F0502020204030203" pitchFamily="34" charset="0"/>
              </a:rPr>
              <a:t> extension based on Chapman (2020) and make amendments to it based on the workshop discussion</a:t>
            </a:r>
          </a:p>
          <a:p>
            <a:pPr marL="914400" lvl="1" indent="-457200">
              <a:buFont typeface="Arial" panose="020B0604020202020204" pitchFamily="34" charset="0"/>
              <a:buChar char="•"/>
            </a:pPr>
            <a:endParaRPr lang="en-AU" sz="2000" b="0" i="0" u="none" strike="noStrike" dirty="0">
              <a:solidFill>
                <a:schemeClr val="bg2">
                  <a:lumMod val="25000"/>
                </a:schemeClr>
              </a:solidFill>
              <a:effectLst/>
              <a:latin typeface="Lato" panose="020F0502020204030203" pitchFamily="34" charset="0"/>
            </a:endParaRPr>
          </a:p>
          <a:p>
            <a:pPr marL="914400" lvl="1" indent="-457200">
              <a:buFont typeface="Arial" panose="020B0604020202020204" pitchFamily="34" charset="0"/>
              <a:buChar char="•"/>
            </a:pPr>
            <a:r>
              <a:rPr lang="en-AU" sz="2000" b="0" i="0" u="none" strike="noStrike" dirty="0">
                <a:solidFill>
                  <a:schemeClr val="bg2">
                    <a:lumMod val="25000"/>
                  </a:schemeClr>
                </a:solidFill>
                <a:effectLst/>
                <a:latin typeface="Lato" panose="020F0502020204030203" pitchFamily="34" charset="0"/>
              </a:rPr>
              <a:t>Define a set of sensitive fields similar to the pick lists for </a:t>
            </a:r>
            <a:r>
              <a:rPr lang="en-AU" sz="2000" b="0" i="0" u="none" strike="noStrike" dirty="0" err="1">
                <a:solidFill>
                  <a:schemeClr val="bg2">
                    <a:lumMod val="25000"/>
                  </a:schemeClr>
                </a:solidFill>
                <a:effectLst/>
                <a:latin typeface="Lato" panose="020F0502020204030203" pitchFamily="34" charset="0"/>
              </a:rPr>
              <a:t>dataSensitiveReason</a:t>
            </a:r>
            <a:r>
              <a:rPr lang="en-AU" sz="2000" b="0" i="0" u="none" strike="noStrike" dirty="0">
                <a:solidFill>
                  <a:schemeClr val="bg2">
                    <a:lumMod val="25000"/>
                  </a:schemeClr>
                </a:solidFill>
                <a:effectLst/>
                <a:latin typeface="Lato" panose="020F0502020204030203" pitchFamily="34" charset="0"/>
              </a:rPr>
              <a:t> (which is defined in Chapman 2020) </a:t>
            </a:r>
          </a:p>
          <a:p>
            <a:pPr marL="457200" indent="-457200">
              <a:buFont typeface="Arial" panose="020B0604020202020204" pitchFamily="34" charset="0"/>
              <a:buChar char="•"/>
            </a:pPr>
            <a:endParaRPr lang="en-AU" sz="2800" b="0" i="0" u="none" strike="noStrike" dirty="0">
              <a:solidFill>
                <a:schemeClr val="bg2">
                  <a:lumMod val="25000"/>
                </a:schemeClr>
              </a:solidFill>
              <a:effectLst/>
              <a:latin typeface="Lato" panose="020F0502020204030203" pitchFamily="34" charset="0"/>
            </a:endParaRPr>
          </a:p>
          <a:p>
            <a:pPr marL="457200" indent="-457200">
              <a:buFont typeface="Arial" panose="020B0604020202020204" pitchFamily="34" charset="0"/>
              <a:buChar char="•"/>
            </a:pPr>
            <a:r>
              <a:rPr lang="en-AU" sz="2800" dirty="0">
                <a:solidFill>
                  <a:schemeClr val="bg2">
                    <a:lumMod val="25000"/>
                  </a:schemeClr>
                </a:solidFill>
                <a:latin typeface="Lato" panose="020F0502020204030203" pitchFamily="34" charset="0"/>
              </a:rPr>
              <a:t>Convenors from Atlas of Living Australia, Gaia Resources and the Global Biodiversity Information Facility</a:t>
            </a:r>
          </a:p>
          <a:p>
            <a:pPr marL="457200" indent="-457200">
              <a:buFont typeface="Arial" panose="020B0604020202020204" pitchFamily="34" charset="0"/>
              <a:buChar char="•"/>
            </a:pPr>
            <a:endParaRPr lang="en-AU" sz="2800" b="0" i="0" u="none" strike="noStrike" dirty="0">
              <a:solidFill>
                <a:schemeClr val="bg2">
                  <a:lumMod val="25000"/>
                </a:schemeClr>
              </a:solidFill>
              <a:effectLst/>
              <a:latin typeface="Lato" panose="020F0502020204030203" pitchFamily="34" charset="0"/>
            </a:endParaRPr>
          </a:p>
          <a:p>
            <a:pPr marL="457200" indent="-457200">
              <a:buFont typeface="Arial" panose="020B0604020202020204" pitchFamily="34" charset="0"/>
              <a:buChar char="•"/>
            </a:pPr>
            <a:r>
              <a:rPr lang="en-AU" sz="2800" b="0" i="0" u="none" strike="noStrike" dirty="0">
                <a:solidFill>
                  <a:schemeClr val="bg2">
                    <a:lumMod val="25000"/>
                  </a:schemeClr>
                </a:solidFill>
                <a:effectLst/>
                <a:latin typeface="Lato" panose="020F0502020204030203" pitchFamily="34" charset="0"/>
              </a:rPr>
              <a:t>Membership includes representatives from government, university, data providers and data aggregators from:</a:t>
            </a:r>
          </a:p>
          <a:p>
            <a:pPr marL="457200" indent="-457200">
              <a:buFont typeface="Arial" panose="020B0604020202020204" pitchFamily="34" charset="0"/>
              <a:buChar char="•"/>
            </a:pPr>
            <a:endParaRPr lang="en-AU" sz="2000" b="0" i="0" u="none" strike="noStrike" dirty="0">
              <a:solidFill>
                <a:schemeClr val="bg2">
                  <a:lumMod val="25000"/>
                </a:schemeClr>
              </a:solidFill>
              <a:effectLst/>
              <a:latin typeface="Lato" panose="020F0502020204030203" pitchFamily="34" charset="0"/>
            </a:endParaRPr>
          </a:p>
          <a:p>
            <a:pPr marL="457200" indent="-457200">
              <a:buFont typeface="Arial" panose="020B0604020202020204" pitchFamily="34" charset="0"/>
              <a:buChar char="•"/>
            </a:pPr>
            <a:r>
              <a:rPr lang="en-AU" sz="2000" b="0" i="0" u="none" strike="noStrike" dirty="0">
                <a:solidFill>
                  <a:schemeClr val="bg2">
                    <a:lumMod val="25000"/>
                  </a:schemeClr>
                </a:solidFill>
                <a:effectLst/>
                <a:latin typeface="Lato" panose="020F0502020204030203" pitchFamily="34" charset="0"/>
              </a:rPr>
              <a:t>Australia</a:t>
            </a:r>
          </a:p>
          <a:p>
            <a:pPr marL="457200" indent="-457200">
              <a:buFont typeface="Arial" panose="020B0604020202020204" pitchFamily="34" charset="0"/>
              <a:buChar char="•"/>
            </a:pPr>
            <a:r>
              <a:rPr lang="en-AU" sz="2000" dirty="0">
                <a:solidFill>
                  <a:schemeClr val="bg2">
                    <a:lumMod val="25000"/>
                  </a:schemeClr>
                </a:solidFill>
                <a:latin typeface="Lato" panose="020F0502020204030203" pitchFamily="34" charset="0"/>
              </a:rPr>
              <a:t>China</a:t>
            </a:r>
          </a:p>
          <a:p>
            <a:pPr marL="457200" indent="-457200">
              <a:buFont typeface="Arial" panose="020B0604020202020204" pitchFamily="34" charset="0"/>
              <a:buChar char="•"/>
            </a:pPr>
            <a:r>
              <a:rPr lang="en-AU" sz="2000" dirty="0">
                <a:solidFill>
                  <a:schemeClr val="bg2">
                    <a:lumMod val="25000"/>
                  </a:schemeClr>
                </a:solidFill>
                <a:latin typeface="Lato" panose="020F0502020204030203" pitchFamily="34" charset="0"/>
              </a:rPr>
              <a:t>Denmark</a:t>
            </a:r>
          </a:p>
          <a:p>
            <a:pPr marL="457200" indent="-457200">
              <a:buFont typeface="Arial" panose="020B0604020202020204" pitchFamily="34" charset="0"/>
              <a:buChar char="•"/>
            </a:pPr>
            <a:r>
              <a:rPr lang="en-AU" sz="2000" dirty="0">
                <a:solidFill>
                  <a:schemeClr val="bg2">
                    <a:lumMod val="25000"/>
                  </a:schemeClr>
                </a:solidFill>
                <a:latin typeface="Lato" panose="020F0502020204030203" pitchFamily="34" charset="0"/>
              </a:rPr>
              <a:t>Finland</a:t>
            </a:r>
          </a:p>
          <a:p>
            <a:pPr marL="457200" indent="-457200">
              <a:buFont typeface="Arial" panose="020B0604020202020204" pitchFamily="34" charset="0"/>
              <a:buChar char="•"/>
            </a:pPr>
            <a:r>
              <a:rPr lang="en-AU" sz="2000" dirty="0">
                <a:solidFill>
                  <a:schemeClr val="bg2">
                    <a:lumMod val="25000"/>
                  </a:schemeClr>
                </a:solidFill>
                <a:latin typeface="Lato" panose="020F0502020204030203" pitchFamily="34" charset="0"/>
              </a:rPr>
              <a:t>France</a:t>
            </a:r>
          </a:p>
          <a:p>
            <a:pPr marL="457200" indent="-457200">
              <a:buFont typeface="Arial" panose="020B0604020202020204" pitchFamily="34" charset="0"/>
              <a:buChar char="•"/>
            </a:pPr>
            <a:r>
              <a:rPr lang="en-AU" sz="2000" dirty="0">
                <a:solidFill>
                  <a:schemeClr val="bg2">
                    <a:lumMod val="25000"/>
                  </a:schemeClr>
                </a:solidFill>
                <a:latin typeface="Lato" panose="020F0502020204030203" pitchFamily="34" charset="0"/>
              </a:rPr>
              <a:t>Germany</a:t>
            </a:r>
          </a:p>
          <a:p>
            <a:pPr marL="457200" indent="-457200">
              <a:buFont typeface="Arial" panose="020B0604020202020204" pitchFamily="34" charset="0"/>
              <a:buChar char="•"/>
            </a:pPr>
            <a:r>
              <a:rPr lang="en-AU" sz="2000" b="0" i="0" u="none" strike="noStrike" dirty="0">
                <a:solidFill>
                  <a:schemeClr val="bg2">
                    <a:lumMod val="25000"/>
                  </a:schemeClr>
                </a:solidFill>
                <a:effectLst/>
                <a:latin typeface="Lato" panose="020F0502020204030203" pitchFamily="34" charset="0"/>
              </a:rPr>
              <a:t>Sweden</a:t>
            </a:r>
          </a:p>
          <a:p>
            <a:pPr marL="457200" indent="-457200">
              <a:buFont typeface="Arial" panose="020B0604020202020204" pitchFamily="34" charset="0"/>
              <a:buChar char="•"/>
            </a:pPr>
            <a:r>
              <a:rPr lang="en-AU" sz="2000" b="0" i="0" u="none" strike="noStrike" dirty="0">
                <a:solidFill>
                  <a:schemeClr val="bg2">
                    <a:lumMod val="25000"/>
                  </a:schemeClr>
                </a:solidFill>
                <a:effectLst/>
                <a:latin typeface="Lato" panose="020F0502020204030203" pitchFamily="34" charset="0"/>
              </a:rPr>
              <a:t>Netherlands</a:t>
            </a:r>
          </a:p>
          <a:p>
            <a:pPr marL="457200" indent="-457200">
              <a:buFont typeface="Arial" panose="020B0604020202020204" pitchFamily="34" charset="0"/>
              <a:buChar char="•"/>
            </a:pPr>
            <a:r>
              <a:rPr lang="en-AU" sz="2000" b="0" i="0" u="none" strike="noStrike" dirty="0">
                <a:solidFill>
                  <a:schemeClr val="bg2">
                    <a:lumMod val="25000"/>
                  </a:schemeClr>
                </a:solidFill>
                <a:effectLst/>
                <a:latin typeface="Lato" panose="020F0502020204030203" pitchFamily="34" charset="0"/>
              </a:rPr>
              <a:t>Taiwan</a:t>
            </a:r>
          </a:p>
          <a:p>
            <a:pPr marL="457200" indent="-457200">
              <a:buFont typeface="Arial" panose="020B0604020202020204" pitchFamily="34" charset="0"/>
              <a:buChar char="•"/>
            </a:pPr>
            <a:r>
              <a:rPr lang="en-AU" sz="2000" dirty="0">
                <a:solidFill>
                  <a:schemeClr val="bg2">
                    <a:lumMod val="25000"/>
                  </a:schemeClr>
                </a:solidFill>
                <a:latin typeface="Lato" panose="020F0502020204030203" pitchFamily="34" charset="0"/>
              </a:rPr>
              <a:t>USA</a:t>
            </a:r>
            <a:endParaRPr lang="en-AU" sz="2000" b="0" i="0" u="none" strike="noStrike" dirty="0">
              <a:solidFill>
                <a:schemeClr val="bg2">
                  <a:lumMod val="25000"/>
                </a:schemeClr>
              </a:solidFill>
              <a:effectLst/>
              <a:latin typeface="Lato" panose="020F0502020204030203" pitchFamily="34" charset="0"/>
            </a:endParaRPr>
          </a:p>
          <a:p>
            <a:endParaRPr lang="en-AU" sz="2800" dirty="0">
              <a:solidFill>
                <a:schemeClr val="bg2">
                  <a:lumMod val="25000"/>
                </a:schemeClr>
              </a:solidFill>
              <a:latin typeface="Lato" panose="020F0502020204030203" pitchFamily="34" charset="0"/>
            </a:endParaRPr>
          </a:p>
        </p:txBody>
      </p:sp>
      <p:pic>
        <p:nvPicPr>
          <p:cNvPr id="3" name="Picture 2">
            <a:extLst>
              <a:ext uri="{FF2B5EF4-FFF2-40B4-BE49-F238E27FC236}">
                <a16:creationId xmlns:a16="http://schemas.microsoft.com/office/drawing/2014/main" id="{8EB8A93B-30E1-565E-8C7D-C2CED10A3029}"/>
              </a:ext>
            </a:extLst>
          </p:cNvPr>
          <p:cNvPicPr>
            <a:picLocks noChangeAspect="1"/>
          </p:cNvPicPr>
          <p:nvPr/>
        </p:nvPicPr>
        <p:blipFill>
          <a:blip r:embed="rId4"/>
          <a:stretch>
            <a:fillRect/>
          </a:stretch>
        </p:blipFill>
        <p:spPr>
          <a:xfrm>
            <a:off x="12411705" y="2849218"/>
            <a:ext cx="5166074" cy="6509010"/>
          </a:xfrm>
          <a:prstGeom prst="rect">
            <a:avLst/>
          </a:prstGeom>
          <a:effectLst>
            <a:softEdge rad="317500"/>
          </a:effectLst>
        </p:spPr>
      </p:pic>
    </p:spTree>
    <p:extLst>
      <p:ext uri="{BB962C8B-B14F-4D97-AF65-F5344CB8AC3E}">
        <p14:creationId xmlns:p14="http://schemas.microsoft.com/office/powerpoint/2010/main" val="222212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96C76ED-413F-3EC1-6B4B-F6A42A5722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AC7472-1C51-061D-86B8-C2A2E8404271}"/>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375D61D4-3144-FD62-142F-C389AED5678E}"/>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Where the RASD Task Group is up to:</a:t>
            </a:r>
          </a:p>
        </p:txBody>
      </p:sp>
      <p:sp>
        <p:nvSpPr>
          <p:cNvPr id="4" name="TextBox 3">
            <a:extLst>
              <a:ext uri="{FF2B5EF4-FFF2-40B4-BE49-F238E27FC236}">
                <a16:creationId xmlns:a16="http://schemas.microsoft.com/office/drawing/2014/main" id="{CD0F7653-A4E3-BBCA-A336-F14D94518B08}"/>
              </a:ext>
            </a:extLst>
          </p:cNvPr>
          <p:cNvSpPr txBox="1"/>
          <p:nvPr/>
        </p:nvSpPr>
        <p:spPr>
          <a:xfrm>
            <a:off x="710221" y="1959651"/>
            <a:ext cx="9512488" cy="6124754"/>
          </a:xfrm>
          <a:prstGeom prst="rect">
            <a:avLst/>
          </a:prstGeom>
          <a:noFill/>
        </p:spPr>
        <p:txBody>
          <a:bodyPr wrap="square">
            <a:spAutoFit/>
          </a:bodyPr>
          <a:lstStyle/>
          <a:p>
            <a:pPr marL="457200" indent="-457200">
              <a:buFont typeface="Arial" panose="020B0604020202020204" pitchFamily="34" charset="0"/>
              <a:buChar char="•"/>
            </a:pPr>
            <a:endParaRPr lang="en-AU" sz="2800" b="0" i="0" u="none" strike="noStrike" dirty="0">
              <a:solidFill>
                <a:schemeClr val="bg2">
                  <a:lumMod val="25000"/>
                </a:schemeClr>
              </a:solidFill>
              <a:effectLst/>
              <a:latin typeface="Lato" panose="020F0502020204030203" pitchFamily="34" charset="0"/>
            </a:endParaRPr>
          </a:p>
          <a:p>
            <a:pPr marL="457200" indent="-457200">
              <a:buFont typeface="Arial" panose="020B0604020202020204" pitchFamily="34" charset="0"/>
              <a:buChar char="•"/>
            </a:pPr>
            <a:r>
              <a:rPr lang="en-AU" sz="2800" dirty="0">
                <a:solidFill>
                  <a:schemeClr val="bg2">
                    <a:lumMod val="25000"/>
                  </a:schemeClr>
                </a:solidFill>
                <a:latin typeface="Lato" panose="020F0502020204030203" pitchFamily="34" charset="0"/>
              </a:rPr>
              <a:t>The Task Group first met in September 2024 </a:t>
            </a:r>
          </a:p>
          <a:p>
            <a:pPr marL="457200" indent="-457200">
              <a:buFont typeface="Arial" panose="020B0604020202020204" pitchFamily="34" charset="0"/>
              <a:buChar char="•"/>
            </a:pPr>
            <a:endParaRPr lang="en-AU" sz="2800" b="0" i="0" u="none" strike="noStrike" dirty="0">
              <a:solidFill>
                <a:schemeClr val="bg2">
                  <a:lumMod val="25000"/>
                </a:schemeClr>
              </a:solidFill>
              <a:effectLst/>
              <a:latin typeface="Lato" panose="020F0502020204030203" pitchFamily="34" charset="0"/>
            </a:endParaRPr>
          </a:p>
          <a:p>
            <a:pPr marL="457200" indent="-457200">
              <a:buFont typeface="Arial" panose="020B0604020202020204" pitchFamily="34" charset="0"/>
              <a:buChar char="•"/>
            </a:pPr>
            <a:r>
              <a:rPr lang="en-AU" sz="2800" b="0" i="0" u="none" strike="noStrike" dirty="0">
                <a:solidFill>
                  <a:schemeClr val="bg2">
                    <a:lumMod val="25000"/>
                  </a:schemeClr>
                </a:solidFill>
                <a:effectLst/>
                <a:latin typeface="Lato" panose="020F0502020204030203" pitchFamily="34" charset="0"/>
              </a:rPr>
              <a:t>Meets more or less monthly - 11 meetings in total so far. </a:t>
            </a:r>
            <a:r>
              <a:rPr lang="en-AU" sz="2800" dirty="0">
                <a:solidFill>
                  <a:schemeClr val="bg2">
                    <a:lumMod val="25000"/>
                  </a:schemeClr>
                </a:solidFill>
                <a:latin typeface="Lato" panose="020F0502020204030203" pitchFamily="34" charset="0"/>
              </a:rPr>
              <a:t>Proposed vocabularies for RASD reasons and treatments have been developed, refined and given use cases from the Task Group from real world examples</a:t>
            </a:r>
            <a:r>
              <a:rPr lang="en-AU" sz="2800" b="0" i="0" u="none" strike="noStrike" dirty="0">
                <a:solidFill>
                  <a:schemeClr val="bg2">
                    <a:lumMod val="25000"/>
                  </a:schemeClr>
                </a:solidFill>
                <a:effectLst/>
                <a:latin typeface="Lato" panose="020F0502020204030203" pitchFamily="34" charset="0"/>
              </a:rPr>
              <a:t>.  </a:t>
            </a:r>
          </a:p>
          <a:p>
            <a:pPr marL="457200" indent="-457200">
              <a:buFont typeface="Arial" panose="020B0604020202020204" pitchFamily="34" charset="0"/>
              <a:buChar char="•"/>
            </a:pPr>
            <a:endParaRPr lang="en-AU" sz="2800" b="0" i="0" u="none" strike="noStrike" dirty="0">
              <a:solidFill>
                <a:schemeClr val="bg2">
                  <a:lumMod val="25000"/>
                </a:schemeClr>
              </a:solidFill>
              <a:effectLst/>
              <a:latin typeface="Lato" panose="020F0502020204030203" pitchFamily="34" charset="0"/>
            </a:endParaRPr>
          </a:p>
          <a:p>
            <a:pPr marL="457200" indent="-457200">
              <a:buFont typeface="Arial" panose="020B0604020202020204" pitchFamily="34" charset="0"/>
              <a:buChar char="•"/>
            </a:pPr>
            <a:r>
              <a:rPr lang="en-AU" sz="2800" dirty="0">
                <a:solidFill>
                  <a:schemeClr val="bg2">
                    <a:lumMod val="25000"/>
                  </a:schemeClr>
                </a:solidFill>
                <a:latin typeface="Lato" panose="020F0502020204030203" pitchFamily="34" charset="0"/>
              </a:rPr>
              <a:t>T</a:t>
            </a:r>
            <a:r>
              <a:rPr lang="en-AU" sz="2800" b="0" i="0" u="none" strike="noStrike" dirty="0">
                <a:solidFill>
                  <a:schemeClr val="bg2">
                    <a:lumMod val="25000"/>
                  </a:schemeClr>
                </a:solidFill>
                <a:effectLst/>
                <a:latin typeface="Lato" panose="020F0502020204030203" pitchFamily="34" charset="0"/>
              </a:rPr>
              <a:t>wo subgroups – one for </a:t>
            </a:r>
            <a:r>
              <a:rPr lang="en-AU" sz="2800" b="0" i="0" u="none" strike="noStrike" dirty="0" err="1">
                <a:solidFill>
                  <a:schemeClr val="bg2">
                    <a:lumMod val="25000"/>
                  </a:schemeClr>
                </a:solidFill>
                <a:effectLst/>
                <a:latin typeface="Lato" panose="020F0502020204030203" pitchFamily="34" charset="0"/>
              </a:rPr>
              <a:t>DwC</a:t>
            </a:r>
            <a:r>
              <a:rPr lang="en-AU" sz="2800" b="0" i="0" u="none" strike="noStrike" dirty="0">
                <a:solidFill>
                  <a:schemeClr val="bg2">
                    <a:lumMod val="25000"/>
                  </a:schemeClr>
                </a:solidFill>
                <a:effectLst/>
                <a:latin typeface="Lato" panose="020F0502020204030203" pitchFamily="34" charset="0"/>
              </a:rPr>
              <a:t> Native and one for </a:t>
            </a:r>
            <a:r>
              <a:rPr lang="en-AU" sz="2800" b="0" i="0" u="none" strike="noStrike" dirty="0" err="1">
                <a:solidFill>
                  <a:schemeClr val="bg2">
                    <a:lumMod val="25000"/>
                  </a:schemeClr>
                </a:solidFill>
                <a:effectLst/>
                <a:latin typeface="Lato" panose="020F0502020204030203" pitchFamily="34" charset="0"/>
              </a:rPr>
              <a:t>DwC</a:t>
            </a:r>
            <a:r>
              <a:rPr lang="en-AU" sz="2800" b="0" i="0" u="none" strike="noStrike" dirty="0">
                <a:solidFill>
                  <a:schemeClr val="bg2">
                    <a:lumMod val="25000"/>
                  </a:schemeClr>
                </a:solidFill>
                <a:effectLst/>
                <a:latin typeface="Lato" panose="020F0502020204030203" pitchFamily="34" charset="0"/>
              </a:rPr>
              <a:t>-Data Package have met 4 times to develop data models.</a:t>
            </a:r>
            <a:endParaRPr lang="en-AU" sz="2800" dirty="0">
              <a:solidFill>
                <a:schemeClr val="bg2">
                  <a:lumMod val="25000"/>
                </a:schemeClr>
              </a:solidFill>
              <a:latin typeface="Lato" panose="020F0502020204030203" pitchFamily="34" charset="0"/>
            </a:endParaRPr>
          </a:p>
          <a:p>
            <a:pPr marL="457200" indent="-457200">
              <a:buFont typeface="Arial" panose="020B0604020202020204" pitchFamily="34" charset="0"/>
              <a:buChar char="•"/>
            </a:pPr>
            <a:endParaRPr lang="en-AU" sz="2800" b="0" i="0" u="none" strike="noStrike" dirty="0">
              <a:solidFill>
                <a:schemeClr val="bg2">
                  <a:lumMod val="25000"/>
                </a:schemeClr>
              </a:solidFill>
              <a:effectLst/>
              <a:latin typeface="Lato" panose="020F0502020204030203" pitchFamily="34" charset="0"/>
            </a:endParaRPr>
          </a:p>
          <a:p>
            <a:pPr marL="457200" indent="-457200">
              <a:buFont typeface="Arial" panose="020B0604020202020204" pitchFamily="34" charset="0"/>
              <a:buChar char="•"/>
            </a:pPr>
            <a:r>
              <a:rPr lang="en-AU" sz="2800" b="0" i="0" u="none" strike="noStrike" dirty="0">
                <a:solidFill>
                  <a:schemeClr val="bg2">
                    <a:lumMod val="25000"/>
                  </a:schemeClr>
                </a:solidFill>
                <a:effectLst/>
                <a:latin typeface="Lato" panose="020F0502020204030203" pitchFamily="34" charset="0"/>
              </a:rPr>
              <a:t>Now preparing draft documentation for the TDWG Maintenance Group</a:t>
            </a:r>
          </a:p>
          <a:p>
            <a:endParaRPr lang="en-AU" sz="2800" dirty="0">
              <a:solidFill>
                <a:schemeClr val="bg2">
                  <a:lumMod val="25000"/>
                </a:schemeClr>
              </a:solidFill>
              <a:latin typeface="Lato" panose="020F0502020204030203" pitchFamily="34" charset="0"/>
            </a:endParaRPr>
          </a:p>
        </p:txBody>
      </p:sp>
      <p:pic>
        <p:nvPicPr>
          <p:cNvPr id="19" name="Picture 18">
            <a:extLst>
              <a:ext uri="{FF2B5EF4-FFF2-40B4-BE49-F238E27FC236}">
                <a16:creationId xmlns:a16="http://schemas.microsoft.com/office/drawing/2014/main" id="{9C9AA699-9B6C-6F49-1184-A5ED12F2EBBE}"/>
              </a:ext>
            </a:extLst>
          </p:cNvPr>
          <p:cNvPicPr>
            <a:picLocks noChangeAspect="1"/>
          </p:cNvPicPr>
          <p:nvPr/>
        </p:nvPicPr>
        <p:blipFill>
          <a:blip r:embed="rId4"/>
          <a:stretch>
            <a:fillRect/>
          </a:stretch>
        </p:blipFill>
        <p:spPr>
          <a:xfrm>
            <a:off x="11887200" y="3787962"/>
            <a:ext cx="5915010" cy="6007562"/>
          </a:xfrm>
          <a:prstGeom prst="rect">
            <a:avLst/>
          </a:prstGeom>
        </p:spPr>
      </p:pic>
    </p:spTree>
    <p:extLst>
      <p:ext uri="{BB962C8B-B14F-4D97-AF65-F5344CB8AC3E}">
        <p14:creationId xmlns:p14="http://schemas.microsoft.com/office/powerpoint/2010/main" val="138358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E98AE4A-4B95-B0E6-6295-09113CDDBD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6EF574-74AF-6C30-E4EA-442A22536023}"/>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CDA471FD-D64C-568E-F8C8-70B901893563}"/>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DWC RASD Extension</a:t>
            </a:r>
          </a:p>
        </p:txBody>
      </p:sp>
      <p:sp>
        <p:nvSpPr>
          <p:cNvPr id="4" name="TextBox 3">
            <a:extLst>
              <a:ext uri="{FF2B5EF4-FFF2-40B4-BE49-F238E27FC236}">
                <a16:creationId xmlns:a16="http://schemas.microsoft.com/office/drawing/2014/main" id="{4ED6E4B3-039A-E457-0131-C15543EAAD07}"/>
              </a:ext>
            </a:extLst>
          </p:cNvPr>
          <p:cNvSpPr txBox="1"/>
          <p:nvPr/>
        </p:nvSpPr>
        <p:spPr>
          <a:xfrm>
            <a:off x="7130956" y="1577208"/>
            <a:ext cx="9512488" cy="6617196"/>
          </a:xfrm>
          <a:prstGeom prst="rect">
            <a:avLst/>
          </a:prstGeom>
          <a:noFill/>
        </p:spPr>
        <p:txBody>
          <a:bodyPr wrap="square">
            <a:spAutoFit/>
          </a:bodyPr>
          <a:lstStyle/>
          <a:p>
            <a:pPr marL="457200" indent="-457200">
              <a:buFont typeface="Arial" panose="020B0604020202020204" pitchFamily="34" charset="0"/>
              <a:buChar char="•"/>
            </a:pPr>
            <a:r>
              <a:rPr lang="en-AU" sz="2800" b="0" i="0" u="none" strike="noStrike" dirty="0">
                <a:solidFill>
                  <a:schemeClr val="bg2">
                    <a:lumMod val="25000"/>
                  </a:schemeClr>
                </a:solidFill>
                <a:effectLst/>
                <a:latin typeface="Lato" panose="020F0502020204030203" pitchFamily="34" charset="0"/>
              </a:rPr>
              <a:t>Vocabularies applied in a one-to-many relationship with a DWC record or dataset similar to the measurement of fact DWC extension</a:t>
            </a:r>
          </a:p>
          <a:p>
            <a:pPr marL="457200" indent="-457200">
              <a:buFont typeface="Arial" panose="020B0604020202020204" pitchFamily="34" charset="0"/>
              <a:buChar char="•"/>
            </a:pPr>
            <a:endParaRPr lang="en-AU" sz="2800" b="0" i="0" u="none" strike="noStrike" dirty="0">
              <a:solidFill>
                <a:schemeClr val="bg2">
                  <a:lumMod val="25000"/>
                </a:schemeClr>
              </a:solidFill>
              <a:effectLst/>
              <a:latin typeface="Lato" panose="020F0502020204030203" pitchFamily="34" charset="0"/>
            </a:endParaRPr>
          </a:p>
          <a:p>
            <a:pPr marL="457200" indent="-457200">
              <a:buFont typeface="Arial" panose="020B0604020202020204" pitchFamily="34" charset="0"/>
              <a:buChar char="•"/>
            </a:pPr>
            <a:r>
              <a:rPr lang="en-AU" sz="2800" b="0" i="0" u="none" strike="noStrike" dirty="0">
                <a:solidFill>
                  <a:schemeClr val="bg2">
                    <a:lumMod val="25000"/>
                  </a:schemeClr>
                </a:solidFill>
                <a:effectLst/>
                <a:latin typeface="Lato" panose="020F0502020204030203" pitchFamily="34" charset="0"/>
              </a:rPr>
              <a:t>A RASD treatment needs a RASD reason associated with it. A RASD reason may require more than one treatment being applied. A record may also have more than one RASD reason and therefore treatment applied.</a:t>
            </a:r>
          </a:p>
          <a:p>
            <a:endParaRPr lang="en-AU" sz="2800" b="0" i="0" u="none" strike="noStrike" dirty="0">
              <a:solidFill>
                <a:schemeClr val="bg2">
                  <a:lumMod val="25000"/>
                </a:schemeClr>
              </a:solidFill>
              <a:effectLst/>
              <a:latin typeface="Lato" panose="020F0502020204030203" pitchFamily="34" charset="0"/>
            </a:endParaRPr>
          </a:p>
          <a:p>
            <a:r>
              <a:rPr lang="en-AU" sz="2800" b="0" i="0" u="none" strike="noStrike" dirty="0">
                <a:solidFill>
                  <a:schemeClr val="bg2">
                    <a:lumMod val="25000"/>
                  </a:schemeClr>
                </a:solidFill>
                <a:effectLst/>
                <a:latin typeface="Lato" panose="020F0502020204030203" pitchFamily="34" charset="0"/>
              </a:rPr>
              <a:t>The purpose of having sub-categories are:</a:t>
            </a:r>
          </a:p>
          <a:p>
            <a:endParaRPr lang="en-AU" sz="2400" b="0" i="0" u="none" strike="noStrike" dirty="0">
              <a:solidFill>
                <a:schemeClr val="bg2">
                  <a:lumMod val="25000"/>
                </a:schemeClr>
              </a:solidFill>
              <a:effectLst/>
              <a:latin typeface="Lato" panose="020F0502020204030203" pitchFamily="34" charset="0"/>
            </a:endParaRPr>
          </a:p>
          <a:p>
            <a:pPr marL="514350" indent="-514350">
              <a:buAutoNum type="alphaLcPeriod"/>
            </a:pPr>
            <a:r>
              <a:rPr lang="en-AU" sz="2400" b="0" i="0" u="none" strike="noStrike" dirty="0">
                <a:solidFill>
                  <a:schemeClr val="bg2">
                    <a:lumMod val="25000"/>
                  </a:schemeClr>
                </a:solidFill>
                <a:effectLst/>
                <a:latin typeface="Lato" panose="020F0502020204030203" pitchFamily="34" charset="0"/>
              </a:rPr>
              <a:t>so that data custodians can comply with basic FAIR principles as they apply to restricted access species records; and</a:t>
            </a:r>
          </a:p>
          <a:p>
            <a:r>
              <a:rPr lang="en-AU" sz="2400" b="0" i="0" u="none" strike="noStrike" dirty="0">
                <a:solidFill>
                  <a:schemeClr val="bg2">
                    <a:lumMod val="25000"/>
                  </a:schemeClr>
                </a:solidFill>
                <a:effectLst/>
                <a:latin typeface="Lato" panose="020F0502020204030203" pitchFamily="34" charset="0"/>
              </a:rPr>
              <a:t> </a:t>
            </a:r>
          </a:p>
          <a:p>
            <a:pPr marL="514350" indent="-514350">
              <a:buFont typeface="+mj-lt"/>
              <a:buAutoNum type="alphaLcPeriod" startAt="2"/>
            </a:pPr>
            <a:r>
              <a:rPr lang="en-AU" sz="2400" b="0" i="0" u="none" strike="noStrike" dirty="0">
                <a:solidFill>
                  <a:schemeClr val="bg2">
                    <a:lumMod val="25000"/>
                  </a:schemeClr>
                </a:solidFill>
                <a:effectLst/>
                <a:latin typeface="Lato" panose="020F0502020204030203" pitchFamily="34" charset="0"/>
              </a:rPr>
              <a:t>The extension can handle the breadth of restricted access species data management actions across multiple data custodians </a:t>
            </a:r>
            <a:endParaRPr lang="en-AU" sz="2400" dirty="0">
              <a:solidFill>
                <a:schemeClr val="bg2">
                  <a:lumMod val="25000"/>
                </a:schemeClr>
              </a:solidFill>
              <a:latin typeface="Lato" panose="020F0502020204030203" pitchFamily="34" charset="0"/>
            </a:endParaRPr>
          </a:p>
        </p:txBody>
      </p:sp>
      <p:pic>
        <p:nvPicPr>
          <p:cNvPr id="3" name="Picture 2">
            <a:extLst>
              <a:ext uri="{FF2B5EF4-FFF2-40B4-BE49-F238E27FC236}">
                <a16:creationId xmlns:a16="http://schemas.microsoft.com/office/drawing/2014/main" id="{F49CC6E2-BCD1-49AD-B15B-47F61DF7430F}"/>
              </a:ext>
            </a:extLst>
          </p:cNvPr>
          <p:cNvPicPr>
            <a:picLocks noChangeAspect="1"/>
          </p:cNvPicPr>
          <p:nvPr/>
        </p:nvPicPr>
        <p:blipFill>
          <a:blip r:embed="rId4"/>
          <a:stretch>
            <a:fillRect/>
          </a:stretch>
        </p:blipFill>
        <p:spPr>
          <a:xfrm>
            <a:off x="708321" y="1687055"/>
            <a:ext cx="5612966" cy="4930727"/>
          </a:xfrm>
          <a:prstGeom prst="rect">
            <a:avLst/>
          </a:prstGeom>
        </p:spPr>
      </p:pic>
    </p:spTree>
    <p:extLst>
      <p:ext uri="{BB962C8B-B14F-4D97-AF65-F5344CB8AC3E}">
        <p14:creationId xmlns:p14="http://schemas.microsoft.com/office/powerpoint/2010/main" val="4143869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057A3E9-C94F-22B2-74C4-090029FE3C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19D03A-8248-3E2C-8183-EADB3137539B}"/>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0D9A2119-957D-C877-C84D-2E1302B1C306}"/>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RASD Reasons</a:t>
            </a:r>
          </a:p>
        </p:txBody>
      </p:sp>
      <p:sp>
        <p:nvSpPr>
          <p:cNvPr id="4" name="TextBox 3">
            <a:extLst>
              <a:ext uri="{FF2B5EF4-FFF2-40B4-BE49-F238E27FC236}">
                <a16:creationId xmlns:a16="http://schemas.microsoft.com/office/drawing/2014/main" id="{7D8067C0-8081-DB8B-D81A-D85B4678EFE4}"/>
              </a:ext>
            </a:extLst>
          </p:cNvPr>
          <p:cNvSpPr txBox="1"/>
          <p:nvPr/>
        </p:nvSpPr>
        <p:spPr>
          <a:xfrm>
            <a:off x="710221" y="1528681"/>
            <a:ext cx="9512488" cy="5693866"/>
          </a:xfrm>
          <a:prstGeom prst="rect">
            <a:avLst/>
          </a:prstGeom>
          <a:noFill/>
        </p:spPr>
        <p:txBody>
          <a:bodyPr wrap="square">
            <a:spAutoFit/>
          </a:bodyPr>
          <a:lstStyle/>
          <a:p>
            <a:r>
              <a:rPr lang="en-AU" sz="2800" b="0" i="0" u="none" strike="noStrike" dirty="0">
                <a:solidFill>
                  <a:schemeClr val="bg2">
                    <a:lumMod val="25000"/>
                  </a:schemeClr>
                </a:solidFill>
                <a:effectLst/>
                <a:latin typeface="Lato" panose="020F0502020204030203" pitchFamily="34" charset="0"/>
              </a:rPr>
              <a:t>Reasons for applying restrictions to the data:</a:t>
            </a:r>
          </a:p>
          <a:p>
            <a:endParaRPr lang="en-AU" sz="2800" b="0" i="0" u="none" strike="noStrike" dirty="0">
              <a:solidFill>
                <a:schemeClr val="bg2">
                  <a:lumMod val="25000"/>
                </a:schemeClr>
              </a:solidFill>
              <a:effectLst/>
              <a:latin typeface="Lato" panose="020F0502020204030203" pitchFamily="34" charset="0"/>
            </a:endParaRPr>
          </a:p>
          <a:p>
            <a:pPr marL="514350" indent="-514350">
              <a:buFont typeface="+mj-lt"/>
              <a:buAutoNum type="arabicPeriod"/>
            </a:pPr>
            <a:r>
              <a:rPr lang="en-AU" sz="2800" b="0" i="0" u="none" strike="noStrike" dirty="0">
                <a:solidFill>
                  <a:schemeClr val="bg2">
                    <a:lumMod val="25000"/>
                  </a:schemeClr>
                </a:solidFill>
                <a:effectLst/>
                <a:latin typeface="Lato" panose="020F0502020204030203" pitchFamily="34" charset="0"/>
              </a:rPr>
              <a:t>personal information privacy</a:t>
            </a:r>
          </a:p>
          <a:p>
            <a:pPr marL="514350" indent="-514350">
              <a:buFont typeface="+mj-lt"/>
              <a:buAutoNum type="arabicPeriod"/>
            </a:pPr>
            <a:endParaRPr lang="en-AU" sz="2800" b="0" i="0" u="none" strike="noStrike" dirty="0">
              <a:solidFill>
                <a:schemeClr val="bg2">
                  <a:lumMod val="25000"/>
                </a:schemeClr>
              </a:solidFill>
              <a:effectLst/>
              <a:latin typeface="Lato" panose="020F0502020204030203" pitchFamily="34" charset="0"/>
            </a:endParaRPr>
          </a:p>
          <a:p>
            <a:pPr marL="514350" indent="-514350">
              <a:buFont typeface="+mj-lt"/>
              <a:buAutoNum type="arabicPeriod"/>
            </a:pPr>
            <a:r>
              <a:rPr lang="en-AU" sz="2800" b="0" i="0" u="none" strike="noStrike" dirty="0">
                <a:solidFill>
                  <a:schemeClr val="bg2">
                    <a:lumMod val="25000"/>
                  </a:schemeClr>
                </a:solidFill>
                <a:effectLst/>
                <a:latin typeface="Lato" panose="020F0502020204030203" pitchFamily="34" charset="0"/>
              </a:rPr>
              <a:t>sensitive location</a:t>
            </a:r>
          </a:p>
          <a:p>
            <a:pPr marL="514350" indent="-514350">
              <a:buFont typeface="+mj-lt"/>
              <a:buAutoNum type="arabicPeriod"/>
            </a:pPr>
            <a:endParaRPr lang="en-AU" sz="2800" b="0" i="0" u="none" strike="noStrike" dirty="0">
              <a:solidFill>
                <a:schemeClr val="bg2">
                  <a:lumMod val="25000"/>
                </a:schemeClr>
              </a:solidFill>
              <a:effectLst/>
              <a:latin typeface="Lato" panose="020F0502020204030203" pitchFamily="34" charset="0"/>
            </a:endParaRPr>
          </a:p>
          <a:p>
            <a:pPr marL="514350" indent="-514350">
              <a:buFont typeface="+mj-lt"/>
              <a:buAutoNum type="arabicPeriod"/>
            </a:pPr>
            <a:r>
              <a:rPr lang="en-AU" sz="2800" b="0" i="0" u="none" strike="noStrike" dirty="0">
                <a:solidFill>
                  <a:schemeClr val="bg2">
                    <a:lumMod val="25000"/>
                  </a:schemeClr>
                </a:solidFill>
                <a:effectLst/>
                <a:latin typeface="Lato" panose="020F0502020204030203" pitchFamily="34" charset="0"/>
              </a:rPr>
              <a:t>biosecurity risk</a:t>
            </a:r>
          </a:p>
          <a:p>
            <a:pPr marL="514350" indent="-514350">
              <a:buFont typeface="+mj-lt"/>
              <a:buAutoNum type="arabicPeriod"/>
            </a:pPr>
            <a:endParaRPr lang="en-AU" sz="2800" b="0" i="0" u="none" strike="noStrike" dirty="0">
              <a:solidFill>
                <a:schemeClr val="bg2">
                  <a:lumMod val="25000"/>
                </a:schemeClr>
              </a:solidFill>
              <a:effectLst/>
              <a:latin typeface="Lato" panose="020F0502020204030203" pitchFamily="34" charset="0"/>
            </a:endParaRPr>
          </a:p>
          <a:p>
            <a:pPr marL="514350" indent="-514350">
              <a:buFont typeface="+mj-lt"/>
              <a:buAutoNum type="arabicPeriod"/>
            </a:pPr>
            <a:r>
              <a:rPr lang="en-AU" sz="2800" b="0" i="0" u="none" strike="noStrike" dirty="0">
                <a:solidFill>
                  <a:schemeClr val="bg2">
                    <a:lumMod val="25000"/>
                  </a:schemeClr>
                </a:solidFill>
                <a:effectLst/>
                <a:latin typeface="Lato" panose="020F0502020204030203" pitchFamily="34" charset="0"/>
              </a:rPr>
              <a:t>species attributes</a:t>
            </a:r>
          </a:p>
          <a:p>
            <a:pPr marL="514350" indent="-514350">
              <a:buFont typeface="+mj-lt"/>
              <a:buAutoNum type="arabicPeriod"/>
            </a:pPr>
            <a:endParaRPr lang="en-AU" sz="2800" b="0" i="0" u="none" strike="noStrike" dirty="0">
              <a:solidFill>
                <a:schemeClr val="bg2">
                  <a:lumMod val="25000"/>
                </a:schemeClr>
              </a:solidFill>
              <a:effectLst/>
              <a:latin typeface="Lato" panose="020F0502020204030203" pitchFamily="34" charset="0"/>
            </a:endParaRPr>
          </a:p>
          <a:p>
            <a:pPr marL="514350" indent="-514350">
              <a:buFont typeface="+mj-lt"/>
              <a:buAutoNum type="arabicPeriod"/>
            </a:pPr>
            <a:r>
              <a:rPr lang="en-AU" sz="2800" b="0" i="0" u="none" strike="noStrike" dirty="0">
                <a:solidFill>
                  <a:schemeClr val="bg2">
                    <a:lumMod val="25000"/>
                  </a:schemeClr>
                </a:solidFill>
                <a:effectLst/>
                <a:latin typeface="Lato" panose="020F0502020204030203" pitchFamily="34" charset="0"/>
              </a:rPr>
              <a:t>usage-restrictions</a:t>
            </a:r>
          </a:p>
          <a:p>
            <a:pPr marL="514350" indent="-514350">
              <a:buFont typeface="+mj-lt"/>
              <a:buAutoNum type="arabicPeriod"/>
            </a:pPr>
            <a:endParaRPr lang="en-AU" sz="2800" b="0" i="0" u="none" strike="noStrike" dirty="0">
              <a:solidFill>
                <a:schemeClr val="bg2">
                  <a:lumMod val="25000"/>
                </a:schemeClr>
              </a:solidFill>
              <a:effectLst/>
              <a:latin typeface="Lato" panose="020F0502020204030203" pitchFamily="34" charset="0"/>
            </a:endParaRPr>
          </a:p>
          <a:p>
            <a:pPr marL="514350" indent="-514350">
              <a:buFont typeface="+mj-lt"/>
              <a:buAutoNum type="arabicPeriod"/>
            </a:pPr>
            <a:r>
              <a:rPr lang="en-AU" sz="2800" b="0" i="0" u="none" strike="noStrike" dirty="0">
                <a:solidFill>
                  <a:schemeClr val="bg2">
                    <a:lumMod val="25000"/>
                  </a:schemeClr>
                </a:solidFill>
                <a:effectLst/>
                <a:latin typeface="Lato" panose="020F0502020204030203" pitchFamily="34" charset="0"/>
              </a:rPr>
              <a:t>first nations cultural significance</a:t>
            </a:r>
            <a:endParaRPr lang="en-AU" sz="2800" dirty="0">
              <a:solidFill>
                <a:schemeClr val="bg2">
                  <a:lumMod val="25000"/>
                </a:schemeClr>
              </a:solidFill>
              <a:latin typeface="Lato" panose="020F0502020204030203" pitchFamily="34" charset="0"/>
            </a:endParaRPr>
          </a:p>
        </p:txBody>
      </p:sp>
      <p:grpSp>
        <p:nvGrpSpPr>
          <p:cNvPr id="7" name="Group 6">
            <a:extLst>
              <a:ext uri="{FF2B5EF4-FFF2-40B4-BE49-F238E27FC236}">
                <a16:creationId xmlns:a16="http://schemas.microsoft.com/office/drawing/2014/main" id="{C53DB51E-D41C-8E4D-7DE4-6C5C5B57B67F}"/>
              </a:ext>
            </a:extLst>
          </p:cNvPr>
          <p:cNvGrpSpPr/>
          <p:nvPr/>
        </p:nvGrpSpPr>
        <p:grpSpPr>
          <a:xfrm>
            <a:off x="6146157" y="2303362"/>
            <a:ext cx="10695008" cy="2400657"/>
            <a:chOff x="6146157" y="2303362"/>
            <a:chExt cx="10695008" cy="2400657"/>
          </a:xfrm>
        </p:grpSpPr>
        <p:sp>
          <p:nvSpPr>
            <p:cNvPr id="5" name="TextBox 4">
              <a:extLst>
                <a:ext uri="{FF2B5EF4-FFF2-40B4-BE49-F238E27FC236}">
                  <a16:creationId xmlns:a16="http://schemas.microsoft.com/office/drawing/2014/main" id="{05B27CCA-9262-3CD7-E393-0D0BAB59B072}"/>
                </a:ext>
              </a:extLst>
            </p:cNvPr>
            <p:cNvSpPr txBox="1"/>
            <p:nvPr/>
          </p:nvSpPr>
          <p:spPr>
            <a:xfrm>
              <a:off x="8484243" y="2303362"/>
              <a:ext cx="8356922" cy="2400657"/>
            </a:xfrm>
            <a:prstGeom prst="rect">
              <a:avLst/>
            </a:prstGeom>
            <a:noFill/>
          </p:spPr>
          <p:txBody>
            <a:bodyPr wrap="square" rtlCol="0">
              <a:spAutoFit/>
            </a:bodyPr>
            <a:lstStyle/>
            <a:p>
              <a:r>
                <a:rPr lang="en-AU" sz="2800" dirty="0">
                  <a:solidFill>
                    <a:schemeClr val="accent3">
                      <a:lumMod val="50000"/>
                    </a:schemeClr>
                  </a:solidFill>
                </a:rPr>
                <a:t>The presence of personal data – information, names or addresses compromise the privacy of individuals.</a:t>
              </a:r>
            </a:p>
            <a:p>
              <a:endParaRPr lang="en-AU" sz="1000" dirty="0">
                <a:solidFill>
                  <a:schemeClr val="accent3">
                    <a:lumMod val="50000"/>
                  </a:schemeClr>
                </a:solidFill>
              </a:endParaRPr>
            </a:p>
            <a:p>
              <a:r>
                <a:rPr lang="en-AU" sz="2800" dirty="0">
                  <a:solidFill>
                    <a:schemeClr val="accent3">
                      <a:lumMod val="50000"/>
                    </a:schemeClr>
                  </a:solidFill>
                </a:rPr>
                <a:t>1.1 lack of consent</a:t>
              </a:r>
            </a:p>
            <a:p>
              <a:endParaRPr lang="en-AU" sz="2800" dirty="0">
                <a:solidFill>
                  <a:schemeClr val="accent3">
                    <a:lumMod val="50000"/>
                  </a:schemeClr>
                </a:solidFill>
              </a:endParaRPr>
            </a:p>
            <a:p>
              <a:r>
                <a:rPr lang="en-AU" sz="2800" dirty="0">
                  <a:solidFill>
                    <a:schemeClr val="accent3">
                      <a:lumMod val="50000"/>
                    </a:schemeClr>
                  </a:solidFill>
                </a:rPr>
                <a:t>1.2 request for privacy</a:t>
              </a:r>
            </a:p>
          </p:txBody>
        </p:sp>
        <p:sp>
          <p:nvSpPr>
            <p:cNvPr id="6" name="Arrow: Right 5">
              <a:extLst>
                <a:ext uri="{FF2B5EF4-FFF2-40B4-BE49-F238E27FC236}">
                  <a16:creationId xmlns:a16="http://schemas.microsoft.com/office/drawing/2014/main" id="{F0E8C490-6345-097B-B66C-F24E799E5772}"/>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grpSp>
        <p:nvGrpSpPr>
          <p:cNvPr id="9" name="Group 8">
            <a:extLst>
              <a:ext uri="{FF2B5EF4-FFF2-40B4-BE49-F238E27FC236}">
                <a16:creationId xmlns:a16="http://schemas.microsoft.com/office/drawing/2014/main" id="{8CE092B5-F6AE-550F-A8D6-D52BB09A54D3}"/>
              </a:ext>
            </a:extLst>
          </p:cNvPr>
          <p:cNvGrpSpPr/>
          <p:nvPr/>
        </p:nvGrpSpPr>
        <p:grpSpPr>
          <a:xfrm>
            <a:off x="6478142" y="3142626"/>
            <a:ext cx="10604340" cy="7417415"/>
            <a:chOff x="6146157" y="2339039"/>
            <a:chExt cx="10604340" cy="7417415"/>
          </a:xfrm>
        </p:grpSpPr>
        <p:sp>
          <p:nvSpPr>
            <p:cNvPr id="10" name="TextBox 9">
              <a:extLst>
                <a:ext uri="{FF2B5EF4-FFF2-40B4-BE49-F238E27FC236}">
                  <a16:creationId xmlns:a16="http://schemas.microsoft.com/office/drawing/2014/main" id="{B9974EC5-9E4B-63BE-9F64-8F3848749D26}"/>
                </a:ext>
              </a:extLst>
            </p:cNvPr>
            <p:cNvSpPr txBox="1"/>
            <p:nvPr/>
          </p:nvSpPr>
          <p:spPr>
            <a:xfrm>
              <a:off x="8393575" y="2339039"/>
              <a:ext cx="8356922" cy="7417415"/>
            </a:xfrm>
            <a:prstGeom prst="rect">
              <a:avLst/>
            </a:prstGeom>
            <a:noFill/>
          </p:spPr>
          <p:txBody>
            <a:bodyPr wrap="square" rtlCol="0">
              <a:spAutoFit/>
            </a:bodyPr>
            <a:lstStyle/>
            <a:p>
              <a:r>
                <a:rPr lang="en-AU" sz="2800" dirty="0">
                  <a:solidFill>
                    <a:schemeClr val="accent3">
                      <a:lumMod val="50000"/>
                    </a:schemeClr>
                  </a:solidFill>
                </a:rPr>
                <a:t>Information about the location or habitat of a species places that species at risk if data is not either withheld or generalised.</a:t>
              </a:r>
            </a:p>
            <a:p>
              <a:endParaRPr lang="en-AU" sz="1000" dirty="0">
                <a:solidFill>
                  <a:schemeClr val="accent3">
                    <a:lumMod val="50000"/>
                  </a:schemeClr>
                </a:solidFill>
              </a:endParaRPr>
            </a:p>
            <a:p>
              <a:r>
                <a:rPr lang="en-AU" sz="2800" dirty="0">
                  <a:solidFill>
                    <a:schemeClr val="accent3">
                      <a:lumMod val="50000"/>
                    </a:schemeClr>
                  </a:solidFill>
                </a:rPr>
                <a:t>2.1 highly restricted species</a:t>
              </a:r>
            </a:p>
            <a:p>
              <a:endParaRPr lang="en-AU" sz="2800" dirty="0">
                <a:solidFill>
                  <a:schemeClr val="accent3">
                    <a:lumMod val="50000"/>
                  </a:schemeClr>
                </a:solidFill>
              </a:endParaRPr>
            </a:p>
            <a:p>
              <a:r>
                <a:rPr lang="en-AU" sz="2800" dirty="0">
                  <a:solidFill>
                    <a:schemeClr val="accent3">
                      <a:lumMod val="50000"/>
                    </a:schemeClr>
                  </a:solidFill>
                </a:rPr>
                <a:t>2.2 threatened populations</a:t>
              </a:r>
            </a:p>
            <a:p>
              <a:endParaRPr lang="en-AU" sz="2800" dirty="0">
                <a:solidFill>
                  <a:schemeClr val="accent3">
                    <a:lumMod val="50000"/>
                  </a:schemeClr>
                </a:solidFill>
              </a:endParaRPr>
            </a:p>
            <a:p>
              <a:r>
                <a:rPr lang="en-AU" sz="2800" dirty="0">
                  <a:solidFill>
                    <a:schemeClr val="accent3">
                      <a:lumMod val="50000"/>
                    </a:schemeClr>
                  </a:solidFill>
                </a:rPr>
                <a:t>2.3 cryptic locations</a:t>
              </a:r>
            </a:p>
            <a:p>
              <a:endParaRPr lang="en-AU" sz="2800" dirty="0">
                <a:solidFill>
                  <a:schemeClr val="accent3">
                    <a:lumMod val="50000"/>
                  </a:schemeClr>
                </a:solidFill>
              </a:endParaRPr>
            </a:p>
            <a:p>
              <a:r>
                <a:rPr lang="en-AU" sz="2800" dirty="0">
                  <a:solidFill>
                    <a:schemeClr val="accent3">
                      <a:lumMod val="50000"/>
                    </a:schemeClr>
                  </a:solidFill>
                </a:rPr>
                <a:t>2.4 exposure via survey information</a:t>
              </a:r>
            </a:p>
            <a:p>
              <a:endParaRPr lang="en-AU" sz="2800" dirty="0">
                <a:solidFill>
                  <a:schemeClr val="accent3">
                    <a:lumMod val="50000"/>
                  </a:schemeClr>
                </a:solidFill>
              </a:endParaRPr>
            </a:p>
            <a:p>
              <a:r>
                <a:rPr lang="en-AU" sz="2800" dirty="0">
                  <a:solidFill>
                    <a:schemeClr val="accent3">
                      <a:lumMod val="50000"/>
                    </a:schemeClr>
                  </a:solidFill>
                </a:rPr>
                <a:t>2.5 exposure via contextual attribute</a:t>
              </a:r>
            </a:p>
            <a:p>
              <a:endParaRPr lang="en-AU" sz="2800" dirty="0">
                <a:solidFill>
                  <a:schemeClr val="accent3">
                    <a:lumMod val="50000"/>
                  </a:schemeClr>
                </a:solidFill>
              </a:endParaRPr>
            </a:p>
            <a:p>
              <a:r>
                <a:rPr lang="en-AU" sz="2800" dirty="0">
                  <a:solidFill>
                    <a:schemeClr val="accent3">
                      <a:lumMod val="50000"/>
                    </a:schemeClr>
                  </a:solidFill>
                </a:rPr>
                <a:t>2.6 potential harm to people or property</a:t>
              </a:r>
            </a:p>
            <a:p>
              <a:endParaRPr lang="en-AU" sz="2800" dirty="0">
                <a:solidFill>
                  <a:schemeClr val="accent3">
                    <a:lumMod val="50000"/>
                  </a:schemeClr>
                </a:solidFill>
              </a:endParaRPr>
            </a:p>
            <a:p>
              <a:r>
                <a:rPr lang="en-AU" sz="2800" dirty="0">
                  <a:solidFill>
                    <a:schemeClr val="accent3">
                      <a:lumMod val="50000"/>
                    </a:schemeClr>
                  </a:solidFill>
                </a:rPr>
                <a:t>2.7 deficiency of information or resources</a:t>
              </a:r>
            </a:p>
          </p:txBody>
        </p:sp>
        <p:sp>
          <p:nvSpPr>
            <p:cNvPr id="11" name="Arrow: Right 10">
              <a:extLst>
                <a:ext uri="{FF2B5EF4-FFF2-40B4-BE49-F238E27FC236}">
                  <a16:creationId xmlns:a16="http://schemas.microsoft.com/office/drawing/2014/main" id="{AB699C1D-6A6B-E342-68B9-DC298275247E}"/>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grpSp>
        <p:nvGrpSpPr>
          <p:cNvPr id="12" name="Group 11">
            <a:extLst>
              <a:ext uri="{FF2B5EF4-FFF2-40B4-BE49-F238E27FC236}">
                <a16:creationId xmlns:a16="http://schemas.microsoft.com/office/drawing/2014/main" id="{95D4DB4B-6D72-698B-995D-604F9935BE03}"/>
              </a:ext>
            </a:extLst>
          </p:cNvPr>
          <p:cNvGrpSpPr/>
          <p:nvPr/>
        </p:nvGrpSpPr>
        <p:grpSpPr>
          <a:xfrm>
            <a:off x="6842888" y="3989709"/>
            <a:ext cx="10604340" cy="2400657"/>
            <a:chOff x="6146157" y="2339039"/>
            <a:chExt cx="10604340" cy="2400657"/>
          </a:xfrm>
        </p:grpSpPr>
        <p:sp>
          <p:nvSpPr>
            <p:cNvPr id="13" name="TextBox 12">
              <a:extLst>
                <a:ext uri="{FF2B5EF4-FFF2-40B4-BE49-F238E27FC236}">
                  <a16:creationId xmlns:a16="http://schemas.microsoft.com/office/drawing/2014/main" id="{51ABDE7F-6659-E048-E7AE-0B6E6876B775}"/>
                </a:ext>
              </a:extLst>
            </p:cNvPr>
            <p:cNvSpPr txBox="1"/>
            <p:nvPr/>
          </p:nvSpPr>
          <p:spPr>
            <a:xfrm>
              <a:off x="8393575" y="2339039"/>
              <a:ext cx="8356922" cy="2400657"/>
            </a:xfrm>
            <a:prstGeom prst="rect">
              <a:avLst/>
            </a:prstGeom>
            <a:noFill/>
          </p:spPr>
          <p:txBody>
            <a:bodyPr wrap="square" rtlCol="0">
              <a:spAutoFit/>
            </a:bodyPr>
            <a:lstStyle/>
            <a:p>
              <a:r>
                <a:rPr lang="en-AU" sz="2800" dirty="0">
                  <a:solidFill>
                    <a:schemeClr val="accent3">
                      <a:lumMod val="50000"/>
                    </a:schemeClr>
                  </a:solidFill>
                </a:rPr>
                <a:t>Information about biosecurity risk species may have negative implications. </a:t>
              </a:r>
            </a:p>
            <a:p>
              <a:endParaRPr lang="en-AU" sz="1000" dirty="0">
                <a:solidFill>
                  <a:schemeClr val="accent3">
                    <a:lumMod val="50000"/>
                  </a:schemeClr>
                </a:solidFill>
              </a:endParaRPr>
            </a:p>
            <a:p>
              <a:r>
                <a:rPr lang="en-AU" sz="2800" dirty="0">
                  <a:solidFill>
                    <a:schemeClr val="accent3">
                      <a:lumMod val="50000"/>
                    </a:schemeClr>
                  </a:solidFill>
                </a:rPr>
                <a:t>3.1 trade sensitive species</a:t>
              </a:r>
            </a:p>
            <a:p>
              <a:endParaRPr lang="en-AU" sz="2800" dirty="0">
                <a:solidFill>
                  <a:schemeClr val="accent3">
                    <a:lumMod val="50000"/>
                  </a:schemeClr>
                </a:solidFill>
              </a:endParaRPr>
            </a:p>
            <a:p>
              <a:r>
                <a:rPr lang="en-AU" sz="2800" dirty="0">
                  <a:solidFill>
                    <a:schemeClr val="accent3">
                      <a:lumMod val="50000"/>
                    </a:schemeClr>
                  </a:solidFill>
                </a:rPr>
                <a:t>3.2 invasive species</a:t>
              </a:r>
            </a:p>
          </p:txBody>
        </p:sp>
        <p:sp>
          <p:nvSpPr>
            <p:cNvPr id="14" name="Arrow: Right 13">
              <a:extLst>
                <a:ext uri="{FF2B5EF4-FFF2-40B4-BE49-F238E27FC236}">
                  <a16:creationId xmlns:a16="http://schemas.microsoft.com/office/drawing/2014/main" id="{B6033383-553F-C556-2F0C-8B9C8B4C2462}"/>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grpSp>
        <p:nvGrpSpPr>
          <p:cNvPr id="15" name="Group 14">
            <a:extLst>
              <a:ext uri="{FF2B5EF4-FFF2-40B4-BE49-F238E27FC236}">
                <a16:creationId xmlns:a16="http://schemas.microsoft.com/office/drawing/2014/main" id="{078F4E5C-FB66-D557-6F65-724A2FF30DF6}"/>
              </a:ext>
            </a:extLst>
          </p:cNvPr>
          <p:cNvGrpSpPr/>
          <p:nvPr/>
        </p:nvGrpSpPr>
        <p:grpSpPr>
          <a:xfrm>
            <a:off x="7153154" y="4899350"/>
            <a:ext cx="10604340" cy="2400657"/>
            <a:chOff x="6146157" y="2339039"/>
            <a:chExt cx="10604340" cy="2400657"/>
          </a:xfrm>
        </p:grpSpPr>
        <p:sp>
          <p:nvSpPr>
            <p:cNvPr id="16" name="TextBox 15">
              <a:extLst>
                <a:ext uri="{FF2B5EF4-FFF2-40B4-BE49-F238E27FC236}">
                  <a16:creationId xmlns:a16="http://schemas.microsoft.com/office/drawing/2014/main" id="{4ACCFD49-89E6-202C-2499-A0551B4D8739}"/>
                </a:ext>
              </a:extLst>
            </p:cNvPr>
            <p:cNvSpPr txBox="1"/>
            <p:nvPr/>
          </p:nvSpPr>
          <p:spPr>
            <a:xfrm>
              <a:off x="8393575" y="2339039"/>
              <a:ext cx="8356922" cy="2400657"/>
            </a:xfrm>
            <a:prstGeom prst="rect">
              <a:avLst/>
            </a:prstGeom>
            <a:noFill/>
          </p:spPr>
          <p:txBody>
            <a:bodyPr wrap="square" rtlCol="0">
              <a:spAutoFit/>
            </a:bodyPr>
            <a:lstStyle/>
            <a:p>
              <a:r>
                <a:rPr lang="en-AU" sz="2800" dirty="0">
                  <a:solidFill>
                    <a:schemeClr val="accent3">
                      <a:lumMod val="50000"/>
                    </a:schemeClr>
                  </a:solidFill>
                </a:rPr>
                <a:t>Species attribute information that is perceived to be restricted access.</a:t>
              </a:r>
            </a:p>
            <a:p>
              <a:endParaRPr lang="en-AU" sz="1000" dirty="0">
                <a:solidFill>
                  <a:schemeClr val="accent3">
                    <a:lumMod val="50000"/>
                  </a:schemeClr>
                </a:solidFill>
              </a:endParaRPr>
            </a:p>
            <a:p>
              <a:r>
                <a:rPr lang="en-AU" sz="2800" dirty="0">
                  <a:solidFill>
                    <a:schemeClr val="accent3">
                      <a:lumMod val="50000"/>
                    </a:schemeClr>
                  </a:solidFill>
                </a:rPr>
                <a:t>4.1 physical attributes</a:t>
              </a:r>
            </a:p>
            <a:p>
              <a:endParaRPr lang="en-AU" sz="2800" dirty="0">
                <a:solidFill>
                  <a:schemeClr val="accent3">
                    <a:lumMod val="50000"/>
                  </a:schemeClr>
                </a:solidFill>
              </a:endParaRPr>
            </a:p>
            <a:p>
              <a:r>
                <a:rPr lang="en-AU" sz="2800" dirty="0">
                  <a:solidFill>
                    <a:schemeClr val="accent3">
                      <a:lumMod val="50000"/>
                    </a:schemeClr>
                  </a:solidFill>
                </a:rPr>
                <a:t>4.2 taxonomic uncertainty</a:t>
              </a:r>
            </a:p>
          </p:txBody>
        </p:sp>
        <p:sp>
          <p:nvSpPr>
            <p:cNvPr id="17" name="Arrow: Right 16">
              <a:extLst>
                <a:ext uri="{FF2B5EF4-FFF2-40B4-BE49-F238E27FC236}">
                  <a16:creationId xmlns:a16="http://schemas.microsoft.com/office/drawing/2014/main" id="{CA0BAB3E-9099-EB8C-1DC1-6FF0B9C540B2}"/>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grpSp>
        <p:nvGrpSpPr>
          <p:cNvPr id="18" name="Group 17">
            <a:extLst>
              <a:ext uri="{FF2B5EF4-FFF2-40B4-BE49-F238E27FC236}">
                <a16:creationId xmlns:a16="http://schemas.microsoft.com/office/drawing/2014/main" id="{CC1B1798-310D-5C50-992A-94053791D50E}"/>
              </a:ext>
            </a:extLst>
          </p:cNvPr>
          <p:cNvGrpSpPr/>
          <p:nvPr/>
        </p:nvGrpSpPr>
        <p:grpSpPr>
          <a:xfrm>
            <a:off x="7485139" y="5700620"/>
            <a:ext cx="10604340" cy="2400657"/>
            <a:chOff x="6146157" y="2339039"/>
            <a:chExt cx="10604340" cy="2400657"/>
          </a:xfrm>
        </p:grpSpPr>
        <p:sp>
          <p:nvSpPr>
            <p:cNvPr id="19" name="TextBox 18">
              <a:extLst>
                <a:ext uri="{FF2B5EF4-FFF2-40B4-BE49-F238E27FC236}">
                  <a16:creationId xmlns:a16="http://schemas.microsoft.com/office/drawing/2014/main" id="{E67CAEF2-27A8-53D7-1B98-B7ADE46599CE}"/>
                </a:ext>
              </a:extLst>
            </p:cNvPr>
            <p:cNvSpPr txBox="1"/>
            <p:nvPr/>
          </p:nvSpPr>
          <p:spPr>
            <a:xfrm>
              <a:off x="8393575" y="2339039"/>
              <a:ext cx="8356922" cy="2400657"/>
            </a:xfrm>
            <a:prstGeom prst="rect">
              <a:avLst/>
            </a:prstGeom>
            <a:noFill/>
          </p:spPr>
          <p:txBody>
            <a:bodyPr wrap="square" rtlCol="0">
              <a:spAutoFit/>
            </a:bodyPr>
            <a:lstStyle/>
            <a:p>
              <a:r>
                <a:rPr lang="en-AU" sz="2800" dirty="0">
                  <a:solidFill>
                    <a:schemeClr val="accent3">
                      <a:lumMod val="50000"/>
                    </a:schemeClr>
                  </a:solidFill>
                </a:rPr>
                <a:t>Restricted access due to legal or non-legal usage restriction agreements.</a:t>
              </a:r>
            </a:p>
            <a:p>
              <a:endParaRPr lang="en-AU" sz="1000" dirty="0">
                <a:solidFill>
                  <a:schemeClr val="accent3">
                    <a:lumMod val="50000"/>
                  </a:schemeClr>
                </a:solidFill>
              </a:endParaRPr>
            </a:p>
            <a:p>
              <a:r>
                <a:rPr lang="en-AU" sz="2800" dirty="0">
                  <a:solidFill>
                    <a:schemeClr val="accent3">
                      <a:lumMod val="50000"/>
                    </a:schemeClr>
                  </a:solidFill>
                </a:rPr>
                <a:t>5.1 legal contract</a:t>
              </a:r>
            </a:p>
            <a:p>
              <a:endParaRPr lang="en-AU" sz="2800" dirty="0">
                <a:solidFill>
                  <a:schemeClr val="accent3">
                    <a:lumMod val="50000"/>
                  </a:schemeClr>
                </a:solidFill>
              </a:endParaRPr>
            </a:p>
            <a:p>
              <a:r>
                <a:rPr lang="en-AU" sz="2800" dirty="0">
                  <a:solidFill>
                    <a:schemeClr val="accent3">
                      <a:lumMod val="50000"/>
                    </a:schemeClr>
                  </a:solidFill>
                </a:rPr>
                <a:t>5.2 non-legal reasons</a:t>
              </a:r>
            </a:p>
          </p:txBody>
        </p:sp>
        <p:sp>
          <p:nvSpPr>
            <p:cNvPr id="20" name="Arrow: Right 19">
              <a:extLst>
                <a:ext uri="{FF2B5EF4-FFF2-40B4-BE49-F238E27FC236}">
                  <a16:creationId xmlns:a16="http://schemas.microsoft.com/office/drawing/2014/main" id="{0DA852A8-E42B-CEF6-12EE-4A911B24A6A9}"/>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grpSp>
        <p:nvGrpSpPr>
          <p:cNvPr id="21" name="Group 20">
            <a:extLst>
              <a:ext uri="{FF2B5EF4-FFF2-40B4-BE49-F238E27FC236}">
                <a16:creationId xmlns:a16="http://schemas.microsoft.com/office/drawing/2014/main" id="{A547F04C-F42B-D5FA-6960-26FDD5EC3728}"/>
              </a:ext>
            </a:extLst>
          </p:cNvPr>
          <p:cNvGrpSpPr/>
          <p:nvPr/>
        </p:nvGrpSpPr>
        <p:grpSpPr>
          <a:xfrm>
            <a:off x="8160151" y="6539884"/>
            <a:ext cx="10604340" cy="3262432"/>
            <a:chOff x="6146157" y="2339039"/>
            <a:chExt cx="10604340" cy="3262432"/>
          </a:xfrm>
        </p:grpSpPr>
        <p:sp>
          <p:nvSpPr>
            <p:cNvPr id="22" name="TextBox 21">
              <a:extLst>
                <a:ext uri="{FF2B5EF4-FFF2-40B4-BE49-F238E27FC236}">
                  <a16:creationId xmlns:a16="http://schemas.microsoft.com/office/drawing/2014/main" id="{95E892D1-5EAE-EB4D-D509-EC34253FD4CC}"/>
                </a:ext>
              </a:extLst>
            </p:cNvPr>
            <p:cNvSpPr txBox="1"/>
            <p:nvPr/>
          </p:nvSpPr>
          <p:spPr>
            <a:xfrm>
              <a:off x="8393575" y="2339039"/>
              <a:ext cx="8356922" cy="3262432"/>
            </a:xfrm>
            <a:prstGeom prst="rect">
              <a:avLst/>
            </a:prstGeom>
            <a:noFill/>
          </p:spPr>
          <p:txBody>
            <a:bodyPr wrap="square" rtlCol="0">
              <a:spAutoFit/>
            </a:bodyPr>
            <a:lstStyle/>
            <a:p>
              <a:r>
                <a:rPr lang="en-AU" sz="2800" dirty="0">
                  <a:solidFill>
                    <a:schemeClr val="accent3">
                      <a:lumMod val="50000"/>
                    </a:schemeClr>
                  </a:solidFill>
                </a:rPr>
                <a:t>Information that First Nations people consider to be restricted access</a:t>
              </a:r>
            </a:p>
            <a:p>
              <a:endParaRPr lang="en-AU" sz="1000" dirty="0">
                <a:solidFill>
                  <a:schemeClr val="accent3">
                    <a:lumMod val="50000"/>
                  </a:schemeClr>
                </a:solidFill>
              </a:endParaRPr>
            </a:p>
            <a:p>
              <a:r>
                <a:rPr lang="en-AU" sz="2800" dirty="0">
                  <a:solidFill>
                    <a:schemeClr val="accent3">
                      <a:lumMod val="50000"/>
                    </a:schemeClr>
                  </a:solidFill>
                </a:rPr>
                <a:t>6.1 culturally significant species</a:t>
              </a:r>
            </a:p>
            <a:p>
              <a:endParaRPr lang="en-AU" sz="2800" dirty="0">
                <a:solidFill>
                  <a:schemeClr val="accent3">
                    <a:lumMod val="50000"/>
                  </a:schemeClr>
                </a:solidFill>
              </a:endParaRPr>
            </a:p>
            <a:p>
              <a:r>
                <a:rPr lang="en-AU" sz="2800" dirty="0">
                  <a:solidFill>
                    <a:schemeClr val="accent3">
                      <a:lumMod val="50000"/>
                    </a:schemeClr>
                  </a:solidFill>
                </a:rPr>
                <a:t>6.2 culturally significant species information</a:t>
              </a:r>
            </a:p>
            <a:p>
              <a:endParaRPr lang="en-AU" sz="2800" dirty="0">
                <a:solidFill>
                  <a:schemeClr val="accent3">
                    <a:lumMod val="50000"/>
                  </a:schemeClr>
                </a:solidFill>
              </a:endParaRPr>
            </a:p>
            <a:p>
              <a:r>
                <a:rPr lang="en-AU" sz="2800" dirty="0">
                  <a:solidFill>
                    <a:schemeClr val="accent3">
                      <a:lumMod val="50000"/>
                    </a:schemeClr>
                  </a:solidFill>
                </a:rPr>
                <a:t>6.3 culturally significant location</a:t>
              </a:r>
            </a:p>
          </p:txBody>
        </p:sp>
        <p:sp>
          <p:nvSpPr>
            <p:cNvPr id="23" name="Arrow: Right 22">
              <a:extLst>
                <a:ext uri="{FF2B5EF4-FFF2-40B4-BE49-F238E27FC236}">
                  <a16:creationId xmlns:a16="http://schemas.microsoft.com/office/drawing/2014/main" id="{D7CC1F6B-DC65-0FB4-3330-E698A89AD9C5}"/>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795851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1AD7E21-E44D-745E-E414-C71C4DBF24A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3C32C3-1767-14B2-B863-4784F253A02D}"/>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CE71DAFF-2FAC-F140-C6E8-06ABA593C980}"/>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RASD Treatments</a:t>
            </a:r>
          </a:p>
        </p:txBody>
      </p:sp>
      <p:sp>
        <p:nvSpPr>
          <p:cNvPr id="4" name="TextBox 3">
            <a:extLst>
              <a:ext uri="{FF2B5EF4-FFF2-40B4-BE49-F238E27FC236}">
                <a16:creationId xmlns:a16="http://schemas.microsoft.com/office/drawing/2014/main" id="{32B5AC38-3115-1EC1-F603-5618EAE3D604}"/>
              </a:ext>
            </a:extLst>
          </p:cNvPr>
          <p:cNvSpPr txBox="1"/>
          <p:nvPr/>
        </p:nvSpPr>
        <p:spPr>
          <a:xfrm>
            <a:off x="710221" y="1528681"/>
            <a:ext cx="9512488" cy="4124206"/>
          </a:xfrm>
          <a:prstGeom prst="rect">
            <a:avLst/>
          </a:prstGeom>
          <a:noFill/>
        </p:spPr>
        <p:txBody>
          <a:bodyPr wrap="square">
            <a:spAutoFit/>
          </a:bodyPr>
          <a:lstStyle/>
          <a:p>
            <a:r>
              <a:rPr lang="en-AU" sz="2800" b="0" i="0" u="none" strike="noStrike" dirty="0">
                <a:solidFill>
                  <a:schemeClr val="bg2">
                    <a:lumMod val="25000"/>
                  </a:schemeClr>
                </a:solidFill>
                <a:effectLst/>
                <a:latin typeface="Lato" panose="020F0502020204030203" pitchFamily="34" charset="0"/>
              </a:rPr>
              <a:t>The treatment applied to the data to restrict access to information based on a reason.</a:t>
            </a:r>
          </a:p>
          <a:p>
            <a:endParaRPr lang="en-AU" sz="1000" b="0" i="0" u="none" strike="noStrike" dirty="0">
              <a:solidFill>
                <a:schemeClr val="bg2">
                  <a:lumMod val="25000"/>
                </a:schemeClr>
              </a:solidFill>
              <a:effectLst/>
              <a:latin typeface="Lato" panose="020F0502020204030203" pitchFamily="34" charset="0"/>
            </a:endParaRPr>
          </a:p>
          <a:p>
            <a:r>
              <a:rPr lang="en-AU" sz="2800" b="0" i="0" u="none" strike="noStrike" dirty="0">
                <a:solidFill>
                  <a:schemeClr val="bg2">
                    <a:lumMod val="25000"/>
                  </a:schemeClr>
                </a:solidFill>
                <a:effectLst/>
                <a:latin typeface="Lato" panose="020F0502020204030203" pitchFamily="34" charset="0"/>
              </a:rPr>
              <a:t>A  obfuscate coordinates</a:t>
            </a:r>
          </a:p>
          <a:p>
            <a:endParaRPr lang="en-AU" sz="2800" b="0" i="0" u="none" strike="noStrike" dirty="0">
              <a:solidFill>
                <a:schemeClr val="bg2">
                  <a:lumMod val="25000"/>
                </a:schemeClr>
              </a:solidFill>
              <a:effectLst/>
              <a:latin typeface="Lato" panose="020F0502020204030203" pitchFamily="34" charset="0"/>
            </a:endParaRPr>
          </a:p>
          <a:p>
            <a:r>
              <a:rPr lang="en-AU" sz="2800" b="0" i="0" u="none" strike="noStrike" dirty="0">
                <a:solidFill>
                  <a:schemeClr val="bg2">
                    <a:lumMod val="25000"/>
                  </a:schemeClr>
                </a:solidFill>
                <a:effectLst/>
                <a:latin typeface="Lato" panose="020F0502020204030203" pitchFamily="34" charset="0"/>
              </a:rPr>
              <a:t>B  generalise attributes</a:t>
            </a:r>
          </a:p>
          <a:p>
            <a:endParaRPr lang="en-AU" sz="2800" b="0" i="0" u="none" strike="noStrike" dirty="0">
              <a:solidFill>
                <a:schemeClr val="bg2">
                  <a:lumMod val="25000"/>
                </a:schemeClr>
              </a:solidFill>
              <a:effectLst/>
              <a:latin typeface="Lato" panose="020F0502020204030203" pitchFamily="34" charset="0"/>
            </a:endParaRPr>
          </a:p>
          <a:p>
            <a:r>
              <a:rPr lang="en-AU" sz="2800" b="0" i="0" u="none" strike="noStrike" dirty="0">
                <a:solidFill>
                  <a:schemeClr val="bg2">
                    <a:lumMod val="25000"/>
                  </a:schemeClr>
                </a:solidFill>
                <a:effectLst/>
                <a:latin typeface="Lato" panose="020F0502020204030203" pitchFamily="34" charset="0"/>
              </a:rPr>
              <a:t>C  generalise dates</a:t>
            </a:r>
          </a:p>
          <a:p>
            <a:endParaRPr lang="en-AU" sz="2800" b="0" i="0" u="none" strike="noStrike" dirty="0">
              <a:solidFill>
                <a:schemeClr val="bg2">
                  <a:lumMod val="25000"/>
                </a:schemeClr>
              </a:solidFill>
              <a:effectLst/>
              <a:latin typeface="Lato" panose="020F0502020204030203" pitchFamily="34" charset="0"/>
            </a:endParaRPr>
          </a:p>
          <a:p>
            <a:r>
              <a:rPr lang="en-AU" sz="2800" b="0" i="0" u="none" strike="noStrike" dirty="0">
                <a:solidFill>
                  <a:schemeClr val="bg2">
                    <a:lumMod val="25000"/>
                  </a:schemeClr>
                </a:solidFill>
                <a:effectLst/>
                <a:latin typeface="Lato" panose="020F0502020204030203" pitchFamily="34" charset="0"/>
              </a:rPr>
              <a:t>D  withhold data</a:t>
            </a:r>
            <a:endParaRPr lang="en-AU" sz="2800" dirty="0">
              <a:solidFill>
                <a:schemeClr val="bg2">
                  <a:lumMod val="25000"/>
                </a:schemeClr>
              </a:solidFill>
              <a:latin typeface="Lato" panose="020F0502020204030203" pitchFamily="34" charset="0"/>
            </a:endParaRPr>
          </a:p>
        </p:txBody>
      </p:sp>
      <p:grpSp>
        <p:nvGrpSpPr>
          <p:cNvPr id="7" name="Group 6">
            <a:extLst>
              <a:ext uri="{FF2B5EF4-FFF2-40B4-BE49-F238E27FC236}">
                <a16:creationId xmlns:a16="http://schemas.microsoft.com/office/drawing/2014/main" id="{7F0804F3-AAB7-CFC2-20C9-B26BDAA69C9F}"/>
              </a:ext>
            </a:extLst>
          </p:cNvPr>
          <p:cNvGrpSpPr/>
          <p:nvPr/>
        </p:nvGrpSpPr>
        <p:grpSpPr>
          <a:xfrm>
            <a:off x="5921658" y="2438322"/>
            <a:ext cx="10695008" cy="4124206"/>
            <a:chOff x="6146157" y="2303362"/>
            <a:chExt cx="10695008" cy="4124206"/>
          </a:xfrm>
        </p:grpSpPr>
        <p:sp>
          <p:nvSpPr>
            <p:cNvPr id="5" name="TextBox 4">
              <a:extLst>
                <a:ext uri="{FF2B5EF4-FFF2-40B4-BE49-F238E27FC236}">
                  <a16:creationId xmlns:a16="http://schemas.microsoft.com/office/drawing/2014/main" id="{2BFA7F30-73B7-9C68-14D4-046A408F203B}"/>
                </a:ext>
              </a:extLst>
            </p:cNvPr>
            <p:cNvSpPr txBox="1"/>
            <p:nvPr/>
          </p:nvSpPr>
          <p:spPr>
            <a:xfrm>
              <a:off x="8484243" y="2303362"/>
              <a:ext cx="8356922" cy="4124206"/>
            </a:xfrm>
            <a:prstGeom prst="rect">
              <a:avLst/>
            </a:prstGeom>
            <a:noFill/>
          </p:spPr>
          <p:txBody>
            <a:bodyPr wrap="square" rtlCol="0">
              <a:spAutoFit/>
            </a:bodyPr>
            <a:lstStyle/>
            <a:p>
              <a:r>
                <a:rPr lang="en-AU" sz="2800" dirty="0">
                  <a:solidFill>
                    <a:schemeClr val="accent3">
                      <a:lumMod val="50000"/>
                    </a:schemeClr>
                  </a:solidFill>
                </a:rPr>
                <a:t>Coordinates are obfuscated by generalisation, randomisation or by using polygons</a:t>
              </a:r>
            </a:p>
            <a:p>
              <a:endParaRPr lang="en-AU" sz="1000" dirty="0">
                <a:solidFill>
                  <a:schemeClr val="accent3">
                    <a:lumMod val="50000"/>
                  </a:schemeClr>
                </a:solidFill>
              </a:endParaRPr>
            </a:p>
            <a:p>
              <a:r>
                <a:rPr lang="en-AU" sz="2800" dirty="0">
                  <a:solidFill>
                    <a:schemeClr val="accent3">
                      <a:lumMod val="50000"/>
                    </a:schemeClr>
                  </a:solidFill>
                </a:rPr>
                <a:t>A.1  coordinates truncated</a:t>
              </a:r>
            </a:p>
            <a:p>
              <a:endParaRPr lang="en-AU" sz="2800" dirty="0">
                <a:solidFill>
                  <a:schemeClr val="accent3">
                    <a:lumMod val="50000"/>
                  </a:schemeClr>
                </a:solidFill>
              </a:endParaRPr>
            </a:p>
            <a:p>
              <a:r>
                <a:rPr lang="en-AU" sz="2800" dirty="0">
                  <a:solidFill>
                    <a:schemeClr val="accent3">
                      <a:lumMod val="50000"/>
                    </a:schemeClr>
                  </a:solidFill>
                </a:rPr>
                <a:t>A.2  coordinates replaced by standardised grid</a:t>
              </a:r>
            </a:p>
            <a:p>
              <a:endParaRPr lang="en-AU" sz="2800" dirty="0">
                <a:solidFill>
                  <a:schemeClr val="accent3">
                    <a:lumMod val="50000"/>
                  </a:schemeClr>
                </a:solidFill>
              </a:endParaRPr>
            </a:p>
            <a:p>
              <a:r>
                <a:rPr lang="en-AU" sz="2800" dirty="0">
                  <a:solidFill>
                    <a:schemeClr val="accent3">
                      <a:lumMod val="50000"/>
                    </a:schemeClr>
                  </a:solidFill>
                </a:rPr>
                <a:t>A.3  coordinates randomised within a polygon</a:t>
              </a:r>
            </a:p>
            <a:p>
              <a:endParaRPr lang="en-AU" sz="2800" dirty="0">
                <a:solidFill>
                  <a:schemeClr val="accent3">
                    <a:lumMod val="50000"/>
                  </a:schemeClr>
                </a:solidFill>
              </a:endParaRPr>
            </a:p>
            <a:p>
              <a:r>
                <a:rPr lang="en-AU" sz="2800" dirty="0">
                  <a:solidFill>
                    <a:schemeClr val="accent3">
                      <a:lumMod val="50000"/>
                    </a:schemeClr>
                  </a:solidFill>
                </a:rPr>
                <a:t>A.4  coordinates replaced by a centroid</a:t>
              </a:r>
            </a:p>
          </p:txBody>
        </p:sp>
        <p:sp>
          <p:nvSpPr>
            <p:cNvPr id="6" name="Arrow: Right 5">
              <a:extLst>
                <a:ext uri="{FF2B5EF4-FFF2-40B4-BE49-F238E27FC236}">
                  <a16:creationId xmlns:a16="http://schemas.microsoft.com/office/drawing/2014/main" id="{2B48394C-9193-CA6A-CD85-931C503A501A}"/>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grpSp>
        <p:nvGrpSpPr>
          <p:cNvPr id="9" name="Group 8">
            <a:extLst>
              <a:ext uri="{FF2B5EF4-FFF2-40B4-BE49-F238E27FC236}">
                <a16:creationId xmlns:a16="http://schemas.microsoft.com/office/drawing/2014/main" id="{54D8CAE8-043F-7039-E764-8DE697408DF5}"/>
              </a:ext>
            </a:extLst>
          </p:cNvPr>
          <p:cNvGrpSpPr/>
          <p:nvPr/>
        </p:nvGrpSpPr>
        <p:grpSpPr>
          <a:xfrm>
            <a:off x="6282241" y="3287727"/>
            <a:ext cx="10604340" cy="2831544"/>
            <a:chOff x="6146157" y="2339039"/>
            <a:chExt cx="10604340" cy="2831544"/>
          </a:xfrm>
        </p:grpSpPr>
        <p:sp>
          <p:nvSpPr>
            <p:cNvPr id="10" name="TextBox 9">
              <a:extLst>
                <a:ext uri="{FF2B5EF4-FFF2-40B4-BE49-F238E27FC236}">
                  <a16:creationId xmlns:a16="http://schemas.microsoft.com/office/drawing/2014/main" id="{BB3D2F32-4CD3-EE45-669A-B2C2F4DECFFB}"/>
                </a:ext>
              </a:extLst>
            </p:cNvPr>
            <p:cNvSpPr txBox="1"/>
            <p:nvPr/>
          </p:nvSpPr>
          <p:spPr>
            <a:xfrm>
              <a:off x="8393575" y="2339039"/>
              <a:ext cx="8356922" cy="2831544"/>
            </a:xfrm>
            <a:prstGeom prst="rect">
              <a:avLst/>
            </a:prstGeom>
            <a:noFill/>
          </p:spPr>
          <p:txBody>
            <a:bodyPr wrap="square" rtlCol="0">
              <a:spAutoFit/>
            </a:bodyPr>
            <a:lstStyle/>
            <a:p>
              <a:r>
                <a:rPr lang="en-AU" sz="2800" dirty="0">
                  <a:solidFill>
                    <a:schemeClr val="accent3">
                      <a:lumMod val="50000"/>
                    </a:schemeClr>
                  </a:solidFill>
                </a:rPr>
                <a:t>Restricted attributes are generalised to a higher level where these attributes could expose information about a restricted access species.</a:t>
              </a:r>
            </a:p>
            <a:p>
              <a:endParaRPr lang="en-AU" sz="1000" dirty="0">
                <a:solidFill>
                  <a:schemeClr val="accent3">
                    <a:lumMod val="50000"/>
                  </a:schemeClr>
                </a:solidFill>
              </a:endParaRPr>
            </a:p>
            <a:p>
              <a:r>
                <a:rPr lang="en-AU" sz="2800" dirty="0">
                  <a:solidFill>
                    <a:schemeClr val="accent3">
                      <a:lumMod val="50000"/>
                    </a:schemeClr>
                  </a:solidFill>
                </a:rPr>
                <a:t>B.1  generalise taxon level</a:t>
              </a:r>
            </a:p>
            <a:p>
              <a:endParaRPr lang="en-AU" sz="2800" dirty="0">
                <a:solidFill>
                  <a:schemeClr val="accent3">
                    <a:lumMod val="50000"/>
                  </a:schemeClr>
                </a:solidFill>
              </a:endParaRPr>
            </a:p>
            <a:p>
              <a:r>
                <a:rPr lang="en-AU" sz="2800" dirty="0">
                  <a:solidFill>
                    <a:schemeClr val="accent3">
                      <a:lumMod val="50000"/>
                    </a:schemeClr>
                  </a:solidFill>
                </a:rPr>
                <a:t>B.2  generalise locality</a:t>
              </a:r>
            </a:p>
          </p:txBody>
        </p:sp>
        <p:sp>
          <p:nvSpPr>
            <p:cNvPr id="11" name="Arrow: Right 10">
              <a:extLst>
                <a:ext uri="{FF2B5EF4-FFF2-40B4-BE49-F238E27FC236}">
                  <a16:creationId xmlns:a16="http://schemas.microsoft.com/office/drawing/2014/main" id="{98CB5D2D-4AC0-ABEB-B051-7383F6618893}"/>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grpSp>
        <p:nvGrpSpPr>
          <p:cNvPr id="12" name="Group 11">
            <a:extLst>
              <a:ext uri="{FF2B5EF4-FFF2-40B4-BE49-F238E27FC236}">
                <a16:creationId xmlns:a16="http://schemas.microsoft.com/office/drawing/2014/main" id="{9C53218B-8A5A-CBF5-45C8-40B3D8784320}"/>
              </a:ext>
            </a:extLst>
          </p:cNvPr>
          <p:cNvGrpSpPr/>
          <p:nvPr/>
        </p:nvGrpSpPr>
        <p:grpSpPr>
          <a:xfrm>
            <a:off x="6761866" y="4132035"/>
            <a:ext cx="10604340" cy="2831544"/>
            <a:chOff x="6146157" y="2339039"/>
            <a:chExt cx="10604340" cy="2831544"/>
          </a:xfrm>
        </p:grpSpPr>
        <p:sp>
          <p:nvSpPr>
            <p:cNvPr id="13" name="TextBox 12">
              <a:extLst>
                <a:ext uri="{FF2B5EF4-FFF2-40B4-BE49-F238E27FC236}">
                  <a16:creationId xmlns:a16="http://schemas.microsoft.com/office/drawing/2014/main" id="{7EA8422B-AE16-2ABA-0C6D-67B17C16314F}"/>
                </a:ext>
              </a:extLst>
            </p:cNvPr>
            <p:cNvSpPr txBox="1"/>
            <p:nvPr/>
          </p:nvSpPr>
          <p:spPr>
            <a:xfrm>
              <a:off x="8393575" y="2339039"/>
              <a:ext cx="8356922" cy="2831544"/>
            </a:xfrm>
            <a:prstGeom prst="rect">
              <a:avLst/>
            </a:prstGeom>
            <a:noFill/>
          </p:spPr>
          <p:txBody>
            <a:bodyPr wrap="square" rtlCol="0">
              <a:spAutoFit/>
            </a:bodyPr>
            <a:lstStyle/>
            <a:p>
              <a:r>
                <a:rPr lang="en-AU" sz="2800" dirty="0">
                  <a:solidFill>
                    <a:schemeClr val="accent3">
                      <a:lumMod val="50000"/>
                    </a:schemeClr>
                  </a:solidFill>
                </a:rPr>
                <a:t>Dates are generalised to a less precise level where these dates could expose information about a restricted access species via inference.</a:t>
              </a:r>
            </a:p>
            <a:p>
              <a:endParaRPr lang="en-AU" sz="1000" dirty="0">
                <a:solidFill>
                  <a:schemeClr val="accent3">
                    <a:lumMod val="50000"/>
                  </a:schemeClr>
                </a:solidFill>
              </a:endParaRPr>
            </a:p>
            <a:p>
              <a:r>
                <a:rPr lang="en-AU" sz="2800" dirty="0">
                  <a:solidFill>
                    <a:schemeClr val="accent3">
                      <a:lumMod val="50000"/>
                    </a:schemeClr>
                  </a:solidFill>
                </a:rPr>
                <a:t>C.1  generalised date to month</a:t>
              </a:r>
            </a:p>
            <a:p>
              <a:r>
                <a:rPr lang="en-AU" sz="2800" dirty="0">
                  <a:solidFill>
                    <a:schemeClr val="accent3">
                      <a:lumMod val="50000"/>
                    </a:schemeClr>
                  </a:solidFill>
                </a:rPr>
                <a:t>C.2  generalised date to year</a:t>
              </a:r>
            </a:p>
            <a:p>
              <a:r>
                <a:rPr lang="en-AU" sz="2800" dirty="0">
                  <a:solidFill>
                    <a:schemeClr val="accent3">
                      <a:lumMod val="50000"/>
                    </a:schemeClr>
                  </a:solidFill>
                </a:rPr>
                <a:t>C.3  generalised date to decade</a:t>
              </a:r>
            </a:p>
          </p:txBody>
        </p:sp>
        <p:sp>
          <p:nvSpPr>
            <p:cNvPr id="14" name="Arrow: Right 13">
              <a:extLst>
                <a:ext uri="{FF2B5EF4-FFF2-40B4-BE49-F238E27FC236}">
                  <a16:creationId xmlns:a16="http://schemas.microsoft.com/office/drawing/2014/main" id="{0FB3DDD3-B0B1-6C23-A124-96B3084B72ED}"/>
                </a:ext>
              </a:extLst>
            </p:cNvPr>
            <p:cNvSpPr/>
            <p:nvPr/>
          </p:nvSpPr>
          <p:spPr>
            <a:xfrm>
              <a:off x="6146157" y="2488557"/>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grpSp>
        <p:nvGrpSpPr>
          <p:cNvPr id="15" name="Group 14">
            <a:extLst>
              <a:ext uri="{FF2B5EF4-FFF2-40B4-BE49-F238E27FC236}">
                <a16:creationId xmlns:a16="http://schemas.microsoft.com/office/drawing/2014/main" id="{BF3BA17A-8F4B-5223-049F-E0E00A610C2E}"/>
              </a:ext>
            </a:extLst>
          </p:cNvPr>
          <p:cNvGrpSpPr/>
          <p:nvPr/>
        </p:nvGrpSpPr>
        <p:grpSpPr>
          <a:xfrm>
            <a:off x="7240127" y="3577471"/>
            <a:ext cx="10666793" cy="6709529"/>
            <a:chOff x="6083704" y="2339039"/>
            <a:chExt cx="10666793" cy="6709529"/>
          </a:xfrm>
        </p:grpSpPr>
        <p:sp>
          <p:nvSpPr>
            <p:cNvPr id="16" name="TextBox 15">
              <a:extLst>
                <a:ext uri="{FF2B5EF4-FFF2-40B4-BE49-F238E27FC236}">
                  <a16:creationId xmlns:a16="http://schemas.microsoft.com/office/drawing/2014/main" id="{6870D784-0A1B-DE92-BF45-235AC5EDDDA2}"/>
                </a:ext>
              </a:extLst>
            </p:cNvPr>
            <p:cNvSpPr txBox="1"/>
            <p:nvPr/>
          </p:nvSpPr>
          <p:spPr>
            <a:xfrm>
              <a:off x="8393575" y="2339039"/>
              <a:ext cx="8356922" cy="6709529"/>
            </a:xfrm>
            <a:prstGeom prst="rect">
              <a:avLst/>
            </a:prstGeom>
            <a:noFill/>
          </p:spPr>
          <p:txBody>
            <a:bodyPr wrap="square" rtlCol="0">
              <a:spAutoFit/>
            </a:bodyPr>
            <a:lstStyle/>
            <a:p>
              <a:r>
                <a:rPr lang="en-AU" sz="2800" dirty="0">
                  <a:solidFill>
                    <a:schemeClr val="accent3">
                      <a:lumMod val="50000"/>
                    </a:schemeClr>
                  </a:solidFill>
                </a:rPr>
                <a:t>Withhold information when generalising (obfuscating) is not sufficient to protect the species, personal integrity, survey integrity etc. as specified in the RASD reason category.</a:t>
              </a:r>
            </a:p>
            <a:p>
              <a:endParaRPr lang="en-AU" sz="1000" dirty="0">
                <a:solidFill>
                  <a:schemeClr val="accent3">
                    <a:lumMod val="50000"/>
                  </a:schemeClr>
                </a:solidFill>
              </a:endParaRPr>
            </a:p>
            <a:p>
              <a:r>
                <a:rPr lang="en-AU" sz="2800" dirty="0">
                  <a:solidFill>
                    <a:schemeClr val="accent3">
                      <a:lumMod val="50000"/>
                    </a:schemeClr>
                  </a:solidFill>
                </a:rPr>
                <a:t>D.1  withhold records</a:t>
              </a:r>
            </a:p>
            <a:p>
              <a:endParaRPr lang="en-AU" sz="2800" dirty="0">
                <a:solidFill>
                  <a:schemeClr val="accent3">
                    <a:lumMod val="50000"/>
                  </a:schemeClr>
                </a:solidFill>
              </a:endParaRPr>
            </a:p>
            <a:p>
              <a:r>
                <a:rPr lang="en-AU" sz="2800" dirty="0">
                  <a:solidFill>
                    <a:schemeClr val="accent3">
                      <a:lumMod val="50000"/>
                    </a:schemeClr>
                  </a:solidFill>
                </a:rPr>
                <a:t>D.2  withhold attributes</a:t>
              </a:r>
            </a:p>
            <a:p>
              <a:endParaRPr lang="en-AU" sz="2800" dirty="0">
                <a:solidFill>
                  <a:schemeClr val="accent3">
                    <a:lumMod val="50000"/>
                  </a:schemeClr>
                </a:solidFill>
              </a:endParaRPr>
            </a:p>
            <a:p>
              <a:r>
                <a:rPr lang="en-AU" sz="2800" dirty="0">
                  <a:solidFill>
                    <a:schemeClr val="accent3">
                      <a:lumMod val="50000"/>
                    </a:schemeClr>
                  </a:solidFill>
                </a:rPr>
                <a:t>D.3  embargo dataset</a:t>
              </a:r>
            </a:p>
            <a:p>
              <a:endParaRPr lang="en-AU" sz="2800" dirty="0">
                <a:solidFill>
                  <a:schemeClr val="accent3">
                    <a:lumMod val="50000"/>
                  </a:schemeClr>
                </a:solidFill>
              </a:endParaRPr>
            </a:p>
            <a:p>
              <a:r>
                <a:rPr lang="en-AU" sz="2800" dirty="0">
                  <a:solidFill>
                    <a:schemeClr val="accent3">
                      <a:lumMod val="50000"/>
                    </a:schemeClr>
                  </a:solidFill>
                </a:rPr>
                <a:t>D.4  embargo record</a:t>
              </a:r>
            </a:p>
            <a:p>
              <a:endParaRPr lang="en-AU" sz="2800" dirty="0">
                <a:solidFill>
                  <a:schemeClr val="accent3">
                    <a:lumMod val="50000"/>
                  </a:schemeClr>
                </a:solidFill>
              </a:endParaRPr>
            </a:p>
            <a:p>
              <a:r>
                <a:rPr lang="en-AU" sz="2800" dirty="0">
                  <a:solidFill>
                    <a:schemeClr val="accent3">
                      <a:lumMod val="50000"/>
                    </a:schemeClr>
                  </a:solidFill>
                </a:rPr>
                <a:t>D.5  embargo attributes</a:t>
              </a:r>
            </a:p>
            <a:p>
              <a:endParaRPr lang="en-AU" sz="2800" dirty="0">
                <a:solidFill>
                  <a:schemeClr val="accent3">
                    <a:lumMod val="50000"/>
                  </a:schemeClr>
                </a:solidFill>
              </a:endParaRPr>
            </a:p>
            <a:p>
              <a:r>
                <a:rPr lang="en-AU" sz="2800" dirty="0">
                  <a:solidFill>
                    <a:schemeClr val="accent3">
                      <a:lumMod val="50000"/>
                    </a:schemeClr>
                  </a:solidFill>
                </a:rPr>
                <a:t>D.6  withhold dataset</a:t>
              </a:r>
            </a:p>
          </p:txBody>
        </p:sp>
        <p:sp>
          <p:nvSpPr>
            <p:cNvPr id="17" name="Arrow: Right 16">
              <a:extLst>
                <a:ext uri="{FF2B5EF4-FFF2-40B4-BE49-F238E27FC236}">
                  <a16:creationId xmlns:a16="http://schemas.microsoft.com/office/drawing/2014/main" id="{6F878D14-B967-946F-97B9-A68EF79FCC81}"/>
                </a:ext>
              </a:extLst>
            </p:cNvPr>
            <p:cNvSpPr/>
            <p:nvPr/>
          </p:nvSpPr>
          <p:spPr>
            <a:xfrm>
              <a:off x="6083704" y="3889059"/>
              <a:ext cx="2013995" cy="439838"/>
            </a:xfrm>
            <a:prstGeom prst="rightArrow">
              <a:avLst/>
            </a:prstGeom>
          </p:spPr>
          <p:style>
            <a:lnRef idx="2">
              <a:schemeClr val="accent3">
                <a:shade val="15000"/>
              </a:schemeClr>
            </a:lnRef>
            <a:fillRef idx="1003">
              <a:schemeClr val="lt2"/>
            </a:fillRef>
            <a:effectRef idx="0">
              <a:schemeClr val="accent3"/>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319470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057A3E9-C94F-22B2-74C4-090029FE3C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19D03A-8248-3E2C-8183-EADB3137539B}"/>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0D9A2119-957D-C877-C84D-2E1302B1C306}"/>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Treatments and Reasons</a:t>
            </a:r>
          </a:p>
        </p:txBody>
      </p:sp>
      <p:pic>
        <p:nvPicPr>
          <p:cNvPr id="11" name="Picture 10">
            <a:extLst>
              <a:ext uri="{FF2B5EF4-FFF2-40B4-BE49-F238E27FC236}">
                <a16:creationId xmlns:a16="http://schemas.microsoft.com/office/drawing/2014/main" id="{84345C22-37FA-ABD9-010B-296248F4FBB1}"/>
              </a:ext>
            </a:extLst>
          </p:cNvPr>
          <p:cNvPicPr>
            <a:picLocks noChangeAspect="1"/>
          </p:cNvPicPr>
          <p:nvPr/>
        </p:nvPicPr>
        <p:blipFill>
          <a:blip r:embed="rId4"/>
          <a:stretch>
            <a:fillRect/>
          </a:stretch>
        </p:blipFill>
        <p:spPr>
          <a:xfrm>
            <a:off x="7651966" y="1525417"/>
            <a:ext cx="10298416" cy="8041664"/>
          </a:xfrm>
          <a:prstGeom prst="rect">
            <a:avLst/>
          </a:prstGeom>
          <a:ln>
            <a:solidFill>
              <a:schemeClr val="bg2">
                <a:lumMod val="25000"/>
              </a:schemeClr>
            </a:solidFill>
          </a:ln>
        </p:spPr>
      </p:pic>
      <p:pic>
        <p:nvPicPr>
          <p:cNvPr id="13" name="Picture 12">
            <a:extLst>
              <a:ext uri="{FF2B5EF4-FFF2-40B4-BE49-F238E27FC236}">
                <a16:creationId xmlns:a16="http://schemas.microsoft.com/office/drawing/2014/main" id="{B651F3D5-3729-F95F-6F66-F39B4D28E808}"/>
              </a:ext>
            </a:extLst>
          </p:cNvPr>
          <p:cNvPicPr>
            <a:picLocks noChangeAspect="1"/>
          </p:cNvPicPr>
          <p:nvPr/>
        </p:nvPicPr>
        <p:blipFill>
          <a:blip r:embed="rId5"/>
          <a:stretch>
            <a:fillRect/>
          </a:stretch>
        </p:blipFill>
        <p:spPr>
          <a:xfrm>
            <a:off x="317822" y="2037266"/>
            <a:ext cx="7168415" cy="7017966"/>
          </a:xfrm>
          <a:prstGeom prst="rect">
            <a:avLst/>
          </a:prstGeom>
          <a:ln>
            <a:solidFill>
              <a:schemeClr val="bg2">
                <a:lumMod val="25000"/>
              </a:schemeClr>
            </a:solidFill>
          </a:ln>
        </p:spPr>
      </p:pic>
    </p:spTree>
    <p:extLst>
      <p:ext uri="{BB962C8B-B14F-4D97-AF65-F5344CB8AC3E}">
        <p14:creationId xmlns:p14="http://schemas.microsoft.com/office/powerpoint/2010/main" val="16150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09EDBCB-85F8-76D8-3FBE-73467C54E2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B1E3B36-2A0D-3C71-1E96-8CD601995325}"/>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A440AED8-101F-9BF3-FF78-A24DDBF7EA08}"/>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Data models </a:t>
            </a:r>
            <a:r>
              <a:rPr lang="en-AU" sz="4800" spc="99" dirty="0" err="1">
                <a:solidFill>
                  <a:schemeClr val="accent3">
                    <a:lumMod val="50000"/>
                  </a:schemeClr>
                </a:solidFill>
                <a:latin typeface="Lato Bold Italics"/>
              </a:rPr>
              <a:t>DwC</a:t>
            </a:r>
            <a:r>
              <a:rPr lang="en-AU" sz="4800" spc="99" dirty="0">
                <a:solidFill>
                  <a:schemeClr val="accent3">
                    <a:lumMod val="50000"/>
                  </a:schemeClr>
                </a:solidFill>
                <a:latin typeface="Lato Bold Italics"/>
              </a:rPr>
              <a:t> Native </a:t>
            </a:r>
            <a:r>
              <a:rPr lang="en-AU" sz="4800" spc="99" dirty="0" err="1">
                <a:solidFill>
                  <a:schemeClr val="accent3">
                    <a:lumMod val="50000"/>
                  </a:schemeClr>
                </a:solidFill>
                <a:latin typeface="Lato Bold Italics"/>
              </a:rPr>
              <a:t>DwC</a:t>
            </a:r>
            <a:r>
              <a:rPr lang="en-AU" sz="4800" spc="99" dirty="0">
                <a:solidFill>
                  <a:schemeClr val="accent3">
                    <a:lumMod val="50000"/>
                  </a:schemeClr>
                </a:solidFill>
                <a:latin typeface="Lato Bold Italics"/>
              </a:rPr>
              <a:t> Data Package</a:t>
            </a:r>
          </a:p>
        </p:txBody>
      </p:sp>
      <p:sp>
        <p:nvSpPr>
          <p:cNvPr id="5" name="TextBox 4">
            <a:extLst>
              <a:ext uri="{FF2B5EF4-FFF2-40B4-BE49-F238E27FC236}">
                <a16:creationId xmlns:a16="http://schemas.microsoft.com/office/drawing/2014/main" id="{DED2AF22-8DBD-9518-903A-A7282D2B5FBC}"/>
              </a:ext>
            </a:extLst>
          </p:cNvPr>
          <p:cNvSpPr txBox="1"/>
          <p:nvPr/>
        </p:nvSpPr>
        <p:spPr>
          <a:xfrm>
            <a:off x="3437120" y="4425004"/>
            <a:ext cx="9735406" cy="1477328"/>
          </a:xfrm>
          <a:prstGeom prst="rect">
            <a:avLst/>
          </a:prstGeom>
          <a:noFill/>
        </p:spPr>
        <p:txBody>
          <a:bodyPr wrap="square">
            <a:spAutoFit/>
          </a:bodyPr>
          <a:lstStyle/>
          <a:p>
            <a:pPr>
              <a:buNone/>
            </a:pPr>
            <a:br>
              <a:rPr lang="en-AU" b="0">
                <a:effectLst/>
              </a:rPr>
            </a:br>
            <a:endParaRPr lang="en-AU" b="0">
              <a:effectLst/>
            </a:endParaRPr>
          </a:p>
          <a:p>
            <a:pPr rtl="0">
              <a:buNone/>
            </a:pPr>
            <a:r>
              <a:rPr lang="en-AU" sz="1800" b="0" i="0" u="sng" strike="noStrike">
                <a:solidFill>
                  <a:srgbClr val="0097A7"/>
                </a:solidFill>
                <a:effectLst/>
                <a:latin typeface="Open Sans" panose="020B0606030504020204" pitchFamily="34" charset="0"/>
                <a:hlinkClick r:id="rId4"/>
              </a:rPr>
              <a:t>https://gbif.github.io/dwc-dp/qrg/#dwca</a:t>
            </a:r>
            <a:r>
              <a:rPr lang="en-AU" sz="1800" b="0" i="0" u="none" strike="noStrike">
                <a:solidFill>
                  <a:srgbClr val="595959"/>
                </a:solidFill>
                <a:effectLst/>
                <a:latin typeface="Open Sans" panose="020B0606030504020204" pitchFamily="34" charset="0"/>
              </a:rPr>
              <a:t>  </a:t>
            </a:r>
            <a:endParaRPr lang="en-AU" b="0">
              <a:effectLst/>
            </a:endParaRPr>
          </a:p>
          <a:p>
            <a:pPr>
              <a:buNone/>
            </a:pPr>
            <a:br>
              <a:rPr lang="en-AU"/>
            </a:br>
            <a:endParaRPr lang="en-AU"/>
          </a:p>
        </p:txBody>
      </p:sp>
      <p:pic>
        <p:nvPicPr>
          <p:cNvPr id="6" name="Picture 5">
            <a:extLst>
              <a:ext uri="{FF2B5EF4-FFF2-40B4-BE49-F238E27FC236}">
                <a16:creationId xmlns:a16="http://schemas.microsoft.com/office/drawing/2014/main" id="{BFD79D73-0367-01A9-B508-3C440A529E04}"/>
              </a:ext>
            </a:extLst>
          </p:cNvPr>
          <p:cNvPicPr>
            <a:picLocks noChangeAspect="1"/>
          </p:cNvPicPr>
          <p:nvPr/>
        </p:nvPicPr>
        <p:blipFill>
          <a:blip r:embed="rId5"/>
          <a:stretch>
            <a:fillRect/>
          </a:stretch>
        </p:blipFill>
        <p:spPr>
          <a:xfrm>
            <a:off x="1195475" y="1194765"/>
            <a:ext cx="15427498" cy="8582436"/>
          </a:xfrm>
          <a:prstGeom prst="rect">
            <a:avLst/>
          </a:prstGeom>
        </p:spPr>
      </p:pic>
      <p:sp>
        <p:nvSpPr>
          <p:cNvPr id="9" name="TextBox 8">
            <a:extLst>
              <a:ext uri="{FF2B5EF4-FFF2-40B4-BE49-F238E27FC236}">
                <a16:creationId xmlns:a16="http://schemas.microsoft.com/office/drawing/2014/main" id="{F57BB340-9736-499B-3CAE-7C5265982220}"/>
              </a:ext>
            </a:extLst>
          </p:cNvPr>
          <p:cNvSpPr txBox="1"/>
          <p:nvPr/>
        </p:nvSpPr>
        <p:spPr>
          <a:xfrm>
            <a:off x="13577958" y="9761847"/>
            <a:ext cx="4710042" cy="369332"/>
          </a:xfrm>
          <a:prstGeom prst="rect">
            <a:avLst/>
          </a:prstGeom>
          <a:noFill/>
        </p:spPr>
        <p:txBody>
          <a:bodyPr wrap="square">
            <a:spAutoFit/>
          </a:bodyPr>
          <a:lstStyle/>
          <a:p>
            <a:pPr rtl="0">
              <a:buNone/>
            </a:pPr>
            <a:r>
              <a:rPr lang="en-AU" sz="1800" b="0" i="0" u="sng" strike="noStrike" dirty="0">
                <a:solidFill>
                  <a:srgbClr val="0097A7"/>
                </a:solidFill>
                <a:effectLst/>
                <a:latin typeface="Open Sans" panose="020B0606030504020204" pitchFamily="34" charset="0"/>
                <a:hlinkClick r:id="rId4"/>
              </a:rPr>
              <a:t>https://gbif.github.io/dwc-dp/qrg/#dwca</a:t>
            </a:r>
            <a:r>
              <a:rPr lang="en-AU" sz="1800" b="0" i="0" u="none" strike="noStrike" dirty="0">
                <a:solidFill>
                  <a:srgbClr val="595959"/>
                </a:solidFill>
                <a:effectLst/>
                <a:latin typeface="Open Sans" panose="020B0606030504020204" pitchFamily="34" charset="0"/>
              </a:rPr>
              <a:t>  </a:t>
            </a:r>
            <a:endParaRPr lang="en-AU" b="0" dirty="0">
              <a:effectLst/>
            </a:endParaRPr>
          </a:p>
        </p:txBody>
      </p:sp>
    </p:spTree>
    <p:extLst>
      <p:ext uri="{BB962C8B-B14F-4D97-AF65-F5344CB8AC3E}">
        <p14:creationId xmlns:p14="http://schemas.microsoft.com/office/powerpoint/2010/main" val="3057766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6E36BC-1663-B824-47FE-D3648E472E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568D42A-3345-950F-E5A3-04D3F08B7D41}"/>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3D236160-EADF-980D-AD88-31321A5AA483}"/>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RASD schema</a:t>
            </a:r>
          </a:p>
        </p:txBody>
      </p:sp>
      <p:pic>
        <p:nvPicPr>
          <p:cNvPr id="4" name="Picture 3">
            <a:extLst>
              <a:ext uri="{FF2B5EF4-FFF2-40B4-BE49-F238E27FC236}">
                <a16:creationId xmlns:a16="http://schemas.microsoft.com/office/drawing/2014/main" id="{CC351C8C-2AF0-40FB-9FF3-0B0AB0651134}"/>
              </a:ext>
            </a:extLst>
          </p:cNvPr>
          <p:cNvPicPr>
            <a:picLocks noChangeAspect="1"/>
          </p:cNvPicPr>
          <p:nvPr/>
        </p:nvPicPr>
        <p:blipFill>
          <a:blip r:embed="rId4"/>
          <a:stretch>
            <a:fillRect/>
          </a:stretch>
        </p:blipFill>
        <p:spPr>
          <a:xfrm>
            <a:off x="4333085" y="1513007"/>
            <a:ext cx="9333068" cy="8317892"/>
          </a:xfrm>
          <a:prstGeom prst="rect">
            <a:avLst/>
          </a:prstGeom>
          <a:ln>
            <a:solidFill>
              <a:schemeClr val="bg2">
                <a:lumMod val="25000"/>
              </a:schemeClr>
            </a:solidFill>
          </a:ln>
        </p:spPr>
      </p:pic>
    </p:spTree>
    <p:extLst>
      <p:ext uri="{BB962C8B-B14F-4D97-AF65-F5344CB8AC3E}">
        <p14:creationId xmlns:p14="http://schemas.microsoft.com/office/powerpoint/2010/main" val="2345394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F4A2F5D-AFC0-74BF-9656-994C8BB5D83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4B71865-0082-E839-0252-B6A0F6C0403D}"/>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D41AD53C-E6F1-3084-669C-CDFF530B23C5}"/>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a:solidFill>
                  <a:schemeClr val="accent3">
                    <a:lumMod val="50000"/>
                  </a:schemeClr>
                </a:solidFill>
                <a:latin typeface="Lato Bold Italics"/>
              </a:rPr>
              <a:t>RASD schema</a:t>
            </a:r>
          </a:p>
        </p:txBody>
      </p:sp>
      <p:graphicFrame>
        <p:nvGraphicFramePr>
          <p:cNvPr id="5" name="Table 4">
            <a:extLst>
              <a:ext uri="{FF2B5EF4-FFF2-40B4-BE49-F238E27FC236}">
                <a16:creationId xmlns:a16="http://schemas.microsoft.com/office/drawing/2014/main" id="{E737FCA9-CA83-30DD-F380-BB5D9E341A0B}"/>
              </a:ext>
            </a:extLst>
          </p:cNvPr>
          <p:cNvGraphicFramePr>
            <a:graphicFrameLocks noGrp="1"/>
          </p:cNvGraphicFramePr>
          <p:nvPr/>
        </p:nvGraphicFramePr>
        <p:xfrm>
          <a:off x="1037230" y="1290933"/>
          <a:ext cx="15995177" cy="8539966"/>
        </p:xfrm>
        <a:graphic>
          <a:graphicData uri="http://schemas.openxmlformats.org/drawingml/2006/table">
            <a:tbl>
              <a:tblPr/>
              <a:tblGrid>
                <a:gridCol w="3443161">
                  <a:extLst>
                    <a:ext uri="{9D8B030D-6E8A-4147-A177-3AD203B41FA5}">
                      <a16:colId xmlns:a16="http://schemas.microsoft.com/office/drawing/2014/main" val="536903730"/>
                    </a:ext>
                  </a:extLst>
                </a:gridCol>
                <a:gridCol w="6983728">
                  <a:extLst>
                    <a:ext uri="{9D8B030D-6E8A-4147-A177-3AD203B41FA5}">
                      <a16:colId xmlns:a16="http://schemas.microsoft.com/office/drawing/2014/main" val="471058780"/>
                    </a:ext>
                  </a:extLst>
                </a:gridCol>
                <a:gridCol w="5568288">
                  <a:extLst>
                    <a:ext uri="{9D8B030D-6E8A-4147-A177-3AD203B41FA5}">
                      <a16:colId xmlns:a16="http://schemas.microsoft.com/office/drawing/2014/main" val="1836728190"/>
                    </a:ext>
                  </a:extLst>
                </a:gridCol>
              </a:tblGrid>
              <a:tr h="643060">
                <a:tc>
                  <a:txBody>
                    <a:bodyPr/>
                    <a:lstStyle/>
                    <a:p>
                      <a:pPr rtl="0" fontAlgn="t">
                        <a:spcBef>
                          <a:spcPts val="1200"/>
                        </a:spcBef>
                        <a:buNone/>
                      </a:pPr>
                      <a:r>
                        <a:rPr lang="en-AU" sz="2400" b="1" i="0" u="none" strike="noStrike" dirty="0">
                          <a:solidFill>
                            <a:schemeClr val="bg2">
                              <a:lumMod val="25000"/>
                            </a:schemeClr>
                          </a:solidFill>
                          <a:effectLst/>
                          <a:latin typeface="Open Sans" panose="020B0606030504020204" pitchFamily="34" charset="0"/>
                        </a:rPr>
                        <a:t>Field Name</a:t>
                      </a:r>
                      <a:endParaRPr lang="en-AU" sz="36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t">
                        <a:spcBef>
                          <a:spcPts val="1200"/>
                        </a:spcBef>
                        <a:buNone/>
                      </a:pPr>
                      <a:r>
                        <a:rPr lang="en-AU" sz="2400" b="1" i="0" u="none" strike="noStrike" dirty="0">
                          <a:solidFill>
                            <a:schemeClr val="bg2">
                              <a:lumMod val="25000"/>
                            </a:schemeClr>
                          </a:solidFill>
                          <a:effectLst/>
                          <a:latin typeface="Open Sans" panose="020B0606030504020204" pitchFamily="34" charset="0"/>
                        </a:rPr>
                        <a:t>Definition</a:t>
                      </a:r>
                      <a:endParaRPr lang="en-AU" sz="36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t">
                        <a:spcBef>
                          <a:spcPts val="1200"/>
                        </a:spcBef>
                        <a:buNone/>
                      </a:pPr>
                      <a:r>
                        <a:rPr lang="en-AU" sz="2400" b="1" i="0" u="none" strike="noStrike" dirty="0">
                          <a:solidFill>
                            <a:schemeClr val="bg2">
                              <a:lumMod val="25000"/>
                            </a:schemeClr>
                          </a:solidFill>
                          <a:effectLst/>
                          <a:latin typeface="Open Sans" panose="020B0606030504020204" pitchFamily="34" charset="0"/>
                        </a:rPr>
                        <a:t>Potential Values</a:t>
                      </a:r>
                      <a:endParaRPr lang="en-AU" sz="36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0100188"/>
                  </a:ext>
                </a:extLst>
              </a:tr>
              <a:tr h="643060">
                <a:tc>
                  <a:txBody>
                    <a:bodyPr/>
                    <a:lstStyle/>
                    <a:p>
                      <a:pPr rtl="0" fontAlgn="t">
                        <a:spcBef>
                          <a:spcPts val="1200"/>
                        </a:spcBef>
                        <a:buNone/>
                      </a:pPr>
                      <a:r>
                        <a:rPr lang="en-AU" sz="2000" b="0" i="0" u="none" strike="noStrike" dirty="0" err="1">
                          <a:solidFill>
                            <a:schemeClr val="bg2">
                              <a:lumMod val="25000"/>
                            </a:schemeClr>
                          </a:solidFill>
                          <a:effectLst/>
                          <a:latin typeface="Open Sans" panose="020B0606030504020204" pitchFamily="34" charset="0"/>
                        </a:rPr>
                        <a:t>treatmentID</a:t>
                      </a:r>
                      <a:endParaRPr lang="en-AU"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An identifier for a </a:t>
                      </a:r>
                      <a:r>
                        <a:rPr lang="en-US" sz="2000" b="0" i="0" u="none" strike="noStrike" dirty="0" err="1">
                          <a:solidFill>
                            <a:schemeClr val="bg2">
                              <a:lumMod val="25000"/>
                            </a:schemeClr>
                          </a:solidFill>
                          <a:effectLst/>
                          <a:latin typeface="Open Sans" panose="020B0606030504020204" pitchFamily="34" charset="0"/>
                        </a:rPr>
                        <a:t>dwc:Treatment</a:t>
                      </a:r>
                      <a:endParaRPr lang="en-AU"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AU" sz="2000" b="0" i="0" u="none" strike="noStrike" dirty="0">
                          <a:solidFill>
                            <a:schemeClr val="bg2">
                              <a:lumMod val="25000"/>
                            </a:schemeClr>
                          </a:solidFill>
                          <a:effectLst/>
                          <a:latin typeface="Open Sans" panose="020B0606030504020204" pitchFamily="34" charset="0"/>
                        </a:rPr>
                        <a:t>Integers, UUIDs</a:t>
                      </a:r>
                      <a:endParaRPr lang="en-AU"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5699839"/>
                  </a:ext>
                </a:extLst>
              </a:tr>
              <a:tr h="990314">
                <a:tc>
                  <a:txBody>
                    <a:bodyPr/>
                    <a:lstStyle/>
                    <a:p>
                      <a:pPr rtl="0" fontAlgn="t">
                        <a:spcBef>
                          <a:spcPts val="1200"/>
                        </a:spcBef>
                        <a:buNone/>
                      </a:pPr>
                      <a:r>
                        <a:rPr lang="en-AU" sz="2000" b="0" i="0" u="none" strike="noStrike" dirty="0" err="1">
                          <a:solidFill>
                            <a:schemeClr val="bg2">
                              <a:lumMod val="25000"/>
                            </a:schemeClr>
                          </a:solidFill>
                          <a:effectLst/>
                          <a:latin typeface="Open Sans" panose="020B0606030504020204" pitchFamily="34" charset="0"/>
                        </a:rPr>
                        <a:t>treatmentField</a:t>
                      </a:r>
                      <a:endParaRPr lang="en-AU"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The specific data field that has been altered to protect sensitive information</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AU" sz="2000" b="0" i="0" u="none" strike="noStrike">
                          <a:solidFill>
                            <a:schemeClr val="bg2">
                              <a:lumMod val="25000"/>
                            </a:schemeClr>
                          </a:solidFill>
                          <a:effectLst/>
                          <a:latin typeface="Open Sans" panose="020B0606030504020204" pitchFamily="34" charset="0"/>
                        </a:rPr>
                        <a:t>IRI for the field</a:t>
                      </a:r>
                      <a:endParaRPr lang="en-AU" sz="5400">
                        <a:solidFill>
                          <a:schemeClr val="bg2">
                            <a:lumMod val="25000"/>
                          </a:schemeClr>
                        </a:solidFill>
                        <a:effectLst/>
                      </a:endParaRPr>
                    </a:p>
                    <a:p>
                      <a:pPr rtl="0" fontAlgn="t">
                        <a:spcBef>
                          <a:spcPts val="1200"/>
                        </a:spcBef>
                        <a:buNone/>
                      </a:pPr>
                      <a:r>
                        <a:rPr lang="en-AU" sz="2000" b="0" i="0" u="none" strike="noStrike">
                          <a:solidFill>
                            <a:schemeClr val="bg2">
                              <a:lumMod val="25000"/>
                            </a:schemeClr>
                          </a:solidFill>
                          <a:effectLst/>
                          <a:latin typeface="Open Sans" panose="020B0606030504020204" pitchFamily="34" charset="0"/>
                        </a:rPr>
                        <a:t> </a:t>
                      </a:r>
                      <a:endParaRPr lang="en-AU" sz="540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8707197"/>
                  </a:ext>
                </a:extLst>
              </a:tr>
              <a:tr h="733089">
                <a:tc>
                  <a:txBody>
                    <a:bodyPr/>
                    <a:lstStyle/>
                    <a:p>
                      <a:pPr rtl="0" fontAlgn="t">
                        <a:spcBef>
                          <a:spcPts val="1200"/>
                        </a:spcBef>
                        <a:buNone/>
                      </a:pPr>
                      <a:r>
                        <a:rPr lang="en-AU" sz="2000" b="0" i="0" u="none" strike="noStrike" dirty="0" err="1">
                          <a:solidFill>
                            <a:schemeClr val="bg2">
                              <a:lumMod val="25000"/>
                            </a:schemeClr>
                          </a:solidFill>
                          <a:effectLst/>
                          <a:latin typeface="Open Sans" panose="020B0606030504020204" pitchFamily="34" charset="0"/>
                        </a:rPr>
                        <a:t>treatmentReason</a:t>
                      </a:r>
                      <a:endParaRPr lang="en-AU"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A category that best matches the reason for the </a:t>
                      </a:r>
                      <a:r>
                        <a:rPr lang="en-US" sz="2000" b="0" i="0" u="none" strike="noStrike" dirty="0" err="1">
                          <a:solidFill>
                            <a:schemeClr val="bg2">
                              <a:lumMod val="25000"/>
                            </a:schemeClr>
                          </a:solidFill>
                          <a:effectLst/>
                          <a:latin typeface="Open Sans" panose="020B0606030504020204" pitchFamily="34" charset="0"/>
                        </a:rPr>
                        <a:t>dwc:Treatment</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a:solidFill>
                            <a:schemeClr val="bg2">
                              <a:lumMod val="25000"/>
                            </a:schemeClr>
                          </a:solidFill>
                          <a:effectLst/>
                          <a:latin typeface="Open Sans" panose="020B0606030504020204" pitchFamily="34" charset="0"/>
                        </a:rPr>
                        <a:t>IRI for the RASD Reason</a:t>
                      </a:r>
                      <a:endParaRPr lang="en-US" sz="540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293697"/>
                  </a:ext>
                </a:extLst>
              </a:tr>
              <a:tr h="733089">
                <a:tc>
                  <a:txBody>
                    <a:bodyPr/>
                    <a:lstStyle/>
                    <a:p>
                      <a:pPr rtl="0" fontAlgn="t">
                        <a:spcBef>
                          <a:spcPts val="1200"/>
                        </a:spcBef>
                        <a:buNone/>
                      </a:pPr>
                      <a:r>
                        <a:rPr lang="en-AU" sz="2000" b="0" i="0" u="none" strike="noStrike">
                          <a:solidFill>
                            <a:schemeClr val="bg2">
                              <a:lumMod val="25000"/>
                            </a:schemeClr>
                          </a:solidFill>
                          <a:effectLst/>
                          <a:latin typeface="Open Sans" panose="020B0606030504020204" pitchFamily="34" charset="0"/>
                        </a:rPr>
                        <a:t>treatmentType</a:t>
                      </a:r>
                      <a:endParaRPr lang="en-AU" sz="540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A category that best matches the nature of a </a:t>
                      </a:r>
                      <a:r>
                        <a:rPr lang="en-US" sz="2000" b="0" i="0" u="none" strike="noStrike" dirty="0" err="1">
                          <a:solidFill>
                            <a:schemeClr val="bg2">
                              <a:lumMod val="25000"/>
                            </a:schemeClr>
                          </a:solidFill>
                          <a:effectLst/>
                          <a:latin typeface="Open Sans" panose="020B0606030504020204" pitchFamily="34" charset="0"/>
                        </a:rPr>
                        <a:t>dwc:Treatment</a:t>
                      </a:r>
                      <a:r>
                        <a:rPr lang="en-US" sz="2000" b="0" i="0" u="none" strike="noStrike" dirty="0">
                          <a:solidFill>
                            <a:schemeClr val="bg2">
                              <a:lumMod val="25000"/>
                            </a:schemeClr>
                          </a:solidFill>
                          <a:effectLst/>
                          <a:latin typeface="Open Sans" panose="020B0606030504020204" pitchFamily="34" charset="0"/>
                        </a:rPr>
                        <a:t>.</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a:solidFill>
                            <a:schemeClr val="bg2">
                              <a:lumMod val="25000"/>
                            </a:schemeClr>
                          </a:solidFill>
                          <a:effectLst/>
                          <a:latin typeface="Open Sans" panose="020B0606030504020204" pitchFamily="34" charset="0"/>
                        </a:rPr>
                        <a:t>IRI for the RASD Treatment</a:t>
                      </a:r>
                      <a:endParaRPr lang="en-US" sz="540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5158739"/>
                  </a:ext>
                </a:extLst>
              </a:tr>
              <a:tr h="733089">
                <a:tc>
                  <a:txBody>
                    <a:bodyPr/>
                    <a:lstStyle/>
                    <a:p>
                      <a:pPr rtl="0" fontAlgn="t">
                        <a:spcBef>
                          <a:spcPts val="1200"/>
                        </a:spcBef>
                        <a:buNone/>
                      </a:pPr>
                      <a:r>
                        <a:rPr lang="en-AU" sz="2000" b="0" i="0" u="none" strike="noStrike">
                          <a:solidFill>
                            <a:schemeClr val="bg2">
                              <a:lumMod val="25000"/>
                            </a:schemeClr>
                          </a:solidFill>
                          <a:effectLst/>
                          <a:latin typeface="Open Sans" panose="020B0606030504020204" pitchFamily="34" charset="0"/>
                        </a:rPr>
                        <a:t>treatmentDescription</a:t>
                      </a:r>
                      <a:endParaRPr lang="en-AU" sz="540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Text description of the method applied to the data in making a </a:t>
                      </a:r>
                      <a:r>
                        <a:rPr lang="en-US" sz="2000" b="0" i="0" u="none" strike="noStrike" dirty="0" err="1">
                          <a:solidFill>
                            <a:schemeClr val="bg2">
                              <a:lumMod val="25000"/>
                            </a:schemeClr>
                          </a:solidFill>
                          <a:effectLst/>
                          <a:latin typeface="Open Sans" panose="020B0606030504020204" pitchFamily="34" charset="0"/>
                        </a:rPr>
                        <a:t>dwc:Treatment</a:t>
                      </a:r>
                      <a:r>
                        <a:rPr lang="en-US" sz="2000" b="0" i="0" u="none" strike="noStrike" dirty="0">
                          <a:solidFill>
                            <a:schemeClr val="bg2">
                              <a:lumMod val="25000"/>
                            </a:schemeClr>
                          </a:solidFill>
                          <a:effectLst/>
                          <a:latin typeface="Open Sans" panose="020B0606030504020204" pitchFamily="34" charset="0"/>
                        </a:rPr>
                        <a:t>.</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AU" sz="2000" b="0" i="0" u="none" strike="noStrike" dirty="0">
                          <a:solidFill>
                            <a:schemeClr val="bg2">
                              <a:lumMod val="25000"/>
                            </a:schemeClr>
                          </a:solidFill>
                          <a:effectLst/>
                          <a:latin typeface="Open Sans" panose="020B0606030504020204" pitchFamily="34" charset="0"/>
                        </a:rPr>
                        <a:t>Text</a:t>
                      </a:r>
                      <a:endParaRPr lang="en-AU"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3667966"/>
                  </a:ext>
                </a:extLst>
              </a:tr>
              <a:tr h="733089">
                <a:tc>
                  <a:txBody>
                    <a:bodyPr/>
                    <a:lstStyle/>
                    <a:p>
                      <a:pPr rtl="0" fontAlgn="t">
                        <a:spcBef>
                          <a:spcPts val="1200"/>
                        </a:spcBef>
                        <a:buNone/>
                      </a:pPr>
                      <a:r>
                        <a:rPr lang="en-AU" sz="2000" b="0" i="0" u="none" strike="noStrike">
                          <a:solidFill>
                            <a:schemeClr val="bg2">
                              <a:lumMod val="25000"/>
                            </a:schemeClr>
                          </a:solidFill>
                          <a:effectLst/>
                          <a:latin typeface="Open Sans" panose="020B0606030504020204" pitchFamily="34" charset="0"/>
                        </a:rPr>
                        <a:t>treatmentStartDate</a:t>
                      </a:r>
                      <a:endParaRPr lang="en-AU" sz="540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A date on which a </a:t>
                      </a:r>
                      <a:r>
                        <a:rPr lang="en-US" sz="2000" b="0" i="0" u="none" strike="noStrike" dirty="0" err="1">
                          <a:solidFill>
                            <a:schemeClr val="bg2">
                              <a:lumMod val="25000"/>
                            </a:schemeClr>
                          </a:solidFill>
                          <a:effectLst/>
                          <a:latin typeface="Open Sans" panose="020B0606030504020204" pitchFamily="34" charset="0"/>
                        </a:rPr>
                        <a:t>dwc:Treatment</a:t>
                      </a:r>
                      <a:r>
                        <a:rPr lang="en-US" sz="2000" b="0" i="0" u="none" strike="noStrike" dirty="0">
                          <a:solidFill>
                            <a:schemeClr val="bg2">
                              <a:lumMod val="25000"/>
                            </a:schemeClr>
                          </a:solidFill>
                          <a:effectLst/>
                          <a:latin typeface="Open Sans" panose="020B0606030504020204" pitchFamily="34" charset="0"/>
                        </a:rPr>
                        <a:t> was deemed to first be in effect.</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Blank if not applicable, otherwise a date to at least day precision in a standard format (e.g. ISO 8601)</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0879214"/>
                  </a:ext>
                </a:extLst>
              </a:tr>
              <a:tr h="733089">
                <a:tc>
                  <a:txBody>
                    <a:bodyPr/>
                    <a:lstStyle/>
                    <a:p>
                      <a:pPr rtl="0" fontAlgn="t">
                        <a:spcBef>
                          <a:spcPts val="1200"/>
                        </a:spcBef>
                        <a:buNone/>
                      </a:pPr>
                      <a:r>
                        <a:rPr lang="en-AU" sz="2000" b="0" i="0" u="none" strike="noStrike">
                          <a:solidFill>
                            <a:schemeClr val="bg2">
                              <a:lumMod val="25000"/>
                            </a:schemeClr>
                          </a:solidFill>
                          <a:effectLst/>
                          <a:latin typeface="Open Sans" panose="020B0606030504020204" pitchFamily="34" charset="0"/>
                        </a:rPr>
                        <a:t>treatmentEndDate</a:t>
                      </a:r>
                      <a:endParaRPr lang="en-AU" sz="540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A date on which a </a:t>
                      </a:r>
                      <a:r>
                        <a:rPr lang="en-US" sz="2000" b="0" i="0" u="none" strike="noStrike" dirty="0" err="1">
                          <a:solidFill>
                            <a:schemeClr val="bg2">
                              <a:lumMod val="25000"/>
                            </a:schemeClr>
                          </a:solidFill>
                          <a:effectLst/>
                          <a:latin typeface="Open Sans" panose="020B0606030504020204" pitchFamily="34" charset="0"/>
                        </a:rPr>
                        <a:t>dwc:Treatment</a:t>
                      </a:r>
                      <a:r>
                        <a:rPr lang="en-US" sz="2000" b="0" i="0" u="none" strike="noStrike" dirty="0">
                          <a:solidFill>
                            <a:schemeClr val="bg2">
                              <a:lumMod val="25000"/>
                            </a:schemeClr>
                          </a:solidFill>
                          <a:effectLst/>
                          <a:latin typeface="Open Sans" panose="020B0606030504020204" pitchFamily="34" charset="0"/>
                        </a:rPr>
                        <a:t> will cease/ceased to be in effect.</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Blank if not applicable, otherwise a date to at least day precision in a standard format (e.g. ISO 8601)</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5760918"/>
                  </a:ext>
                </a:extLst>
              </a:tr>
              <a:tr h="733089">
                <a:tc>
                  <a:txBody>
                    <a:bodyPr/>
                    <a:lstStyle/>
                    <a:p>
                      <a:pPr rtl="0" fontAlgn="t">
                        <a:spcBef>
                          <a:spcPts val="1200"/>
                        </a:spcBef>
                        <a:buNone/>
                      </a:pPr>
                      <a:r>
                        <a:rPr lang="en-AU" sz="2000" b="0" i="0" u="none" strike="noStrike" dirty="0" err="1">
                          <a:solidFill>
                            <a:schemeClr val="bg2">
                              <a:lumMod val="25000"/>
                            </a:schemeClr>
                          </a:solidFill>
                          <a:effectLst/>
                          <a:latin typeface="Open Sans" panose="020B0606030504020204" pitchFamily="34" charset="0"/>
                        </a:rPr>
                        <a:t>treatmentOrganization</a:t>
                      </a:r>
                      <a:endParaRPr lang="en-AU"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Name of </a:t>
                      </a:r>
                      <a:r>
                        <a:rPr lang="en-US" sz="2000" b="0" i="0" u="none" strike="noStrike" dirty="0" err="1">
                          <a:solidFill>
                            <a:schemeClr val="bg2">
                              <a:lumMod val="25000"/>
                            </a:schemeClr>
                          </a:solidFill>
                          <a:effectLst/>
                          <a:latin typeface="Open Sans" panose="020B0606030504020204" pitchFamily="34" charset="0"/>
                        </a:rPr>
                        <a:t>dcterms:Agent</a:t>
                      </a:r>
                      <a:r>
                        <a:rPr lang="en-US" sz="2000" b="0" i="0" u="none" strike="noStrike" dirty="0">
                          <a:solidFill>
                            <a:schemeClr val="bg2">
                              <a:lumMod val="25000"/>
                            </a:schemeClr>
                          </a:solidFill>
                          <a:effectLst/>
                          <a:latin typeface="Open Sans" panose="020B0606030504020204" pitchFamily="34" charset="0"/>
                        </a:rPr>
                        <a:t> responsible for requiring the </a:t>
                      </a:r>
                      <a:r>
                        <a:rPr lang="en-US" sz="2000" b="0" i="0" u="none" strike="noStrike" dirty="0" err="1">
                          <a:solidFill>
                            <a:schemeClr val="bg2">
                              <a:lumMod val="25000"/>
                            </a:schemeClr>
                          </a:solidFill>
                          <a:effectLst/>
                          <a:latin typeface="Open Sans" panose="020B0606030504020204" pitchFamily="34" charset="0"/>
                        </a:rPr>
                        <a:t>dwc:Treatment</a:t>
                      </a:r>
                      <a:r>
                        <a:rPr lang="en-US" sz="2000" b="0" i="0" u="none" strike="noStrike" dirty="0">
                          <a:solidFill>
                            <a:schemeClr val="bg2">
                              <a:lumMod val="25000"/>
                            </a:schemeClr>
                          </a:solidFill>
                          <a:effectLst/>
                          <a:latin typeface="Open Sans" panose="020B0606030504020204" pitchFamily="34" charset="0"/>
                        </a:rPr>
                        <a:t>.</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Should link to an entry in the person</a:t>
                      </a:r>
                      <a:r>
                        <a:rPr lang="en-US" sz="2000" b="0" i="0" u="none" strike="noStrike">
                          <a:solidFill>
                            <a:schemeClr val="bg2">
                              <a:lumMod val="25000"/>
                            </a:schemeClr>
                          </a:solidFill>
                          <a:effectLst/>
                          <a:latin typeface="Open Sans" panose="020B0606030504020204" pitchFamily="34" charset="0"/>
                        </a:rPr>
                        <a:t>/organization </a:t>
                      </a:r>
                      <a:r>
                        <a:rPr lang="en-US" sz="2000" b="0" i="0" u="none" strike="noStrike" dirty="0">
                          <a:solidFill>
                            <a:schemeClr val="bg2">
                              <a:lumMod val="25000"/>
                            </a:schemeClr>
                          </a:solidFill>
                          <a:effectLst/>
                          <a:latin typeface="Open Sans" panose="020B0606030504020204" pitchFamily="34" charset="0"/>
                        </a:rPr>
                        <a:t>section of the metadata.</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761981"/>
                  </a:ext>
                </a:extLst>
              </a:tr>
              <a:tr h="938868">
                <a:tc>
                  <a:txBody>
                    <a:bodyPr/>
                    <a:lstStyle/>
                    <a:p>
                      <a:pPr rtl="0" fontAlgn="t">
                        <a:spcBef>
                          <a:spcPts val="1200"/>
                        </a:spcBef>
                        <a:buNone/>
                      </a:pPr>
                      <a:r>
                        <a:rPr lang="en-AU" sz="2000" b="0" i="0" u="none" strike="noStrike">
                          <a:solidFill>
                            <a:schemeClr val="bg2">
                              <a:lumMod val="25000"/>
                            </a:schemeClr>
                          </a:solidFill>
                          <a:effectLst/>
                          <a:latin typeface="Open Sans" panose="020B0606030504020204" pitchFamily="34" charset="0"/>
                        </a:rPr>
                        <a:t>treatmentInEffect</a:t>
                      </a:r>
                      <a:endParaRPr lang="en-AU" sz="540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US" sz="2000" b="0" i="0" u="none" strike="noStrike" dirty="0">
                          <a:solidFill>
                            <a:schemeClr val="bg2">
                              <a:lumMod val="25000"/>
                            </a:schemeClr>
                          </a:solidFill>
                          <a:effectLst/>
                          <a:latin typeface="Open Sans" panose="020B0606030504020204" pitchFamily="34" charset="0"/>
                        </a:rPr>
                        <a:t>Boolean indicator for if the </a:t>
                      </a:r>
                      <a:r>
                        <a:rPr lang="en-US" sz="2000" b="0" i="0" u="none" strike="noStrike" dirty="0" err="1">
                          <a:solidFill>
                            <a:schemeClr val="bg2">
                              <a:lumMod val="25000"/>
                            </a:schemeClr>
                          </a:solidFill>
                          <a:effectLst/>
                          <a:latin typeface="Open Sans" panose="020B0606030504020204" pitchFamily="34" charset="0"/>
                        </a:rPr>
                        <a:t>dwc:Treatment</a:t>
                      </a:r>
                      <a:r>
                        <a:rPr lang="en-US" sz="2000" b="0" i="0" u="none" strike="noStrike" dirty="0">
                          <a:solidFill>
                            <a:schemeClr val="bg2">
                              <a:lumMod val="25000"/>
                            </a:schemeClr>
                          </a:solidFill>
                          <a:effectLst/>
                          <a:latin typeface="Open Sans" panose="020B0606030504020204" pitchFamily="34" charset="0"/>
                        </a:rPr>
                        <a:t> is the primary restriction currently in effect on the </a:t>
                      </a:r>
                      <a:r>
                        <a:rPr lang="en-US" sz="2000" b="0" i="0" u="none" strike="noStrike" dirty="0" err="1">
                          <a:solidFill>
                            <a:schemeClr val="bg2">
                              <a:lumMod val="25000"/>
                            </a:schemeClr>
                          </a:solidFill>
                          <a:effectLst/>
                          <a:latin typeface="Open Sans" panose="020B0606030504020204" pitchFamily="34" charset="0"/>
                        </a:rPr>
                        <a:t>dwc:treatmentField</a:t>
                      </a:r>
                      <a:r>
                        <a:rPr lang="en-US" sz="2000" b="0" i="0" u="none" strike="noStrike" dirty="0">
                          <a:solidFill>
                            <a:schemeClr val="bg2">
                              <a:lumMod val="25000"/>
                            </a:schemeClr>
                          </a:solidFill>
                          <a:effectLst/>
                          <a:latin typeface="Open Sans" panose="020B0606030504020204" pitchFamily="34" charset="0"/>
                        </a:rPr>
                        <a:t>.</a:t>
                      </a:r>
                      <a:endParaRPr lang="en-US"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spcBef>
                          <a:spcPts val="1200"/>
                        </a:spcBef>
                        <a:buNone/>
                      </a:pPr>
                      <a:r>
                        <a:rPr lang="en-AU" sz="2000" b="0" i="0" u="none" strike="noStrike" dirty="0">
                          <a:solidFill>
                            <a:schemeClr val="bg2">
                              <a:lumMod val="25000"/>
                            </a:schemeClr>
                          </a:solidFill>
                          <a:effectLst/>
                          <a:latin typeface="Open Sans" panose="020B0606030504020204" pitchFamily="34" charset="0"/>
                        </a:rPr>
                        <a:t>Boolean.</a:t>
                      </a:r>
                      <a:endParaRPr lang="en-AU" sz="5400" dirty="0">
                        <a:solidFill>
                          <a:schemeClr val="bg2">
                            <a:lumMod val="25000"/>
                          </a:schemeClr>
                        </a:solidFill>
                        <a:effectLst/>
                      </a:endParaRPr>
                    </a:p>
                  </a:txBody>
                  <a:tcPr marL="61686" marR="61686" marT="88122" marB="88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3162405"/>
                  </a:ext>
                </a:extLst>
              </a:tr>
            </a:tbl>
          </a:graphicData>
        </a:graphic>
      </p:graphicFrame>
    </p:spTree>
    <p:extLst>
      <p:ext uri="{BB962C8B-B14F-4D97-AF65-F5344CB8AC3E}">
        <p14:creationId xmlns:p14="http://schemas.microsoft.com/office/powerpoint/2010/main" val="1797756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027B467-E1CB-25AE-9AEC-8D33005AE9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593DE9-3637-427C-1B35-5F841E31301F}"/>
              </a:ext>
            </a:extLst>
          </p:cNvPr>
          <p:cNvSpPr/>
          <p:nvPr/>
        </p:nvSpPr>
        <p:spPr>
          <a:xfrm flipV="1">
            <a:off x="-743210" y="6053938"/>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endParaRPr lang="en-US"/>
          </a:p>
        </p:txBody>
      </p:sp>
      <p:sp>
        <p:nvSpPr>
          <p:cNvPr id="8" name="TextBox 19">
            <a:extLst>
              <a:ext uri="{FF2B5EF4-FFF2-40B4-BE49-F238E27FC236}">
                <a16:creationId xmlns:a16="http://schemas.microsoft.com/office/drawing/2014/main" id="{19784144-A8AE-1EBC-19AB-0C950715D3F8}"/>
              </a:ext>
            </a:extLst>
          </p:cNvPr>
          <p:cNvSpPr txBox="1"/>
          <p:nvPr/>
        </p:nvSpPr>
        <p:spPr>
          <a:xfrm>
            <a:off x="710221" y="456101"/>
            <a:ext cx="16867557" cy="738664"/>
          </a:xfrm>
          <a:prstGeom prst="rect">
            <a:avLst/>
          </a:prstGeom>
        </p:spPr>
        <p:txBody>
          <a:bodyPr wrap="square" lIns="0" tIns="0" rIns="0" bIns="0" rtlCol="0" anchor="t">
            <a:spAutoFit/>
          </a:bodyPr>
          <a:lstStyle/>
          <a:p>
            <a:pPr algn="ctr"/>
            <a:r>
              <a:rPr lang="en-AU" sz="4800" spc="99" dirty="0" err="1">
                <a:solidFill>
                  <a:schemeClr val="accent3">
                    <a:lumMod val="50000"/>
                  </a:schemeClr>
                </a:solidFill>
                <a:latin typeface="Lato Bold Italics"/>
              </a:rPr>
              <a:t>DwC</a:t>
            </a:r>
            <a:r>
              <a:rPr lang="en-AU" sz="4800" spc="99" dirty="0">
                <a:solidFill>
                  <a:schemeClr val="accent3">
                    <a:lumMod val="50000"/>
                  </a:schemeClr>
                </a:solidFill>
                <a:latin typeface="Lato Bold Italics"/>
              </a:rPr>
              <a:t> Data Package</a:t>
            </a:r>
          </a:p>
        </p:txBody>
      </p:sp>
      <p:pic>
        <p:nvPicPr>
          <p:cNvPr id="6" name="Picture 5">
            <a:extLst>
              <a:ext uri="{FF2B5EF4-FFF2-40B4-BE49-F238E27FC236}">
                <a16:creationId xmlns:a16="http://schemas.microsoft.com/office/drawing/2014/main" id="{2EC9BAFD-C996-A502-D667-F3DA2309C2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3062" y="1185862"/>
            <a:ext cx="14142713" cy="8504048"/>
          </a:xfrm>
          <a:prstGeom prst="rect">
            <a:avLst/>
          </a:prstGeom>
        </p:spPr>
      </p:pic>
    </p:spTree>
    <p:extLst>
      <p:ext uri="{BB962C8B-B14F-4D97-AF65-F5344CB8AC3E}">
        <p14:creationId xmlns:p14="http://schemas.microsoft.com/office/powerpoint/2010/main" val="282698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C308D4C-C523-C892-D29B-6F7DAC640AA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D75C5B5-07AE-C378-FDF1-D9AFFA5C00E8}"/>
              </a:ext>
            </a:extLst>
          </p:cNvPr>
          <p:cNvSpPr/>
          <p:nvPr/>
        </p:nvSpPr>
        <p:spPr>
          <a:xfrm flipV="1">
            <a:off x="-702266" y="6037793"/>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19">
            <a:extLst>
              <a:ext uri="{FF2B5EF4-FFF2-40B4-BE49-F238E27FC236}">
                <a16:creationId xmlns:a16="http://schemas.microsoft.com/office/drawing/2014/main" id="{A5E3B94A-0589-4363-F139-4FF0AAEE0ECE}"/>
              </a:ext>
            </a:extLst>
          </p:cNvPr>
          <p:cNvSpPr txBox="1"/>
          <p:nvPr/>
        </p:nvSpPr>
        <p:spPr>
          <a:xfrm>
            <a:off x="710221" y="456101"/>
            <a:ext cx="16867557" cy="738664"/>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99" normalizeH="0" baseline="0" noProof="0" dirty="0">
                <a:ln>
                  <a:noFill/>
                </a:ln>
                <a:solidFill>
                  <a:srgbClr val="9BBB59">
                    <a:lumMod val="50000"/>
                  </a:srgbClr>
                </a:solidFill>
                <a:effectLst/>
                <a:uLnTx/>
                <a:uFillTx/>
                <a:latin typeface="Lato Bold Italics"/>
                <a:ea typeface="+mn-ea"/>
                <a:cs typeface="+mn-cs"/>
              </a:rPr>
              <a:t>Implementation – Case study 1</a:t>
            </a:r>
          </a:p>
        </p:txBody>
      </p:sp>
      <p:sp>
        <p:nvSpPr>
          <p:cNvPr id="4" name="TextBox 3">
            <a:extLst>
              <a:ext uri="{FF2B5EF4-FFF2-40B4-BE49-F238E27FC236}">
                <a16:creationId xmlns:a16="http://schemas.microsoft.com/office/drawing/2014/main" id="{28FBAAF1-69BC-5CF5-0239-BD48FCB2D7C6}"/>
              </a:ext>
            </a:extLst>
          </p:cNvPr>
          <p:cNvSpPr txBox="1"/>
          <p:nvPr/>
        </p:nvSpPr>
        <p:spPr>
          <a:xfrm>
            <a:off x="710221" y="1548293"/>
            <a:ext cx="4928580" cy="44627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rPr>
              <a:t>An Indigenous community is concerned about </a:t>
            </a:r>
            <a:r>
              <a:rPr kumimoji="0" lang="en-US" sz="2800" b="1"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rPr>
              <a:t>culturally sensitive rock art </a:t>
            </a:r>
            <a:r>
              <a:rPr kumimoji="0" lang="en-US" sz="2400" b="0"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rPr>
              <a:t>appearing in the background of a photo-based species observation of a </a:t>
            </a:r>
            <a:r>
              <a:rPr kumimoji="0" lang="en-US" sz="2800" b="1"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rPr>
              <a:t>wasp nest </a:t>
            </a:r>
            <a:r>
              <a:rPr kumimoji="0" lang="en-US" sz="2400" b="0"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rPr>
              <a:t>of a regionally interesting species.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rPr>
              <a:t>While there is nothing sensitive about the wasp nest record itself, the </a:t>
            </a:r>
            <a:r>
              <a:rPr kumimoji="0" lang="en-US" sz="2800" b="1"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rPr>
              <a:t>photo is highly sensitive</a:t>
            </a:r>
            <a:r>
              <a:rPr kumimoji="0" lang="en-US" sz="2400" b="0" i="0" u="none" strike="noStrike" kern="1200" cap="none" spc="0" normalizeH="0" baseline="0" noProof="0" dirty="0">
                <a:ln>
                  <a:noFill/>
                </a:ln>
                <a:solidFill>
                  <a:srgbClr val="EEECE1">
                    <a:lumMod val="25000"/>
                  </a:srgbClr>
                </a:solidFill>
                <a:effectLst/>
                <a:uLnTx/>
                <a:uFillTx/>
                <a:latin typeface="Lato" panose="020F0502020204030203" pitchFamily="34" charset="0"/>
                <a:ea typeface="Lato" panose="020F0502020204030203" pitchFamily="34" charset="0"/>
                <a:cs typeface="Lato" panose="020F0502020204030203" pitchFamily="34" charset="0"/>
              </a:rPr>
              <a:t>.</a:t>
            </a:r>
          </a:p>
        </p:txBody>
      </p:sp>
      <p:pic>
        <p:nvPicPr>
          <p:cNvPr id="13" name="Picture 12">
            <a:extLst>
              <a:ext uri="{FF2B5EF4-FFF2-40B4-BE49-F238E27FC236}">
                <a16:creationId xmlns:a16="http://schemas.microsoft.com/office/drawing/2014/main" id="{4068919B-90CF-7825-FD70-0629FDA53341}"/>
              </a:ext>
            </a:extLst>
          </p:cNvPr>
          <p:cNvPicPr>
            <a:picLocks noChangeAspect="1"/>
          </p:cNvPicPr>
          <p:nvPr/>
        </p:nvPicPr>
        <p:blipFill>
          <a:blip r:embed="rId4">
            <a:extLst>
              <a:ext uri="{28A0092B-C50C-407E-A947-70E740481C1C}">
                <a14:useLocalDpi xmlns:a14="http://schemas.microsoft.com/office/drawing/2010/main" val="0"/>
              </a:ext>
            </a:extLst>
          </a:blip>
          <a:srcRect r="1706" b="2631"/>
          <a:stretch>
            <a:fillRect/>
          </a:stretch>
        </p:blipFill>
        <p:spPr>
          <a:xfrm>
            <a:off x="6076980" y="1194765"/>
            <a:ext cx="12211020" cy="9092235"/>
          </a:xfrm>
          <a:prstGeom prst="rect">
            <a:avLst/>
          </a:prstGeom>
        </p:spPr>
      </p:pic>
      <p:sp>
        <p:nvSpPr>
          <p:cNvPr id="14" name="Rectangle 13">
            <a:extLst>
              <a:ext uri="{FF2B5EF4-FFF2-40B4-BE49-F238E27FC236}">
                <a16:creationId xmlns:a16="http://schemas.microsoft.com/office/drawing/2014/main" id="{56C3E774-D5AE-214A-A020-F0B8388E128B}"/>
              </a:ext>
            </a:extLst>
          </p:cNvPr>
          <p:cNvSpPr/>
          <p:nvPr/>
        </p:nvSpPr>
        <p:spPr>
          <a:xfrm>
            <a:off x="1255593" y="5503087"/>
            <a:ext cx="3979617" cy="53470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A34C6489-21F4-00DF-5B53-DC61162C44B9}"/>
              </a:ext>
            </a:extLst>
          </p:cNvPr>
          <p:cNvCxnSpPr>
            <a:cxnSpLocks/>
            <a:stCxn id="14" idx="3"/>
          </p:cNvCxnSpPr>
          <p:nvPr/>
        </p:nvCxnSpPr>
        <p:spPr>
          <a:xfrm flipV="1">
            <a:off x="5235210" y="3425588"/>
            <a:ext cx="8903871" cy="234485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2409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B7612B-3868-CDB5-7838-358398FF355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7D3162-11D5-7B00-02CA-38B03DB84D13}"/>
              </a:ext>
            </a:extLst>
          </p:cNvPr>
          <p:cNvSpPr/>
          <p:nvPr/>
        </p:nvSpPr>
        <p:spPr>
          <a:xfrm flipV="1">
            <a:off x="-702266" y="6037793"/>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19">
            <a:extLst>
              <a:ext uri="{FF2B5EF4-FFF2-40B4-BE49-F238E27FC236}">
                <a16:creationId xmlns:a16="http://schemas.microsoft.com/office/drawing/2014/main" id="{D21F89D0-53E3-9C3A-8B65-2DDB5934F17E}"/>
              </a:ext>
            </a:extLst>
          </p:cNvPr>
          <p:cNvSpPr txBox="1"/>
          <p:nvPr/>
        </p:nvSpPr>
        <p:spPr>
          <a:xfrm>
            <a:off x="710221" y="456101"/>
            <a:ext cx="16867557" cy="738664"/>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99" normalizeH="0" baseline="0" noProof="0" dirty="0">
                <a:ln>
                  <a:noFill/>
                </a:ln>
                <a:solidFill>
                  <a:srgbClr val="9BBB59">
                    <a:lumMod val="50000"/>
                  </a:srgbClr>
                </a:solidFill>
                <a:effectLst/>
                <a:uLnTx/>
                <a:uFillTx/>
                <a:latin typeface="Lato Bold Italics"/>
                <a:ea typeface="+mn-ea"/>
                <a:cs typeface="+mn-cs"/>
              </a:rPr>
              <a:t>Implementation – Case study 2</a:t>
            </a:r>
          </a:p>
        </p:txBody>
      </p:sp>
      <p:sp>
        <p:nvSpPr>
          <p:cNvPr id="4" name="TextBox 3">
            <a:extLst>
              <a:ext uri="{FF2B5EF4-FFF2-40B4-BE49-F238E27FC236}">
                <a16:creationId xmlns:a16="http://schemas.microsoft.com/office/drawing/2014/main" id="{278659C2-16E8-F987-EA49-DAA183869E12}"/>
              </a:ext>
            </a:extLst>
          </p:cNvPr>
          <p:cNvSpPr txBox="1"/>
          <p:nvPr/>
        </p:nvSpPr>
        <p:spPr>
          <a:xfrm>
            <a:off x="710221" y="1548293"/>
            <a:ext cx="4912657" cy="82791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A new cave is discovered. In the cave, a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well-known species of troglobitic spider </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is found, several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new species of mite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s, and also extremely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rare sub-fossils of a now extinct species</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The area is used by enthusiastic amateur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cave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rs and fossil hunters, who have had a history of using biodiversity databases to find caves, stealing fossils and damaging caves habitat.   There are three issues. </a:t>
            </a:r>
            <a:r>
              <a:rPr kumimoji="0" lang="en-US" sz="2400" b="0" i="0" u="none" strike="noStrike" kern="1200" cap="none" spc="0" normalizeH="0" baseline="0" noProof="0" dirty="0" err="1">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i</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the cave as a locality is sensitive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ii) While there is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nothing significant about the spider record</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the fact that it is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troglobitic</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reveals where the cave is as an associated record, iii) the fossil and new species of mites (also troglobitic) are sensitive.</a:t>
            </a:r>
          </a:p>
        </p:txBody>
      </p:sp>
      <p:sp>
        <p:nvSpPr>
          <p:cNvPr id="9" name="Rectangle 8">
            <a:extLst>
              <a:ext uri="{FF2B5EF4-FFF2-40B4-BE49-F238E27FC236}">
                <a16:creationId xmlns:a16="http://schemas.microsoft.com/office/drawing/2014/main" id="{7B6554D4-D63E-E529-7133-E23120A16391}"/>
              </a:ext>
            </a:extLst>
          </p:cNvPr>
          <p:cNvSpPr/>
          <p:nvPr/>
        </p:nvSpPr>
        <p:spPr>
          <a:xfrm>
            <a:off x="614149" y="1951630"/>
            <a:ext cx="4790364" cy="86149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 name="Straight Arrow Connector 9">
            <a:extLst>
              <a:ext uri="{FF2B5EF4-FFF2-40B4-BE49-F238E27FC236}">
                <a16:creationId xmlns:a16="http://schemas.microsoft.com/office/drawing/2014/main" id="{5F81FEE4-F334-81D5-1990-C9AC25F5D3B1}"/>
              </a:ext>
            </a:extLst>
          </p:cNvPr>
          <p:cNvCxnSpPr>
            <a:cxnSpLocks/>
          </p:cNvCxnSpPr>
          <p:nvPr/>
        </p:nvCxnSpPr>
        <p:spPr>
          <a:xfrm>
            <a:off x="5404513" y="2347415"/>
            <a:ext cx="2156347" cy="324816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DF27EB8-BBDD-EE49-322D-FB9EDAAF64AF}"/>
              </a:ext>
            </a:extLst>
          </p:cNvPr>
          <p:cNvCxnSpPr>
            <a:cxnSpLocks/>
          </p:cNvCxnSpPr>
          <p:nvPr/>
        </p:nvCxnSpPr>
        <p:spPr>
          <a:xfrm>
            <a:off x="5404513" y="2347415"/>
            <a:ext cx="2251881" cy="46570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E57B8CFE-C6D1-3C90-98F3-4793F755BD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16860" y="0"/>
            <a:ext cx="10556990" cy="10287000"/>
          </a:xfrm>
          <a:prstGeom prst="rect">
            <a:avLst/>
          </a:prstGeom>
        </p:spPr>
      </p:pic>
    </p:spTree>
    <p:extLst>
      <p:ext uri="{BB962C8B-B14F-4D97-AF65-F5344CB8AC3E}">
        <p14:creationId xmlns:p14="http://schemas.microsoft.com/office/powerpoint/2010/main" val="245146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CB6B236-E7AF-6D89-A8C5-CBF4DF1DDE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C3BB41-87F5-DF99-639F-C69BE7B5D44B}"/>
              </a:ext>
            </a:extLst>
          </p:cNvPr>
          <p:cNvSpPr/>
          <p:nvPr/>
        </p:nvSpPr>
        <p:spPr>
          <a:xfrm flipV="1">
            <a:off x="-702266" y="6037793"/>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19">
            <a:extLst>
              <a:ext uri="{FF2B5EF4-FFF2-40B4-BE49-F238E27FC236}">
                <a16:creationId xmlns:a16="http://schemas.microsoft.com/office/drawing/2014/main" id="{C3668738-AF44-CB37-64F9-7B017E7AE1B6}"/>
              </a:ext>
            </a:extLst>
          </p:cNvPr>
          <p:cNvSpPr txBox="1"/>
          <p:nvPr/>
        </p:nvSpPr>
        <p:spPr>
          <a:xfrm>
            <a:off x="710221" y="456101"/>
            <a:ext cx="16867557" cy="738664"/>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99" normalizeH="0" baseline="0" noProof="0" dirty="0">
                <a:ln>
                  <a:noFill/>
                </a:ln>
                <a:solidFill>
                  <a:srgbClr val="9BBB59">
                    <a:lumMod val="50000"/>
                  </a:srgbClr>
                </a:solidFill>
                <a:effectLst/>
                <a:uLnTx/>
                <a:uFillTx/>
                <a:latin typeface="Lato Bold Italics"/>
                <a:ea typeface="+mn-ea"/>
                <a:cs typeface="+mn-cs"/>
              </a:rPr>
              <a:t>Implementation – Case study 2</a:t>
            </a:r>
          </a:p>
        </p:txBody>
      </p:sp>
      <p:sp>
        <p:nvSpPr>
          <p:cNvPr id="4" name="TextBox 3">
            <a:extLst>
              <a:ext uri="{FF2B5EF4-FFF2-40B4-BE49-F238E27FC236}">
                <a16:creationId xmlns:a16="http://schemas.microsoft.com/office/drawing/2014/main" id="{E0FF28F7-FEE4-87B2-A4A7-105F5D3F54F9}"/>
              </a:ext>
            </a:extLst>
          </p:cNvPr>
          <p:cNvSpPr txBox="1"/>
          <p:nvPr/>
        </p:nvSpPr>
        <p:spPr>
          <a:xfrm>
            <a:off x="710221" y="1548293"/>
            <a:ext cx="4912657" cy="82791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A new cave is discovered. In the cave, a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well-known species of troglobitic spider </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is found, several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new species of mite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s, and also extremely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rare sub-fossils of a now extinct species</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The area is used by enthusiastic amateur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cave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rs and fossil hunters, who have had a history of using biodiversity databases to find caves, stealing fossils and damaging caves habitat.   There are three issues. </a:t>
            </a:r>
            <a:r>
              <a:rPr kumimoji="0" lang="en-US" sz="2400" b="0" i="0" u="none" strike="noStrike" kern="1200" cap="none" spc="0" normalizeH="0" baseline="0" noProof="0" dirty="0" err="1">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i</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the cave as a locality is sensitive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ii) While there is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nothing significant about the spider record</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the fact that it is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troglobitic</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reveals where the cave is as an associated record, iii) the fossil and new species of mites (also troglobitic) are sensitive.</a:t>
            </a:r>
          </a:p>
        </p:txBody>
      </p:sp>
      <p:sp>
        <p:nvSpPr>
          <p:cNvPr id="9" name="Rectangle 8">
            <a:extLst>
              <a:ext uri="{FF2B5EF4-FFF2-40B4-BE49-F238E27FC236}">
                <a16:creationId xmlns:a16="http://schemas.microsoft.com/office/drawing/2014/main" id="{209E160D-2AD3-D525-805A-34247FACDC12}"/>
              </a:ext>
            </a:extLst>
          </p:cNvPr>
          <p:cNvSpPr/>
          <p:nvPr/>
        </p:nvSpPr>
        <p:spPr>
          <a:xfrm>
            <a:off x="1760561" y="2754785"/>
            <a:ext cx="3466532" cy="54797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 name="Straight Arrow Connector 9">
            <a:extLst>
              <a:ext uri="{FF2B5EF4-FFF2-40B4-BE49-F238E27FC236}">
                <a16:creationId xmlns:a16="http://schemas.microsoft.com/office/drawing/2014/main" id="{11F9C2BE-DA43-ECA9-E3D2-24E70FFC9886}"/>
              </a:ext>
            </a:extLst>
          </p:cNvPr>
          <p:cNvCxnSpPr>
            <a:cxnSpLocks/>
          </p:cNvCxnSpPr>
          <p:nvPr/>
        </p:nvCxnSpPr>
        <p:spPr>
          <a:xfrm>
            <a:off x="5227093" y="3029803"/>
            <a:ext cx="3466531" cy="211369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2372E61-5CFA-DB42-FF44-A5FF108F8314}"/>
              </a:ext>
            </a:extLst>
          </p:cNvPr>
          <p:cNvCxnSpPr>
            <a:cxnSpLocks/>
          </p:cNvCxnSpPr>
          <p:nvPr/>
        </p:nvCxnSpPr>
        <p:spPr>
          <a:xfrm flipV="1">
            <a:off x="5227093" y="2852382"/>
            <a:ext cx="3466531" cy="19106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02592005-67CF-35C8-6430-264DB9FC7D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68874" y="0"/>
            <a:ext cx="10283244" cy="10287000"/>
          </a:xfrm>
          <a:prstGeom prst="rect">
            <a:avLst/>
          </a:prstGeom>
        </p:spPr>
      </p:pic>
    </p:spTree>
    <p:extLst>
      <p:ext uri="{BB962C8B-B14F-4D97-AF65-F5344CB8AC3E}">
        <p14:creationId xmlns:p14="http://schemas.microsoft.com/office/powerpoint/2010/main" val="213438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DF7FA43-1C99-EC09-254E-C943F03C668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A70BC06-AE40-6BA8-2A82-DD4B389BC9AB}"/>
              </a:ext>
            </a:extLst>
          </p:cNvPr>
          <p:cNvSpPr/>
          <p:nvPr/>
        </p:nvSpPr>
        <p:spPr>
          <a:xfrm flipV="1">
            <a:off x="-702266" y="6037793"/>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19">
            <a:extLst>
              <a:ext uri="{FF2B5EF4-FFF2-40B4-BE49-F238E27FC236}">
                <a16:creationId xmlns:a16="http://schemas.microsoft.com/office/drawing/2014/main" id="{6498060B-642D-0A5A-3648-572A49CA35EA}"/>
              </a:ext>
            </a:extLst>
          </p:cNvPr>
          <p:cNvSpPr txBox="1"/>
          <p:nvPr/>
        </p:nvSpPr>
        <p:spPr>
          <a:xfrm>
            <a:off x="710221" y="456101"/>
            <a:ext cx="16867557" cy="738664"/>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99" normalizeH="0" baseline="0" noProof="0" dirty="0">
                <a:ln>
                  <a:noFill/>
                </a:ln>
                <a:solidFill>
                  <a:srgbClr val="9BBB59">
                    <a:lumMod val="50000"/>
                  </a:srgbClr>
                </a:solidFill>
                <a:effectLst/>
                <a:uLnTx/>
                <a:uFillTx/>
                <a:latin typeface="Lato Bold Italics"/>
                <a:ea typeface="+mn-ea"/>
                <a:cs typeface="+mn-cs"/>
              </a:rPr>
              <a:t>Implementation – Case study 2</a:t>
            </a:r>
          </a:p>
        </p:txBody>
      </p:sp>
      <p:sp>
        <p:nvSpPr>
          <p:cNvPr id="4" name="TextBox 3">
            <a:extLst>
              <a:ext uri="{FF2B5EF4-FFF2-40B4-BE49-F238E27FC236}">
                <a16:creationId xmlns:a16="http://schemas.microsoft.com/office/drawing/2014/main" id="{B92283C8-B4C8-35B1-0D8D-1106BA1CF6F5}"/>
              </a:ext>
            </a:extLst>
          </p:cNvPr>
          <p:cNvSpPr txBox="1"/>
          <p:nvPr/>
        </p:nvSpPr>
        <p:spPr>
          <a:xfrm>
            <a:off x="710221" y="1548293"/>
            <a:ext cx="4912657" cy="82791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A new cave is discovered. In the cave, a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well-known species of troglobitic spider </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is found, several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new species of mite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s, and also extremely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rare sub-fossils of a now extinct species</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The area is used by enthusiastic amateur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cave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rs and fossil hunters, who have had a history of using biodiversity databases to find caves, stealing fossils and damaging caves habitat.   There are three issues. </a:t>
            </a:r>
            <a:r>
              <a:rPr kumimoji="0" lang="en-US" sz="2400" b="0" i="0" u="none" strike="noStrike" kern="1200" cap="none" spc="0" normalizeH="0" baseline="0" noProof="0" dirty="0" err="1">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i</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the cave as a locality is sensitive</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ii) While there is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nothing significant about the spider record</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the fact that it is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troglobitic</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reveals where the cave is as an associated record, iii) the fossil and new species of mites (also troglobitic) are sensitive.</a:t>
            </a:r>
          </a:p>
        </p:txBody>
      </p:sp>
      <p:sp>
        <p:nvSpPr>
          <p:cNvPr id="3" name="Rectangle 2">
            <a:extLst>
              <a:ext uri="{FF2B5EF4-FFF2-40B4-BE49-F238E27FC236}">
                <a16:creationId xmlns:a16="http://schemas.microsoft.com/office/drawing/2014/main" id="{B031B4DF-770B-0B2B-BD73-86EC5FCC5EB8}"/>
              </a:ext>
            </a:extLst>
          </p:cNvPr>
          <p:cNvSpPr/>
          <p:nvPr/>
        </p:nvSpPr>
        <p:spPr>
          <a:xfrm>
            <a:off x="710221" y="3701234"/>
            <a:ext cx="3820836" cy="92565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C90CD0D2-2CE6-1599-6421-0697CB618E8F}"/>
              </a:ext>
            </a:extLst>
          </p:cNvPr>
          <p:cNvCxnSpPr>
            <a:cxnSpLocks/>
            <a:stCxn id="3" idx="3"/>
          </p:cNvCxnSpPr>
          <p:nvPr/>
        </p:nvCxnSpPr>
        <p:spPr>
          <a:xfrm flipV="1">
            <a:off x="4531057" y="2019869"/>
            <a:ext cx="3084394" cy="214419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38F6E356-643B-F234-0D26-50EED3DC36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9327" y="913119"/>
            <a:ext cx="12118673" cy="9373881"/>
          </a:xfrm>
          <a:prstGeom prst="rect">
            <a:avLst/>
          </a:prstGeom>
        </p:spPr>
      </p:pic>
    </p:spTree>
    <p:extLst>
      <p:ext uri="{BB962C8B-B14F-4D97-AF65-F5344CB8AC3E}">
        <p14:creationId xmlns:p14="http://schemas.microsoft.com/office/powerpoint/2010/main" val="241435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6AD91D5-2607-F0C6-0A9A-30BEA03C4A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C8196B-1F2B-9B27-F0CD-28659F9AC6FE}"/>
              </a:ext>
            </a:extLst>
          </p:cNvPr>
          <p:cNvSpPr/>
          <p:nvPr/>
        </p:nvSpPr>
        <p:spPr>
          <a:xfrm flipV="1">
            <a:off x="-702266" y="6037793"/>
            <a:ext cx="18545419" cy="5200594"/>
          </a:xfrm>
          <a:custGeom>
            <a:avLst/>
            <a:gdLst/>
            <a:ahLst/>
            <a:cxnLst/>
            <a:rect l="l" t="t" r="r" b="b"/>
            <a:pathLst>
              <a:path w="18545419" h="5200594">
                <a:moveTo>
                  <a:pt x="0" y="5200594"/>
                </a:moveTo>
                <a:lnTo>
                  <a:pt x="18545419" y="5200594"/>
                </a:lnTo>
                <a:lnTo>
                  <a:pt x="18545419" y="0"/>
                </a:lnTo>
                <a:lnTo>
                  <a:pt x="0" y="0"/>
                </a:lnTo>
                <a:lnTo>
                  <a:pt x="0" y="5200594"/>
                </a:lnTo>
                <a:close/>
              </a:path>
            </a:pathLst>
          </a:custGeom>
          <a:blipFill>
            <a:blip r:embed="rId3">
              <a:alphaModFix amt="40000"/>
            </a:blip>
            <a:stretch>
              <a:fillRect l="-3452" t="-27176" r="-3452"/>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19">
            <a:extLst>
              <a:ext uri="{FF2B5EF4-FFF2-40B4-BE49-F238E27FC236}">
                <a16:creationId xmlns:a16="http://schemas.microsoft.com/office/drawing/2014/main" id="{727A83D4-CA5E-93FB-2723-E1DB8ACE7576}"/>
              </a:ext>
            </a:extLst>
          </p:cNvPr>
          <p:cNvSpPr txBox="1"/>
          <p:nvPr/>
        </p:nvSpPr>
        <p:spPr>
          <a:xfrm>
            <a:off x="710221" y="456101"/>
            <a:ext cx="16867557" cy="738664"/>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99" normalizeH="0" baseline="0" noProof="0" dirty="0">
                <a:ln>
                  <a:noFill/>
                </a:ln>
                <a:solidFill>
                  <a:srgbClr val="9BBB59">
                    <a:lumMod val="50000"/>
                  </a:srgbClr>
                </a:solidFill>
                <a:effectLst/>
                <a:uLnTx/>
                <a:uFillTx/>
                <a:latin typeface="Lato Bold Italics"/>
                <a:ea typeface="+mn-ea"/>
                <a:cs typeface="+mn-cs"/>
              </a:rPr>
              <a:t>Implementation – Case study 3</a:t>
            </a:r>
          </a:p>
        </p:txBody>
      </p:sp>
      <p:sp>
        <p:nvSpPr>
          <p:cNvPr id="4" name="TextBox 3">
            <a:extLst>
              <a:ext uri="{FF2B5EF4-FFF2-40B4-BE49-F238E27FC236}">
                <a16:creationId xmlns:a16="http://schemas.microsoft.com/office/drawing/2014/main" id="{386F52B4-B4F6-7ECB-4861-5531BB52E0B1}"/>
              </a:ext>
            </a:extLst>
          </p:cNvPr>
          <p:cNvSpPr txBox="1"/>
          <p:nvPr/>
        </p:nvSpPr>
        <p:spPr>
          <a:xfrm>
            <a:off x="710221" y="1548293"/>
            <a:ext cx="3302222" cy="6370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A new </a:t>
            </a:r>
            <a:r>
              <a:rPr kumimoji="0" lang="en-US" sz="28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camera trap </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project wants to share data publicly. Some of the camera traps include images of both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common species </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and </a:t>
            </a:r>
            <a:r>
              <a:rPr kumimoji="0" lang="en-US" sz="2400" b="1"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species in demand by poachers</a:t>
            </a:r>
            <a:r>
              <a:rPr kumimoji="0" lang="en-US" sz="2400" b="0" i="0" u="none" strike="noStrike" kern="1200" cap="none" spc="0" normalizeH="0" baseline="0" noProof="0" dirty="0">
                <a:ln>
                  <a:noFill/>
                </a:ln>
                <a:solidFill>
                  <a:srgbClr val="EEECE1">
                    <a:lumMod val="10000"/>
                  </a:srgbClr>
                </a:solidFill>
                <a:effectLst/>
                <a:uLnTx/>
                <a:uFillTx/>
                <a:latin typeface="Lato" panose="020F0502020204030203" pitchFamily="34" charset="0"/>
                <a:ea typeface="Lato" panose="020F0502020204030203" pitchFamily="34" charset="0"/>
                <a:cs typeface="Lato" panose="020F0502020204030203" pitchFamily="34" charset="0"/>
              </a:rPr>
              <a:t> for the pet trade. The issue is that because the camera traps act as events in event data, any solution must account for the fact that it is the event, not the photo, that is potentially sensitive</a:t>
            </a:r>
          </a:p>
        </p:txBody>
      </p:sp>
      <p:sp>
        <p:nvSpPr>
          <p:cNvPr id="7" name="Rectangle 6">
            <a:extLst>
              <a:ext uri="{FF2B5EF4-FFF2-40B4-BE49-F238E27FC236}">
                <a16:creationId xmlns:a16="http://schemas.microsoft.com/office/drawing/2014/main" id="{669C2424-1FB0-C341-4339-FB9DB84DFD81}"/>
              </a:ext>
            </a:extLst>
          </p:cNvPr>
          <p:cNvSpPr/>
          <p:nvPr/>
        </p:nvSpPr>
        <p:spPr>
          <a:xfrm>
            <a:off x="710221" y="3830473"/>
            <a:ext cx="3056561" cy="7961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 name="Straight Arrow Connector 8">
            <a:extLst>
              <a:ext uri="{FF2B5EF4-FFF2-40B4-BE49-F238E27FC236}">
                <a16:creationId xmlns:a16="http://schemas.microsoft.com/office/drawing/2014/main" id="{6FDBFD3A-9413-044B-3230-764963E853AD}"/>
              </a:ext>
            </a:extLst>
          </p:cNvPr>
          <p:cNvCxnSpPr>
            <a:cxnSpLocks/>
          </p:cNvCxnSpPr>
          <p:nvPr/>
        </p:nvCxnSpPr>
        <p:spPr>
          <a:xfrm flipV="1">
            <a:off x="3100314" y="3010287"/>
            <a:ext cx="4706205" cy="64790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4A4C6EB-DE42-330E-0DA5-570BA73AD696}"/>
              </a:ext>
            </a:extLst>
          </p:cNvPr>
          <p:cNvSpPr/>
          <p:nvPr/>
        </p:nvSpPr>
        <p:spPr>
          <a:xfrm>
            <a:off x="712493" y="3476945"/>
            <a:ext cx="2387821" cy="40129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 name="Straight Arrow Connector 12">
            <a:extLst>
              <a:ext uri="{FF2B5EF4-FFF2-40B4-BE49-F238E27FC236}">
                <a16:creationId xmlns:a16="http://schemas.microsoft.com/office/drawing/2014/main" id="{FC0AF144-1873-D4CA-503F-F1B3B1E5C19B}"/>
              </a:ext>
            </a:extLst>
          </p:cNvPr>
          <p:cNvCxnSpPr>
            <a:cxnSpLocks/>
          </p:cNvCxnSpPr>
          <p:nvPr/>
        </p:nvCxnSpPr>
        <p:spPr>
          <a:xfrm>
            <a:off x="3766782" y="4249207"/>
            <a:ext cx="4039737" cy="119757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A70D545F-41D6-11F3-47F5-7AE60342A3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82864" y="0"/>
            <a:ext cx="10883120" cy="10287000"/>
          </a:xfrm>
          <a:prstGeom prst="rect">
            <a:avLst/>
          </a:prstGeom>
        </p:spPr>
      </p:pic>
    </p:spTree>
    <p:extLst>
      <p:ext uri="{BB962C8B-B14F-4D97-AF65-F5344CB8AC3E}">
        <p14:creationId xmlns:p14="http://schemas.microsoft.com/office/powerpoint/2010/main" val="2367579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4D5BE2D257A74C8BE9C0197279FA2E" ma:contentTypeVersion="17" ma:contentTypeDescription="Create a new document." ma:contentTypeScope="" ma:versionID="cf975d3bcddbd96011dd23fbfd511eb8">
  <xsd:schema xmlns:xsd="http://www.w3.org/2001/XMLSchema" xmlns:xs="http://www.w3.org/2001/XMLSchema" xmlns:p="http://schemas.microsoft.com/office/2006/metadata/properties" xmlns:ns2="5a630895-09c5-46d0-9917-4443c4540440" xmlns:ns3="9d125aa1-49d0-4648-98cf-8d92e85c621f" targetNamespace="http://schemas.microsoft.com/office/2006/metadata/properties" ma:root="true" ma:fieldsID="b0e2a8dfb68a48588d46d579fda7b04e" ns2:_="" ns3:_="">
    <xsd:import namespace="5a630895-09c5-46d0-9917-4443c4540440"/>
    <xsd:import namespace="9d125aa1-49d0-4648-98cf-8d92e85c621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SearchProperties" minOccurs="0"/>
                <xsd:element ref="ns2:MediaServiceBillingMetadata"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630895-09c5-46d0-9917-4443c45404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c9513c6f-d7d3-4bba-9430-ae338114780f"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Notes" ma:index="24" nillable="true" ma:displayName="Notes" ma:description="Notes on changes, etc. For example- template updated with new taxonIDs" ma:format="Dropdown" ma:internalName="Note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d125aa1-49d0-4648-98cf-8d92e85c621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c13dd3ff-c5ae-43c5-a8ed-d21ef3c5fca0}" ma:internalName="TaxCatchAll" ma:showField="CatchAllData" ma:web="9d125aa1-49d0-4648-98cf-8d92e85c62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a630895-09c5-46d0-9917-4443c4540440">
      <Terms xmlns="http://schemas.microsoft.com/office/infopath/2007/PartnerControls"/>
    </lcf76f155ced4ddcb4097134ff3c332f>
    <TaxCatchAll xmlns="9d125aa1-49d0-4648-98cf-8d92e85c621f" xsi:nil="true"/>
    <SharedWithUsers xmlns="9d125aa1-49d0-4648-98cf-8d92e85c621f">
      <UserInfo>
        <DisplayName>Zerger, Andre (NCMI, Black Mountain)</DisplayName>
        <AccountId>13</AccountId>
        <AccountType/>
      </UserInfo>
      <UserInfo>
        <DisplayName>Suen, April (CorpAffairs, Black Mountain)</DisplayName>
        <AccountId>742</AccountId>
        <AccountType/>
      </UserInfo>
    </SharedWithUsers>
    <Notes xmlns="5a630895-09c5-46d0-9917-4443c4540440" xsi:nil="true"/>
  </documentManagement>
</p:properties>
</file>

<file path=customXml/itemProps1.xml><?xml version="1.0" encoding="utf-8"?>
<ds:datastoreItem xmlns:ds="http://schemas.openxmlformats.org/officeDocument/2006/customXml" ds:itemID="{1CBDDC91-C1E5-479C-8529-9448C28232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630895-09c5-46d0-9917-4443c4540440"/>
    <ds:schemaRef ds:uri="9d125aa1-49d0-4648-98cf-8d92e85c62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93F8A45-AD4F-4EED-A3E5-DD7E8D55E064}">
  <ds:schemaRefs>
    <ds:schemaRef ds:uri="http://schemas.microsoft.com/sharepoint/v3/contenttype/forms"/>
  </ds:schemaRefs>
</ds:datastoreItem>
</file>

<file path=customXml/itemProps3.xml><?xml version="1.0" encoding="utf-8"?>
<ds:datastoreItem xmlns:ds="http://schemas.openxmlformats.org/officeDocument/2006/customXml" ds:itemID="{B2323D88-49DC-4654-A131-456F8D922A72}">
  <ds:schemaRefs>
    <ds:schemaRef ds:uri="http://schemas.microsoft.com/office/2006/metadata/properties"/>
    <ds:schemaRef ds:uri="http://purl.org/dc/elements/1.1/"/>
    <ds:schemaRef ds:uri="http://purl.org/dc/dcmitype/"/>
    <ds:schemaRef ds:uri="9d125aa1-49d0-4648-98cf-8d92e85c621f"/>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5a630895-09c5-46d0-9917-4443c4540440"/>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24908</TotalTime>
  <Words>1890</Words>
  <Application>Microsoft Office PowerPoint</Application>
  <PresentationFormat>Custom</PresentationFormat>
  <Paragraphs>267</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Lato Italics</vt:lpstr>
      <vt:lpstr>Lato</vt:lpstr>
      <vt:lpstr>Calibri</vt:lpstr>
      <vt:lpstr>Roboto</vt:lpstr>
      <vt:lpstr>Open Sans</vt:lpstr>
      <vt:lpstr>Lato Bold Italics</vt:lpstr>
      <vt:lpstr>Arial</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the ALA</dc:title>
  <dc:creator>Suen, April (CorpAffairs, Black Mountain)</dc:creator>
  <cp:lastModifiedBy>Laity, Tania (NCMI, Black Mountain)</cp:lastModifiedBy>
  <cp:revision>16</cp:revision>
  <cp:lastPrinted>2024-09-03T23:17:11Z</cp:lastPrinted>
  <dcterms:created xsi:type="dcterms:W3CDTF">2006-08-16T00:00:00Z</dcterms:created>
  <dcterms:modified xsi:type="dcterms:W3CDTF">2026-05-26T01:03:07Z</dcterms:modified>
  <dc:identifier>DAFp4whe6WU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d019f4c7-5173-4fe8-84e0-fbaecae3f1e4</vt:lpwstr>
  </property>
  <property fmtid="{D5CDD505-2E9C-101B-9397-08002B2CF9AE}" pid="3" name="MediaServiceImageTags">
    <vt:lpwstr/>
  </property>
  <property fmtid="{D5CDD505-2E9C-101B-9397-08002B2CF9AE}" pid="4" name="ContentTypeId">
    <vt:lpwstr>0x010100894D5BE2D257A74C8BE9C0197279FA2E</vt:lpwstr>
  </property>
  <property fmtid="{D5CDD505-2E9C-101B-9397-08002B2CF9AE}" pid="5" name="MSIP_Label_4f61d463-a7a2-4f89-972c-cb4d4e3c5dfc_Enabled">
    <vt:lpwstr>true</vt:lpwstr>
  </property>
  <property fmtid="{D5CDD505-2E9C-101B-9397-08002B2CF9AE}" pid="6" name="MSIP_Label_4f61d463-a7a2-4f89-972c-cb4d4e3c5dfc_SetDate">
    <vt:lpwstr>2025-09-16T00:11:53Z</vt:lpwstr>
  </property>
  <property fmtid="{D5CDD505-2E9C-101B-9397-08002B2CF9AE}" pid="7" name="MSIP_Label_4f61d463-a7a2-4f89-972c-cb4d4e3c5dfc_Method">
    <vt:lpwstr>Privileged</vt:lpwstr>
  </property>
  <property fmtid="{D5CDD505-2E9C-101B-9397-08002B2CF9AE}" pid="8" name="MSIP_Label_4f61d463-a7a2-4f89-972c-cb4d4e3c5dfc_Name">
    <vt:lpwstr>UNOFFICIAL</vt:lpwstr>
  </property>
  <property fmtid="{D5CDD505-2E9C-101B-9397-08002B2CF9AE}" pid="9" name="MSIP_Label_4f61d463-a7a2-4f89-972c-cb4d4e3c5dfc_SiteId">
    <vt:lpwstr>0fe05593-19ac-4f98-adbf-0375fce7f160</vt:lpwstr>
  </property>
  <property fmtid="{D5CDD505-2E9C-101B-9397-08002B2CF9AE}" pid="10" name="MSIP_Label_4f61d463-a7a2-4f89-972c-cb4d4e3c5dfc_ActionId">
    <vt:lpwstr>b641b68e-04c4-4f04-ae31-b4dc828718d6</vt:lpwstr>
  </property>
  <property fmtid="{D5CDD505-2E9C-101B-9397-08002B2CF9AE}" pid="11" name="MSIP_Label_4f61d463-a7a2-4f89-972c-cb4d4e3c5dfc_ContentBits">
    <vt:lpwstr>3</vt:lpwstr>
  </property>
  <property fmtid="{D5CDD505-2E9C-101B-9397-08002B2CF9AE}" pid="12" name="MSIP_Label_4f61d463-a7a2-4f89-972c-cb4d4e3c5dfc_Tag">
    <vt:lpwstr>10, 0, 1, 1</vt:lpwstr>
  </property>
  <property fmtid="{D5CDD505-2E9C-101B-9397-08002B2CF9AE}" pid="13" name="ClassificationContentMarkingFooterLocations">
    <vt:lpwstr>Office Theme:10</vt:lpwstr>
  </property>
  <property fmtid="{D5CDD505-2E9C-101B-9397-08002B2CF9AE}" pid="14" name="ClassificationContentMarkingFooterText">
    <vt:lpwstr>UNOFFICIAL</vt:lpwstr>
  </property>
  <property fmtid="{D5CDD505-2E9C-101B-9397-08002B2CF9AE}" pid="15" name="ClassificationContentMarkingHeaderLocations">
    <vt:lpwstr>Office Theme:9</vt:lpwstr>
  </property>
  <property fmtid="{D5CDD505-2E9C-101B-9397-08002B2CF9AE}" pid="16" name="ClassificationContentMarkingHeaderText">
    <vt:lpwstr>UNOFFICIAL</vt:lpwstr>
  </property>
</Properties>
</file>