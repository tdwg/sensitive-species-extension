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5143500" type="screen16x9"/>
  <p:notesSz cx="6858000" cy="9144000"/>
  <p:embeddedFontLst>
    <p:embeddedFont>
      <p:font typeface="Koh Santepheap" panose="020B0604020202020204" charset="0"/>
      <p:regular r:id="rId27"/>
      <p:bold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Open Sans ExtraBold" panose="020B0906030804020204" pitchFamily="34" charset="0"/>
      <p:bold r:id="rId33"/>
      <p:boldItalic r:id="rId34"/>
    </p:embeddedFont>
    <p:embeddedFont>
      <p:font typeface="Open Sans SemiBold" panose="020B0706030804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736">
          <p15:clr>
            <a:srgbClr val="A4A3A4"/>
          </p15:clr>
        </p15:guide>
        <p15:guide id="2" pos="5472">
          <p15:clr>
            <a:srgbClr val="9AA0A6"/>
          </p15:clr>
        </p15:guide>
        <p15:guide id="3" orient="horz" pos="144">
          <p15:clr>
            <a:srgbClr val="9AA0A6"/>
          </p15:clr>
        </p15:guide>
        <p15:guide id="4" orient="horz" pos="2971">
          <p15:clr>
            <a:srgbClr val="9AA0A6"/>
          </p15:clr>
        </p15:guide>
        <p15:guide id="5" pos="288">
          <p15:clr>
            <a:srgbClr val="9AA0A6"/>
          </p15:clr>
        </p15:guide>
        <p15:guide id="6" pos="3024">
          <p15:clr>
            <a:srgbClr val="A4A3A4"/>
          </p15:clr>
        </p15:guide>
        <p15:guide id="7" pos="476">
          <p15:clr>
            <a:srgbClr val="9AA0A6"/>
          </p15:clr>
        </p15:guide>
        <p15:guide id="8" pos="5285">
          <p15:clr>
            <a:srgbClr val="9AA0A6"/>
          </p15:clr>
        </p15:guide>
        <p15:guide id="9" orient="horz" pos="75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05177E-11FF-4EEF-8EF0-1EC3EF66FE3F}" v="1" dt="2025-09-24T22:26:17.977"/>
  </p1510:revLst>
</p1510:revInfo>
</file>

<file path=ppt/tableStyles.xml><?xml version="1.0" encoding="utf-8"?>
<a:tblStyleLst xmlns:a="http://schemas.openxmlformats.org/drawingml/2006/main" def="{80A22A97-FE55-4426-AA9E-EEDB4D94299D}">
  <a:tblStyle styleId="{80A22A97-FE55-4426-AA9E-EEDB4D9429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2" d="100"/>
          <a:sy n="192" d="100"/>
        </p:scale>
        <p:origin x="174" y="264"/>
      </p:cViewPr>
      <p:guideLst>
        <p:guide pos="2736"/>
        <p:guide pos="5472"/>
        <p:guide orient="horz" pos="144"/>
        <p:guide orient="horz" pos="2971"/>
        <p:guide pos="288"/>
        <p:guide pos="3024"/>
        <p:guide pos="476"/>
        <p:guide pos="5285"/>
        <p:guide orient="horz" pos="7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ty, Tania (NCMI, Black Mountain)" userId="6bb1040d-7684-4f29-bf0c-3de43c7525df" providerId="ADAL" clId="{31BC52A8-4683-4EFB-8D68-0D925E24C2CA}"/>
    <pc:docChg chg="custSel mod modSld modMainMaster">
      <pc:chgData name="Laity, Tania (NCMI, Black Mountain)" userId="6bb1040d-7684-4f29-bf0c-3de43c7525df" providerId="ADAL" clId="{31BC52A8-4683-4EFB-8D68-0D925E24C2CA}" dt="2025-09-24T22:26:18.203" v="15" actId="27636"/>
      <pc:docMkLst>
        <pc:docMk/>
      </pc:docMkLst>
      <pc:sldChg chg="modSp mod">
        <pc:chgData name="Laity, Tania (NCMI, Black Mountain)" userId="6bb1040d-7684-4f29-bf0c-3de43c7525df" providerId="ADAL" clId="{31BC52A8-4683-4EFB-8D68-0D925E24C2CA}" dt="2025-09-24T22:26:18.169" v="2" actId="27636"/>
        <pc:sldMkLst>
          <pc:docMk/>
          <pc:sldMk cId="0" sldId="258"/>
        </pc:sldMkLst>
        <pc:spChg chg="mod">
          <ac:chgData name="Laity, Tania (NCMI, Black Mountain)" userId="6bb1040d-7684-4f29-bf0c-3de43c7525df" providerId="ADAL" clId="{31BC52A8-4683-4EFB-8D68-0D925E24C2CA}" dt="2025-09-24T22:26:18.169" v="2" actId="27636"/>
          <ac:spMkLst>
            <pc:docMk/>
            <pc:sldMk cId="0" sldId="258"/>
            <ac:spMk id="71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72" v="3" actId="27636"/>
        <pc:sldMkLst>
          <pc:docMk/>
          <pc:sldMk cId="0" sldId="259"/>
        </pc:sldMkLst>
        <pc:spChg chg="mod">
          <ac:chgData name="Laity, Tania (NCMI, Black Mountain)" userId="6bb1040d-7684-4f29-bf0c-3de43c7525df" providerId="ADAL" clId="{31BC52A8-4683-4EFB-8D68-0D925E24C2CA}" dt="2025-09-24T22:26:18.172" v="3" actId="27636"/>
          <ac:spMkLst>
            <pc:docMk/>
            <pc:sldMk cId="0" sldId="259"/>
            <ac:spMk id="81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78" v="4" actId="27636"/>
        <pc:sldMkLst>
          <pc:docMk/>
          <pc:sldMk cId="0" sldId="261"/>
        </pc:sldMkLst>
        <pc:spChg chg="mod">
          <ac:chgData name="Laity, Tania (NCMI, Black Mountain)" userId="6bb1040d-7684-4f29-bf0c-3de43c7525df" providerId="ADAL" clId="{31BC52A8-4683-4EFB-8D68-0D925E24C2CA}" dt="2025-09-24T22:26:18.178" v="4" actId="27636"/>
          <ac:spMkLst>
            <pc:docMk/>
            <pc:sldMk cId="0" sldId="261"/>
            <ac:spMk id="100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79" v="5" actId="27636"/>
        <pc:sldMkLst>
          <pc:docMk/>
          <pc:sldMk cId="0" sldId="262"/>
        </pc:sldMkLst>
        <pc:spChg chg="mod">
          <ac:chgData name="Laity, Tania (NCMI, Black Mountain)" userId="6bb1040d-7684-4f29-bf0c-3de43c7525df" providerId="ADAL" clId="{31BC52A8-4683-4EFB-8D68-0D925E24C2CA}" dt="2025-09-24T22:26:18.179" v="5" actId="27636"/>
          <ac:spMkLst>
            <pc:docMk/>
            <pc:sldMk cId="0" sldId="262"/>
            <ac:spMk id="109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82" v="6" actId="27636"/>
        <pc:sldMkLst>
          <pc:docMk/>
          <pc:sldMk cId="0" sldId="264"/>
        </pc:sldMkLst>
        <pc:spChg chg="mod">
          <ac:chgData name="Laity, Tania (NCMI, Black Mountain)" userId="6bb1040d-7684-4f29-bf0c-3de43c7525df" providerId="ADAL" clId="{31BC52A8-4683-4EFB-8D68-0D925E24C2CA}" dt="2025-09-24T22:26:18.182" v="6" actId="27636"/>
          <ac:spMkLst>
            <pc:docMk/>
            <pc:sldMk cId="0" sldId="264"/>
            <ac:spMk id="124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84" v="7" actId="27636"/>
        <pc:sldMkLst>
          <pc:docMk/>
          <pc:sldMk cId="0" sldId="265"/>
        </pc:sldMkLst>
        <pc:spChg chg="mod">
          <ac:chgData name="Laity, Tania (NCMI, Black Mountain)" userId="6bb1040d-7684-4f29-bf0c-3de43c7525df" providerId="ADAL" clId="{31BC52A8-4683-4EFB-8D68-0D925E24C2CA}" dt="2025-09-24T22:26:18.184" v="7" actId="27636"/>
          <ac:spMkLst>
            <pc:docMk/>
            <pc:sldMk cId="0" sldId="265"/>
            <ac:spMk id="132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85" v="8" actId="27636"/>
        <pc:sldMkLst>
          <pc:docMk/>
          <pc:sldMk cId="0" sldId="266"/>
        </pc:sldMkLst>
        <pc:spChg chg="mod">
          <ac:chgData name="Laity, Tania (NCMI, Black Mountain)" userId="6bb1040d-7684-4f29-bf0c-3de43c7525df" providerId="ADAL" clId="{31BC52A8-4683-4EFB-8D68-0D925E24C2CA}" dt="2025-09-24T22:26:18.185" v="8" actId="27636"/>
          <ac:spMkLst>
            <pc:docMk/>
            <pc:sldMk cId="0" sldId="266"/>
            <ac:spMk id="140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87" v="9" actId="27636"/>
        <pc:sldMkLst>
          <pc:docMk/>
          <pc:sldMk cId="0" sldId="267"/>
        </pc:sldMkLst>
        <pc:spChg chg="mod">
          <ac:chgData name="Laity, Tania (NCMI, Black Mountain)" userId="6bb1040d-7684-4f29-bf0c-3de43c7525df" providerId="ADAL" clId="{31BC52A8-4683-4EFB-8D68-0D925E24C2CA}" dt="2025-09-24T22:26:18.187" v="9" actId="27636"/>
          <ac:spMkLst>
            <pc:docMk/>
            <pc:sldMk cId="0" sldId="267"/>
            <ac:spMk id="149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89" v="10" actId="27636"/>
        <pc:sldMkLst>
          <pc:docMk/>
          <pc:sldMk cId="0" sldId="268"/>
        </pc:sldMkLst>
        <pc:spChg chg="mod">
          <ac:chgData name="Laity, Tania (NCMI, Black Mountain)" userId="6bb1040d-7684-4f29-bf0c-3de43c7525df" providerId="ADAL" clId="{31BC52A8-4683-4EFB-8D68-0D925E24C2CA}" dt="2025-09-24T22:26:18.189" v="10" actId="27636"/>
          <ac:spMkLst>
            <pc:docMk/>
            <pc:sldMk cId="0" sldId="268"/>
            <ac:spMk id="163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91" v="11" actId="27636"/>
        <pc:sldMkLst>
          <pc:docMk/>
          <pc:sldMk cId="0" sldId="269"/>
        </pc:sldMkLst>
        <pc:spChg chg="mod">
          <ac:chgData name="Laity, Tania (NCMI, Black Mountain)" userId="6bb1040d-7684-4f29-bf0c-3de43c7525df" providerId="ADAL" clId="{31BC52A8-4683-4EFB-8D68-0D925E24C2CA}" dt="2025-09-24T22:26:18.191" v="11" actId="27636"/>
          <ac:spMkLst>
            <pc:docMk/>
            <pc:sldMk cId="0" sldId="269"/>
            <ac:spMk id="174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93" v="12" actId="27636"/>
        <pc:sldMkLst>
          <pc:docMk/>
          <pc:sldMk cId="0" sldId="270"/>
        </pc:sldMkLst>
        <pc:spChg chg="mod">
          <ac:chgData name="Laity, Tania (NCMI, Black Mountain)" userId="6bb1040d-7684-4f29-bf0c-3de43c7525df" providerId="ADAL" clId="{31BC52A8-4683-4EFB-8D68-0D925E24C2CA}" dt="2025-09-24T22:26:18.193" v="12" actId="27636"/>
          <ac:spMkLst>
            <pc:docMk/>
            <pc:sldMk cId="0" sldId="270"/>
            <ac:spMk id="187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97" v="13" actId="27636"/>
        <pc:sldMkLst>
          <pc:docMk/>
          <pc:sldMk cId="0" sldId="272"/>
        </pc:sldMkLst>
        <pc:spChg chg="mod">
          <ac:chgData name="Laity, Tania (NCMI, Black Mountain)" userId="6bb1040d-7684-4f29-bf0c-3de43c7525df" providerId="ADAL" clId="{31BC52A8-4683-4EFB-8D68-0D925E24C2CA}" dt="2025-09-24T22:26:18.197" v="13" actId="27636"/>
          <ac:spMkLst>
            <pc:docMk/>
            <pc:sldMk cId="0" sldId="272"/>
            <ac:spMk id="206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198" v="14" actId="27636"/>
        <pc:sldMkLst>
          <pc:docMk/>
          <pc:sldMk cId="0" sldId="273"/>
        </pc:sldMkLst>
        <pc:spChg chg="mod">
          <ac:chgData name="Laity, Tania (NCMI, Black Mountain)" userId="6bb1040d-7684-4f29-bf0c-3de43c7525df" providerId="ADAL" clId="{31BC52A8-4683-4EFB-8D68-0D925E24C2CA}" dt="2025-09-24T22:26:18.198" v="14" actId="27636"/>
          <ac:spMkLst>
            <pc:docMk/>
            <pc:sldMk cId="0" sldId="273"/>
            <ac:spMk id="215" creationId="{00000000-0000-0000-0000-000000000000}"/>
          </ac:spMkLst>
        </pc:spChg>
      </pc:sldChg>
      <pc:sldChg chg="modSp mod">
        <pc:chgData name="Laity, Tania (NCMI, Black Mountain)" userId="6bb1040d-7684-4f29-bf0c-3de43c7525df" providerId="ADAL" clId="{31BC52A8-4683-4EFB-8D68-0D925E24C2CA}" dt="2025-09-24T22:26:18.203" v="15" actId="27636"/>
        <pc:sldMkLst>
          <pc:docMk/>
          <pc:sldMk cId="0" sldId="275"/>
        </pc:sldMkLst>
        <pc:spChg chg="mod">
          <ac:chgData name="Laity, Tania (NCMI, Black Mountain)" userId="6bb1040d-7684-4f29-bf0c-3de43c7525df" providerId="ADAL" clId="{31BC52A8-4683-4EFB-8D68-0D925E24C2CA}" dt="2025-09-24T22:26:18.203" v="15" actId="27636"/>
          <ac:spMkLst>
            <pc:docMk/>
            <pc:sldMk cId="0" sldId="275"/>
            <ac:spMk id="231" creationId="{00000000-0000-0000-0000-000000000000}"/>
          </ac:spMkLst>
        </pc:spChg>
      </pc:sldChg>
      <pc:sldMasterChg chg="addSp mod">
        <pc:chgData name="Laity, Tania (NCMI, Black Mountain)" userId="6bb1040d-7684-4f29-bf0c-3de43c7525df" providerId="ADAL" clId="{31BC52A8-4683-4EFB-8D68-0D925E24C2CA}" dt="2025-09-24T22:23:46.301" v="0" actId="33475"/>
        <pc:sldMasterMkLst>
          <pc:docMk/>
          <pc:sldMasterMk cId="0" sldId="2147483659"/>
        </pc:sldMasterMkLst>
        <pc:spChg chg="add">
          <ac:chgData name="Laity, Tania (NCMI, Black Mountain)" userId="6bb1040d-7684-4f29-bf0c-3de43c7525df" providerId="ADAL" clId="{31BC52A8-4683-4EFB-8D68-0D925E24C2CA}" dt="2025-09-24T22:23:46.301" v="0" actId="33475"/>
          <ac:spMkLst>
            <pc:docMk/>
            <pc:sldMasterMk cId="0" sldId="2147483659"/>
            <ac:spMk id="4" creationId="{D95AFFAE-A2C6-F1C9-FC54-F12DFBC4D22D}"/>
          </ac:spMkLst>
        </pc:spChg>
        <pc:spChg chg="add">
          <ac:chgData name="Laity, Tania (NCMI, Black Mountain)" userId="6bb1040d-7684-4f29-bf0c-3de43c7525df" providerId="ADAL" clId="{31BC52A8-4683-4EFB-8D68-0D925E24C2CA}" dt="2025-09-24T22:23:46.301" v="0" actId="33475"/>
          <ac:spMkLst>
            <pc:docMk/>
            <pc:sldMasterMk cId="0" sldId="2147483659"/>
            <ac:spMk id="5" creationId="{D13F926F-3EFF-0479-AD07-62E5C61ABA84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29c2422c0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29c2422c0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50e0ad9c7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50e0ad9c7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50e0ad9c7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50e0ad9c7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404d79d9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404d79d9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50e0ad9c7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50e0ad9c7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50e0ad9c7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50e0ad9c7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50e0ad9c7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50e0ad9c7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1ab2ae03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1ab2ae03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1ab2ae03a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1ab2ae03a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ab2ae03a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1ab2ae03a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1ab2ae03a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1ab2ae03a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1ab2ae03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1ab2ae03a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1ab2ae03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1ab2ae03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1ab2ae03a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1ab2ae03a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1ab2ae03a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1ab2ae03a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1ab2ae03a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1ab2ae03a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1ab2ae03a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1ab2ae03a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1ab2ae03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1ab2ae03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1ab2ae03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81ab2ae03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1ab2ae03a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1ab2ae03a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3D5B6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AFFAE-A2C6-F1C9-FC54-F12DFBC4D2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96537" y="63500"/>
            <a:ext cx="58578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F926F-3EFF-0479-AD07-62E5C61ABA8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96537" y="4897120"/>
            <a:ext cx="58578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s.gbif.org/vocabulary/gbif/establishment_means.xml" TargetMode="External"/><Relationship Id="rId5" Type="http://schemas.openxmlformats.org/officeDocument/2006/relationships/hyperlink" Target="https://gbif.github.io/dwc-dp/#darwin-core-conceptual-model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bif.github.io/dwc-dp/c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pecs.frictionlessdata.io/schemas/data-package.json" TargetMode="Externa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3175" y="4342900"/>
            <a:ext cx="1493623" cy="3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73575" y="1449707"/>
            <a:ext cx="6146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RASD </a:t>
            </a:r>
            <a:endParaRPr sz="30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- Vocabulary and data model</a:t>
            </a:r>
            <a:endParaRPr sz="30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57200" y="4021000"/>
            <a:ext cx="30000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Gaia Resources </a:t>
            </a:r>
            <a:endParaRPr sz="800" b="1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+61 8 9227 7309 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Level 6, FLUX 191 St Georges Terrace, Perth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enquiries@gaiaresources.com.au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1987350" y="2299825"/>
            <a:ext cx="5169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Current Scene</a:t>
            </a:r>
            <a:endParaRPr sz="26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386200" y="1961130"/>
            <a:ext cx="437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1EBD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RASD - Vocabulary and data model</a:t>
            </a:r>
            <a:endParaRPr>
              <a:solidFill>
                <a:srgbClr val="F1EBD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Where we are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3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40800" y="1774500"/>
            <a:ext cx="4002600" cy="16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100"/>
              <a:buFont typeface="Open Sans"/>
              <a:buChar char="●"/>
            </a:pPr>
            <a:r>
              <a:rPr lang="en-GB" sz="21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Structured list of reasons for restrictions and data treatments </a:t>
            </a:r>
            <a:endParaRPr sz="21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100"/>
              <a:buFont typeface="Open Sans"/>
              <a:buChar char="●"/>
            </a:pPr>
            <a:r>
              <a:rPr lang="en-GB" sz="21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Conceptual model</a:t>
            </a:r>
            <a:endParaRPr sz="11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475" y="304798"/>
            <a:ext cx="4330199" cy="1997927"/>
          </a:xfrm>
          <a:prstGeom prst="rect">
            <a:avLst/>
          </a:prstGeom>
          <a:solidFill>
            <a:srgbClr val="F1EB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4" name="Google Shape;74;p15" title="RASD conceptual data mode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2050" y="2347550"/>
            <a:ext cx="3494751" cy="2771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Where we are going…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4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40800" y="1680525"/>
            <a:ext cx="4002600" cy="20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100"/>
              <a:buFont typeface="Open Sans"/>
              <a:buChar char="●"/>
            </a:pPr>
            <a:r>
              <a:rPr lang="en-GB" sz="21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Adjust the structure of the list into a FAIR vocabulary</a:t>
            </a:r>
            <a:endParaRPr sz="21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100"/>
              <a:buFont typeface="Open Sans"/>
              <a:buChar char="●"/>
            </a:pPr>
            <a:r>
              <a:rPr lang="en-GB" sz="21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Apply the conceptual model to data and to DwC/ DwC-DP</a:t>
            </a:r>
            <a:endParaRPr sz="21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523" y="51100"/>
            <a:ext cx="2999625" cy="33256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3775" y="3160750"/>
            <a:ext cx="3611674" cy="1736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" name="Google Shape;85;p16"/>
          <p:cNvSpPr txBox="1"/>
          <p:nvPr/>
        </p:nvSpPr>
        <p:spPr>
          <a:xfrm>
            <a:off x="6073125" y="4835700"/>
            <a:ext cx="292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u="sng">
                <a:solidFill>
                  <a:schemeClr val="hlink"/>
                </a:solidFill>
                <a:hlinkClick r:id="rId5"/>
              </a:rPr>
              <a:t>https://gbif.github.io/dwc-dp/#darwin-core-conceptual-model</a:t>
            </a:r>
            <a:r>
              <a:rPr lang="en-GB" sz="800">
                <a:solidFill>
                  <a:schemeClr val="dk2"/>
                </a:solidFill>
              </a:rPr>
              <a:t>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7669150" y="1274875"/>
            <a:ext cx="1470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u="sng">
                <a:solidFill>
                  <a:schemeClr val="hlink"/>
                </a:solidFill>
                <a:hlinkClick r:id="rId6"/>
              </a:rPr>
              <a:t>https://rs.gbif.org/vocabulary/gbif/establishment_means.xml</a:t>
            </a:r>
            <a:r>
              <a:rPr lang="en-GB" sz="800">
                <a:solidFill>
                  <a:schemeClr val="dk2"/>
                </a:solidFill>
              </a:rPr>
              <a:t> 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/>
        </p:nvSpPr>
        <p:spPr>
          <a:xfrm>
            <a:off x="1987350" y="2299825"/>
            <a:ext cx="5169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Vocabulary exploration - structure</a:t>
            </a:r>
            <a:endParaRPr sz="30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386200" y="1961130"/>
            <a:ext cx="437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1EBD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RASD - Vocabulary and data model</a:t>
            </a:r>
            <a:endParaRPr>
              <a:solidFill>
                <a:srgbClr val="F1EBD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Restructure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6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475" y="1732123"/>
            <a:ext cx="4330199" cy="1997927"/>
          </a:xfrm>
          <a:prstGeom prst="rect">
            <a:avLst/>
          </a:prstGeom>
          <a:solidFill>
            <a:srgbClr val="F1EB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2" name="Google Shape;102;p18"/>
          <p:cNvSpPr txBox="1"/>
          <p:nvPr/>
        </p:nvSpPr>
        <p:spPr>
          <a:xfrm>
            <a:off x="272700" y="1701325"/>
            <a:ext cx="4002600" cy="20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100"/>
              <a:buFont typeface="Open Sans"/>
              <a:buChar char="●"/>
            </a:pPr>
            <a:r>
              <a:rPr lang="en-GB" sz="21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Shortened sub-category titles to short phrase</a:t>
            </a:r>
            <a:endParaRPr sz="21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100"/>
              <a:buFont typeface="Open Sans"/>
              <a:buChar char="●"/>
            </a:pPr>
            <a:r>
              <a:rPr lang="en-GB" sz="21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Follow SKOS notation</a:t>
            </a:r>
            <a:endParaRPr sz="21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100"/>
              <a:buFont typeface="Open Sans"/>
              <a:buChar char="●"/>
            </a:pPr>
            <a:r>
              <a:rPr lang="en-GB" sz="21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FAIR data principles</a:t>
            </a:r>
            <a:endParaRPr sz="21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100"/>
              <a:buFont typeface="Open Sans"/>
              <a:buChar char="●"/>
            </a:pPr>
            <a:r>
              <a:rPr lang="en-GB" sz="21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Linked Data enabled</a:t>
            </a:r>
            <a:endParaRPr sz="21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Category = concept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7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50" y="1766323"/>
            <a:ext cx="4330199" cy="1997927"/>
          </a:xfrm>
          <a:prstGeom prst="rect">
            <a:avLst/>
          </a:prstGeom>
          <a:solidFill>
            <a:srgbClr val="F1EB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88" y="978400"/>
            <a:ext cx="9100226" cy="3923274"/>
          </a:xfrm>
          <a:prstGeom prst="rect">
            <a:avLst/>
          </a:prstGeom>
          <a:solidFill>
            <a:srgbClr val="F1EB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/>
        </p:nvSpPr>
        <p:spPr>
          <a:xfrm>
            <a:off x="1987350" y="2299825"/>
            <a:ext cx="5169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Vocabulary exploration - data model</a:t>
            </a:r>
            <a:endParaRPr sz="30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2386200" y="1961130"/>
            <a:ext cx="437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1EBD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RASD - Vocabulary and data model</a:t>
            </a:r>
            <a:endParaRPr>
              <a:solidFill>
                <a:srgbClr val="F1EBD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18" name="Google Shape;1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124" name="Google Shape;124;p21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9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5" name="Google Shape;125;p21" title="RASD conceptual data mod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1175" y="831750"/>
            <a:ext cx="4298725" cy="34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Conceptual model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340800" y="1774500"/>
            <a:ext cx="40026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1600"/>
              <a:buFont typeface="Open Sans"/>
              <a:buAutoNum type="arabicPeriod"/>
            </a:pPr>
            <a:r>
              <a:rPr lang="en-GB" sz="16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Relates original resource to treated resource via a treatment activity</a:t>
            </a:r>
            <a:endParaRPr sz="16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30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1600"/>
              <a:buFont typeface="Open Sans"/>
              <a:buAutoNum type="arabicPeriod"/>
            </a:pPr>
            <a:r>
              <a:rPr lang="en-GB" sz="16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The treatment came about due to a reason</a:t>
            </a:r>
            <a:endParaRPr sz="16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30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1600"/>
              <a:buFont typeface="Open Sans"/>
              <a:buAutoNum type="arabicPeriod"/>
            </a:pPr>
            <a:r>
              <a:rPr lang="en-GB" sz="16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The treatments and reasons have formalised vocabularies</a:t>
            </a:r>
            <a:endParaRPr sz="16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10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381000" y="304800"/>
            <a:ext cx="3843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Treatment - focal point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pic>
        <p:nvPicPr>
          <p:cNvPr id="134" name="Google Shape;134;p22" title="RASD Mieke model.png"/>
          <p:cNvPicPr preferRelativeResize="0"/>
          <p:nvPr/>
        </p:nvPicPr>
        <p:blipFill rotWithShape="1">
          <a:blip r:embed="rId3">
            <a:alphaModFix/>
          </a:blip>
          <a:srcRect l="1802" t="3461" r="1812" b="3480"/>
          <a:stretch/>
        </p:blipFill>
        <p:spPr>
          <a:xfrm>
            <a:off x="1696874" y="45963"/>
            <a:ext cx="6899130" cy="505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140" name="Google Shape;140;p23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11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Treatment - focal point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pic>
        <p:nvPicPr>
          <p:cNvPr id="142" name="Google Shape;142;p23" title="RASD Mieke model.png"/>
          <p:cNvPicPr preferRelativeResize="0"/>
          <p:nvPr/>
        </p:nvPicPr>
        <p:blipFill rotWithShape="1">
          <a:blip r:embed="rId3">
            <a:alphaModFix/>
          </a:blip>
          <a:srcRect l="1802" t="3461" r="1812" b="3480"/>
          <a:stretch/>
        </p:blipFill>
        <p:spPr>
          <a:xfrm>
            <a:off x="138500" y="1287649"/>
            <a:ext cx="4326449" cy="3167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23"/>
          <p:cNvGraphicFramePr/>
          <p:nvPr/>
        </p:nvGraphicFramePr>
        <p:xfrm>
          <a:off x="4676675" y="38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{80A22A97-FE55-4426-AA9E-EEDB4D94299D}</a:tableStyleId>
              </a:tblPr>
              <a:tblGrid>
                <a:gridCol w="199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Field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Example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treatmentID*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1D3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550e8400-e29b-41d4-a716-446655440000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originalResource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s1234-occ1234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treatedResource*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s1234-occ1234t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resourceType*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dwc:Occurrence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treatmentType*</a:t>
                      </a:r>
                      <a:endParaRPr sz="11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obfuscate coordinates</a:t>
                      </a:r>
                      <a:endParaRPr sz="11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treatmentTarget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dwc:decimalLatitude, dwc:decimalLongitude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treatmentReason*</a:t>
                      </a:r>
                      <a:endParaRPr sz="11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Potential harm to people or property</a:t>
                      </a:r>
                      <a:endParaRPr sz="11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treatmentDescription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Coordinates obfuscated to bottom left corner of map grid square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treatmentStartDate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2025-09-24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treatmentEndDate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treatmentOrganization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Department Of Environment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149" name="Google Shape;149;p24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12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381000" y="253706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implementation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838" y="712650"/>
            <a:ext cx="6482324" cy="434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 rotWithShape="1">
          <a:blip r:embed="rId3">
            <a:alphaModFix/>
          </a:blip>
          <a:srcRect l="34413" t="2671" r="53633" b="88115"/>
          <a:stretch/>
        </p:blipFill>
        <p:spPr>
          <a:xfrm>
            <a:off x="1721050" y="4021200"/>
            <a:ext cx="774925" cy="4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 txBox="1"/>
          <p:nvPr/>
        </p:nvSpPr>
        <p:spPr>
          <a:xfrm>
            <a:off x="1772150" y="4091400"/>
            <a:ext cx="630300" cy="276900"/>
          </a:xfrm>
          <a:prstGeom prst="rect">
            <a:avLst/>
          </a:prstGeom>
          <a:solidFill>
            <a:srgbClr val="93BFD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Treatment</a:t>
            </a:r>
            <a:endParaRPr sz="600">
              <a:solidFill>
                <a:schemeClr val="dk2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1601825" y="3791275"/>
            <a:ext cx="3704400" cy="749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5" name="Google Shape;155;p24"/>
          <p:cNvCxnSpPr/>
          <p:nvPr/>
        </p:nvCxnSpPr>
        <p:spPr>
          <a:xfrm>
            <a:off x="1133475" y="3280325"/>
            <a:ext cx="732300" cy="792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" name="Google Shape;156;p24"/>
          <p:cNvSpPr txBox="1"/>
          <p:nvPr/>
        </p:nvSpPr>
        <p:spPr>
          <a:xfrm>
            <a:off x="5928600" y="4767050"/>
            <a:ext cx="2758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https://gbif.github.io/dwc-dp/cm/</a:t>
            </a:r>
            <a:r>
              <a:rPr lang="en-GB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63" name="Google Shape;163;p25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13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247125" y="2438175"/>
            <a:ext cx="418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Resource = Occurrence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200" y="106775"/>
            <a:ext cx="5416699" cy="4929949"/>
          </a:xfrm>
          <a:prstGeom prst="rect">
            <a:avLst/>
          </a:prstGeom>
          <a:solidFill>
            <a:srgbClr val="F1EBD9"/>
          </a:solidFill>
          <a:ln>
            <a:noFill/>
          </a:ln>
        </p:spPr>
      </p:pic>
      <p:sp>
        <p:nvSpPr>
          <p:cNvPr id="166" name="Google Shape;166;p25"/>
          <p:cNvSpPr txBox="1"/>
          <p:nvPr/>
        </p:nvSpPr>
        <p:spPr>
          <a:xfrm>
            <a:off x="7738500" y="2930775"/>
            <a:ext cx="130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0000FF"/>
                </a:solidFill>
              </a:rPr>
              <a:t>treatment</a:t>
            </a:r>
            <a:endParaRPr sz="1800" b="1">
              <a:solidFill>
                <a:srgbClr val="0000FF"/>
              </a:solidFill>
            </a:endParaRPr>
          </a:p>
        </p:txBody>
      </p:sp>
      <p:cxnSp>
        <p:nvCxnSpPr>
          <p:cNvPr id="167" name="Google Shape;167;p25"/>
          <p:cNvCxnSpPr/>
          <p:nvPr/>
        </p:nvCxnSpPr>
        <p:spPr>
          <a:xfrm rot="10800000">
            <a:off x="6617775" y="2599125"/>
            <a:ext cx="1558200" cy="46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" name="Google Shape;168;p25"/>
          <p:cNvSpPr txBox="1"/>
          <p:nvPr/>
        </p:nvSpPr>
        <p:spPr>
          <a:xfrm rot="840824">
            <a:off x="7102860" y="2607595"/>
            <a:ext cx="740849" cy="30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applied to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174" name="Google Shape;174;p26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14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247125" y="2438175"/>
            <a:ext cx="418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Resource = Event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7675" y="86925"/>
            <a:ext cx="5552224" cy="50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/>
          <p:nvPr/>
        </p:nvSpPr>
        <p:spPr>
          <a:xfrm>
            <a:off x="7448975" y="605975"/>
            <a:ext cx="130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0000FF"/>
                </a:solidFill>
              </a:rPr>
              <a:t>treatment</a:t>
            </a:r>
            <a:endParaRPr sz="1800" b="1">
              <a:solidFill>
                <a:srgbClr val="0000FF"/>
              </a:solidFill>
            </a:endParaRPr>
          </a:p>
        </p:txBody>
      </p:sp>
      <p:cxnSp>
        <p:nvCxnSpPr>
          <p:cNvPr id="178" name="Google Shape;178;p26"/>
          <p:cNvCxnSpPr/>
          <p:nvPr/>
        </p:nvCxnSpPr>
        <p:spPr>
          <a:xfrm flipH="1">
            <a:off x="6353625" y="1040675"/>
            <a:ext cx="1260300" cy="140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6"/>
          <p:cNvSpPr txBox="1"/>
          <p:nvPr/>
        </p:nvSpPr>
        <p:spPr>
          <a:xfrm rot="-2928452">
            <a:off x="6681862" y="1364143"/>
            <a:ext cx="741128" cy="30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applied to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0" name="Google Shape;180;p26"/>
          <p:cNvCxnSpPr/>
          <p:nvPr/>
        </p:nvCxnSpPr>
        <p:spPr>
          <a:xfrm flipH="1">
            <a:off x="6294125" y="1040675"/>
            <a:ext cx="1311300" cy="147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1" name="Google Shape;181;p26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187" name="Google Shape;187;p27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15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247125" y="2438175"/>
            <a:ext cx="418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Resource = Survey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700" y="90850"/>
            <a:ext cx="5264200" cy="496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7"/>
          <p:cNvSpPr txBox="1"/>
          <p:nvPr/>
        </p:nvSpPr>
        <p:spPr>
          <a:xfrm>
            <a:off x="7738500" y="2930775"/>
            <a:ext cx="130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0000FF"/>
                </a:solidFill>
              </a:rPr>
              <a:t>treatment</a:t>
            </a:r>
            <a:endParaRPr sz="1800" b="1">
              <a:solidFill>
                <a:srgbClr val="0000FF"/>
              </a:solidFill>
            </a:endParaRPr>
          </a:p>
        </p:txBody>
      </p:sp>
      <p:cxnSp>
        <p:nvCxnSpPr>
          <p:cNvPr id="192" name="Google Shape;192;p27"/>
          <p:cNvCxnSpPr/>
          <p:nvPr/>
        </p:nvCxnSpPr>
        <p:spPr>
          <a:xfrm rot="10800000">
            <a:off x="6617775" y="2599125"/>
            <a:ext cx="1558200" cy="46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" name="Google Shape;193;p27"/>
          <p:cNvSpPr txBox="1"/>
          <p:nvPr/>
        </p:nvSpPr>
        <p:spPr>
          <a:xfrm rot="840824">
            <a:off x="7102860" y="2607595"/>
            <a:ext cx="740849" cy="30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applied to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What other resources might apply?</a:t>
            </a:r>
            <a:endParaRPr>
              <a:solidFill>
                <a:srgbClr val="3D5B66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99" name="Google Shape;199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Other resources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06" name="Google Shape;206;p29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17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332275" y="1441825"/>
            <a:ext cx="41820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Material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Media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Identification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OrganismInteraction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2475" y="189100"/>
            <a:ext cx="5158099" cy="473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/>
          <p:nvPr/>
        </p:nvSpPr>
        <p:spPr>
          <a:xfrm>
            <a:off x="4284275" y="0"/>
            <a:ext cx="48555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 implementation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15" name="Google Shape;215;p30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18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291300" y="1337625"/>
            <a:ext cx="4182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dwc:Occurrence</a:t>
            </a:r>
            <a:b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2000" b="1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hasTreatment</a:t>
            </a:r>
            <a:endParaRPr sz="2000" b="1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~dynamicProperties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4684200" y="105125"/>
            <a:ext cx="40026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{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  "treatmentID": "550e8400-e29b-41d4-a716-446655440000",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  "originalResource": "s1234-occ1234",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  "treatedResource": "s1234-occ1234t",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  "resourceType": "dwc:Occurrence",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  "treatmentType": "obfuscate coordinates",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  "treatmentTarget": "dwc:decimalLatitude, dwc:decimalLongitude",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  "treatmentReason": "Potential harm to people or property",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  "treatmentDescription": "Coordinates obfuscated to bottom left corner of map grid square",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  "treatmentStartDate": "24/09/2025",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  "treatmentEndDate": "",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  "treatmentOrganization": "Department Of Environment"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 }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]</a:t>
            </a: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8" name="Google Shape;2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21525"/>
            <a:ext cx="3979475" cy="2220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Are we using appropriate nomenclature?</a:t>
            </a:r>
            <a:endParaRPr>
              <a:solidFill>
                <a:srgbClr val="3D5B66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24" name="Google Shape;22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EBD9"/>
              </a:solidFill>
            </a:endParaRPr>
          </a:p>
        </p:txBody>
      </p:sp>
      <p:sp>
        <p:nvSpPr>
          <p:cNvPr id="230" name="Google Shape;230;p32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Things to think about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31" name="Google Shape;231;p32"/>
          <p:cNvSpPr txBox="1">
            <a:spLocks noGrp="1"/>
          </p:cNvSpPr>
          <p:nvPr>
            <p:ph type="sldNum" idx="12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spcFirstLastPara="1" wrap="square" lIns="0" tIns="91425" rIns="0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20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332275" y="1441825"/>
            <a:ext cx="41820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How to to apply “</a:t>
            </a:r>
            <a:r>
              <a:rPr lang="en-GB" sz="2000" b="1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Dataset</a:t>
            </a: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” restrictions? 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○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Part of the Data Package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How will the concept of “</a:t>
            </a:r>
            <a:r>
              <a:rPr lang="en-GB" sz="2000" b="1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Records</a:t>
            </a: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” be translated to DwC/DwC-DP?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5B66"/>
              </a:buClr>
              <a:buSzPts val="2000"/>
              <a:buFont typeface="Open Sans"/>
              <a:buChar char="○"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Replace with “Resource”?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3" name="Google Shape;2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3321" y="2433646"/>
            <a:ext cx="2856176" cy="262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650" y="86461"/>
            <a:ext cx="4445850" cy="220962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/>
        </p:nvSpPr>
        <p:spPr>
          <a:xfrm>
            <a:off x="5652900" y="442888"/>
            <a:ext cx="3456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hlinkClick r:id="rId5"/>
              </a:rPr>
              <a:t>https://specs.frictionlessdata.io/schemas/data-package.json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/>
        </p:nvSpPr>
        <p:spPr>
          <a:xfrm>
            <a:off x="2424300" y="2019900"/>
            <a:ext cx="4295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Thank you. </a:t>
            </a:r>
            <a:endParaRPr sz="26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41" name="Google Shape;241;p33"/>
          <p:cNvSpPr txBox="1"/>
          <p:nvPr/>
        </p:nvSpPr>
        <p:spPr>
          <a:xfrm>
            <a:off x="457200" y="4021000"/>
            <a:ext cx="30000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Gaia Resources </a:t>
            </a:r>
            <a:endParaRPr sz="800" b="1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+61 8 9227 7309 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Level 6, FLUX 191 St Georges Terrace, Perth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enquiries@gaiaresources.com.au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2" name="Google Shape;24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3175" y="4342900"/>
            <a:ext cx="1493623" cy="3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a630895-09c5-46d0-9917-4443c4540440">
      <Terms xmlns="http://schemas.microsoft.com/office/infopath/2007/PartnerControls"/>
    </lcf76f155ced4ddcb4097134ff3c332f>
    <TaxCatchAll xmlns="9d125aa1-49d0-4648-98cf-8d92e85c621f" xsi:nil="true"/>
    <Notes xmlns="5a630895-09c5-46d0-9917-4443c454044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4D5BE2D257A74C8BE9C0197279FA2E" ma:contentTypeVersion="17" ma:contentTypeDescription="Create a new document." ma:contentTypeScope="" ma:versionID="6ac678957a261dfe7b9d2caa33b565f2">
  <xsd:schema xmlns:xsd="http://www.w3.org/2001/XMLSchema" xmlns:xs="http://www.w3.org/2001/XMLSchema" xmlns:p="http://schemas.microsoft.com/office/2006/metadata/properties" xmlns:ns2="5a630895-09c5-46d0-9917-4443c4540440" xmlns:ns3="9d125aa1-49d0-4648-98cf-8d92e85c621f" targetNamespace="http://schemas.microsoft.com/office/2006/metadata/properties" ma:root="true" ma:fieldsID="e84cacbaeaf5db9db70723887834b644" ns2:_="" ns3:_="">
    <xsd:import namespace="5a630895-09c5-46d0-9917-4443c4540440"/>
    <xsd:import namespace="9d125aa1-49d0-4648-98cf-8d92e85c62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2:MediaServiceBillingMetadata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630895-09c5-46d0-9917-4443c45404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9513c6f-d7d3-4bba-9430-ae33811478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Notes" ma:index="24" nillable="true" ma:displayName="Notes" ma:description="Notes on changes, etc. For example- template updated with new taxonIDs" ma:format="Dropdown" ma:internalName="Notes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125aa1-49d0-4648-98cf-8d92e85c621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c13dd3ff-c5ae-43c5-a8ed-d21ef3c5fca0}" ma:internalName="TaxCatchAll" ma:showField="CatchAllData" ma:web="9d125aa1-49d0-4648-98cf-8d92e85c62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9140C7-1A68-4D68-8E73-7EBAC4FBDD83}">
  <ds:schemaRefs>
    <ds:schemaRef ds:uri="9d125aa1-49d0-4648-98cf-8d92e85c621f"/>
    <ds:schemaRef ds:uri="http://purl.org/dc/elements/1.1/"/>
    <ds:schemaRef ds:uri="http://www.w3.org/XML/1998/namespace"/>
    <ds:schemaRef ds:uri="http://schemas.microsoft.com/office/2006/metadata/properties"/>
    <ds:schemaRef ds:uri="5a630895-09c5-46d0-9917-4443c4540440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460122A-C7D5-403F-BB36-72BC0E09BE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17BD80-C633-45DC-9E6B-0AF5EBBB0C2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Office PowerPoint</Application>
  <PresentationFormat>On-screen Show (16:9)</PresentationFormat>
  <Paragraphs>129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Calibri</vt:lpstr>
      <vt:lpstr>Arial</vt:lpstr>
      <vt:lpstr>Koh Santepheap</vt:lpstr>
      <vt:lpstr>Open Sans SemiBold</vt:lpstr>
      <vt:lpstr>Open Sans</vt:lpstr>
      <vt:lpstr>Open Sans ExtraBold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other resources might apply?</vt:lpstr>
      <vt:lpstr>PowerPoint Presentation</vt:lpstr>
      <vt:lpstr>PowerPoint Presentation</vt:lpstr>
      <vt:lpstr>Are we using appropriate nomenclature?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Laity, Tania (NCMI, Black Mountain)</cp:lastModifiedBy>
  <cp:revision>1</cp:revision>
  <dcterms:modified xsi:type="dcterms:W3CDTF">2025-09-24T22:26:39Z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0x010100894D5BE2D257A74C8BE9C0197279FA2E</vt:lpwstr>
  </property>
  <property fmtid="{D5CDD505-2E9C-101B-9397-08002B2CF9AE}" pid="3" name="MSIP_Label_0ad370f1-5840-4c36-bb65-89acaaf849ca_Enabled">
    <vt:lpwstr>true</vt:lpwstr>
  </property>
  <property fmtid="{D5CDD505-2E9C-101B-9397-08002B2CF9AE}" pid="4" name="MSIP_Label_0ad370f1-5840-4c36-bb65-89acaaf849ca_SetDate">
    <vt:lpwstr>2025-09-24T22:23:46Z</vt:lpwstr>
  </property>
  <property fmtid="{D5CDD505-2E9C-101B-9397-08002B2CF9AE}" pid="5" name="MSIP_Label_0ad370f1-5840-4c36-bb65-89acaaf849ca_Method">
    <vt:lpwstr>Privileged</vt:lpwstr>
  </property>
  <property fmtid="{D5CDD505-2E9C-101B-9397-08002B2CF9AE}" pid="6" name="MSIP_Label_0ad370f1-5840-4c36-bb65-89acaaf849ca_Name">
    <vt:lpwstr>OFFICIAL</vt:lpwstr>
  </property>
  <property fmtid="{D5CDD505-2E9C-101B-9397-08002B2CF9AE}" pid="7" name="MSIP_Label_0ad370f1-5840-4c36-bb65-89acaaf849ca_SiteId">
    <vt:lpwstr>0fe05593-19ac-4f98-adbf-0375fce7f160</vt:lpwstr>
  </property>
  <property fmtid="{D5CDD505-2E9C-101B-9397-08002B2CF9AE}" pid="8" name="MSIP_Label_0ad370f1-5840-4c36-bb65-89acaaf849ca_ActionId">
    <vt:lpwstr>a4083670-4d22-438a-9ca4-5f70c30f5b5a</vt:lpwstr>
  </property>
  <property fmtid="{D5CDD505-2E9C-101B-9397-08002B2CF9AE}" pid="9" name="MSIP_Label_0ad370f1-5840-4c36-bb65-89acaaf849ca_ContentBits">
    <vt:lpwstr>3</vt:lpwstr>
  </property>
  <property fmtid="{D5CDD505-2E9C-101B-9397-08002B2CF9AE}" pid="10" name="MSIP_Label_0ad370f1-5840-4c36-bb65-89acaaf849ca_Tag">
    <vt:lpwstr>10, 0, 1, 1</vt:lpwstr>
  </property>
  <property fmtid="{D5CDD505-2E9C-101B-9397-08002B2CF9AE}" pid="11" name="ClassificationContentMarkingFooterLocations">
    <vt:lpwstr>Simple Light:5</vt:lpwstr>
  </property>
  <property fmtid="{D5CDD505-2E9C-101B-9397-08002B2CF9AE}" pid="12" name="ClassificationContentMarkingFooterText">
    <vt:lpwstr>OFFICIAL</vt:lpwstr>
  </property>
  <property fmtid="{D5CDD505-2E9C-101B-9397-08002B2CF9AE}" pid="13" name="ClassificationContentMarkingHeaderLocations">
    <vt:lpwstr>Simple Light:4</vt:lpwstr>
  </property>
  <property fmtid="{D5CDD505-2E9C-101B-9397-08002B2CF9AE}" pid="14" name="ClassificationContentMarkingHeaderText">
    <vt:lpwstr>OFFICIAL</vt:lpwstr>
  </property>
  <property fmtid="{D5CDD505-2E9C-101B-9397-08002B2CF9AE}" pid="15" name="MediaServiceImageTags">
    <vt:lpwstr/>
  </property>
</Properties>
</file>