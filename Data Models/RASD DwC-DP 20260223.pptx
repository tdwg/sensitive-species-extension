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Koh Santepheap"/>
      <p:regular r:id="rId38"/>
      <p:bold r:id="rId39"/>
    </p:embeddedFont>
    <p:embeddedFont>
      <p:font typeface="Open Sans SemiBold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736">
          <p15:clr>
            <a:srgbClr val="A4A3A4"/>
          </p15:clr>
        </p15:guide>
        <p15:guide id="2" pos="5472">
          <p15:clr>
            <a:srgbClr val="9AA0A6"/>
          </p15:clr>
        </p15:guide>
        <p15:guide id="3" orient="horz" pos="144">
          <p15:clr>
            <a:srgbClr val="9AA0A6"/>
          </p15:clr>
        </p15:guide>
        <p15:guide id="4" orient="horz" pos="2971">
          <p15:clr>
            <a:srgbClr val="9AA0A6"/>
          </p15:clr>
        </p15:guide>
        <p15:guide id="5" pos="288">
          <p15:clr>
            <a:srgbClr val="9AA0A6"/>
          </p15:clr>
        </p15:guide>
        <p15:guide id="6" pos="3024">
          <p15:clr>
            <a:srgbClr val="A4A3A4"/>
          </p15:clr>
        </p15:guide>
        <p15:guide id="7" pos="476">
          <p15:clr>
            <a:srgbClr val="9AA0A6"/>
          </p15:clr>
        </p15:guide>
        <p15:guide id="8" pos="5285">
          <p15:clr>
            <a:srgbClr val="9AA0A6"/>
          </p15:clr>
        </p15:guide>
        <p15:guide id="9" orient="horz" pos="75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F01AFD-CB9B-438F-B665-56E52F7CAF48}">
  <a:tblStyle styleId="{45F01AFD-CB9B-438F-B665-56E52F7CAF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36"/>
        <p:guide pos="5472"/>
        <p:guide pos="144" orient="horz"/>
        <p:guide pos="2971" orient="horz"/>
        <p:guide pos="288"/>
        <p:guide pos="3024"/>
        <p:guide pos="476"/>
        <p:guide pos="5285"/>
        <p:guide pos="7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SemiBold-italic.fntdata"/><Relationship Id="rId41" Type="http://schemas.openxmlformats.org/officeDocument/2006/relationships/font" Target="fonts/OpenSansSemiBold-bold.fntdata"/><Relationship Id="rId22" Type="http://schemas.openxmlformats.org/officeDocument/2006/relationships/slide" Target="slides/slide16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5.xml"/><Relationship Id="rId43" Type="http://schemas.openxmlformats.org/officeDocument/2006/relationships/font" Target="fonts/OpenSansSemiBold-bold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KohSantepheap-bold.fntdata"/><Relationship Id="rId16" Type="http://schemas.openxmlformats.org/officeDocument/2006/relationships/slide" Target="slides/slide10.xml"/><Relationship Id="rId38" Type="http://schemas.openxmlformats.org/officeDocument/2006/relationships/font" Target="fonts/KohSantepheap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9c2422c0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9c2422c0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1ab2ae03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1ab2ae03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1ab2ae03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1ab2ae03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9ac03b4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9ac03b4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f59e5717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f59e5717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f59e5717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f59e5717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f59e5717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f59e5717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f59e5717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f59e5717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1ab2ae03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1ab2ae03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f59e5717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f59e5717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f59e5717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f59e5717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59e5717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f59e5717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f59e5717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f59e5717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f59e5717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f59e5717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f59e5717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f59e5717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1ab2ae03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1ab2ae03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f59e5717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f59e5717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f59e57176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f59e5717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f59e5717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f59e5717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f59e5717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f59e5717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f59e5717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f59e5717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f59e5717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f59e5717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f59e5717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f59e5717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f59e5717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f59e5717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f59e5717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f59e5717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f59e5717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f59e5717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f59e5717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f59e5717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f59e57176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bf59e57176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f59e5717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f59e5717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1ab2ae03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1ab2ae03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D5B6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gbif.github.io/dwc-dp/qrg/#dwc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ucid.app/lucidchart/9f5a52ae-1e6e-4546-86f2-1cd6c1009af5/edit?=&amp;page=0&amp;v=129&amp;s=666.1185039370079&amp;referringApp=google%20slides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ucid.app/lucidchart/804daceb-475c-4cf6-b919-c520b7b0a304/edit?=&amp;page=0&amp;v=87&amp;s=666.1185039370079&amp;referringApp=google%20slides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ucid.app/lucidchart/3b405248-4b30-459b-853f-07a1bbd1e528/edit?=&amp;page=0&amp;v=102&amp;s=666.1185039370079&amp;referringApp=google%20slides" TargetMode="External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ucid.app/lucidchart/76fc3070-1a8d-4d34-9812-76179d76ecc2/edit?=&amp;page=0&amp;v=114&amp;s=378.8586614173228&amp;referringApp=google%20slides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ucid.app/lucidchart/667b9239-3e1f-4f3e-882b-7d11617b570e/edit?=&amp;page=0&amp;v=140&amp;s=417.97019409448825&amp;referringApp=google%20slides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ucid.app/lucidchart/680d6ec4-4296-4aac-8e62-0aee986acd5c/edit?=&amp;page=0&amp;v=96&amp;s=417.97019409448825&amp;referringApp=google%20slides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ucid.app/lucidchart/a0d0dd86-c585-4ee7-a52d-a1cb1f901898/edit?=&amp;page=0&amp;v=118&amp;s=610.859842519685&amp;referringApp=google%20slides" TargetMode="External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ucid.app/lucidchart/3f2a907f-a2d8-4c15-854c-23c9854d335b/edit?=&amp;page=0&amp;v=275&amp;s=650.9276633858267&amp;referringApp=google%20slides" TargetMode="External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ucid.app/lucidchart/54d84b14-ee16-4eb2-8094-abc2466e5c12/edit?=&amp;page=0&amp;v=113&amp;s=650.9276633858267&amp;referringApp=google%20slides" TargetMode="External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ucid.app/lucidchart/bda33139-160c-444a-9d1f-5f8cbd9724df/edit?=&amp;page=0&amp;v=117&amp;s=624.0370078740158&amp;referringApp=google%20slides" TargetMode="External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175" y="4342900"/>
            <a:ext cx="1493623" cy="3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3575" y="1449707"/>
            <a:ext cx="614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RASD 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- Darwin Core Data Package</a:t>
            </a:r>
            <a:endParaRPr sz="30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" y="4021000"/>
            <a:ext cx="30000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Gaia Resources </a:t>
            </a:r>
            <a:endParaRPr b="1"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+61 8 9227 7309 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Level 6, FLUX 191 St Georges Terrace, Perth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enquiries@gaiaresources.com.au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987350" y="2299825"/>
            <a:ext cx="516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RASD and DwC model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2342825" y="0"/>
            <a:ext cx="67968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2427990" y="85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{45F01AFD-CB9B-438F-B665-56E52F7CAF48}</a:tableStyleId>
              </a:tblPr>
              <a:tblGrid>
                <a:gridCol w="1425500"/>
                <a:gridCol w="2685850"/>
                <a:gridCol w="2545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Field Name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 Values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dwc:</a:t>
                      </a: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occurrenceID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Link to core occurrence record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Integers, UUIDs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treatmentID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Identifier for treatment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Integers, UUIDs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treatmentField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field in the occurrence record that has been treated.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IRI for the field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treatmentReason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identify the reason the field that has been modified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IRI for the RASD Reason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treatmentType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identify the type of treatment that has been applied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IRI for the RASD Treatment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treatmentDescription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describe the scale or methodology that has been  used in the application of the treatment.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treatmentStartDate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the treatment is only applied for a particular time period.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Blank if not applicable, otherwise a date to at least day precision in a standard format (e.g. ISO 8601)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treatmentEndDate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date after which the treatment will no longer be applied.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Blank if not applicable, otherwise a date to at least day precision in a standard format (e.g. ISO 8601)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treatmentOrganisation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organisation that requested the modification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Should link to an entry in the person/organisation section of the metadata.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treatmentInEffect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Where multiple treatments are listed for a single field, used to indicate which treatment is the one that has been published in the core file.</a:t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Boolean.</a:t>
                      </a:r>
                      <a:endParaRPr sz="5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68575" marL="6857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36233" y="304800"/>
            <a:ext cx="2106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Darwin Core - RASD extension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Occurrence example framework from last meeting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81000" y="304800"/>
            <a:ext cx="84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Darwin Core - RASD extension - Occurrence example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125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{45F01AFD-CB9B-438F-B665-56E52F7CAF48}</a:tableStyleId>
              </a:tblPr>
              <a:tblGrid>
                <a:gridCol w="831275"/>
                <a:gridCol w="831275"/>
                <a:gridCol w="831275"/>
                <a:gridCol w="831275"/>
                <a:gridCol w="831275"/>
                <a:gridCol w="831275"/>
                <a:gridCol w="831275"/>
                <a:gridCol w="831275"/>
                <a:gridCol w="831275"/>
                <a:gridCol w="831275"/>
                <a:gridCol w="831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dwc: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occurrenceID …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dwc: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scientific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 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Field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Reason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StartDate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EndDate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Organisation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b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</a:br>
                      <a:r>
                        <a:rPr lang="en-GB" sz="8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InEffect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" name="Google Shape;80;p16"/>
          <p:cNvSpPr/>
          <p:nvPr/>
        </p:nvSpPr>
        <p:spPr>
          <a:xfrm>
            <a:off x="9375" y="2377650"/>
            <a:ext cx="1653300" cy="58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82925" y="1915950"/>
            <a:ext cx="7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DwC</a:t>
            </a:r>
            <a:endParaRPr b="1"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997175" y="1915950"/>
            <a:ext cx="20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6AA84F"/>
                </a:solidFill>
                <a:latin typeface="Open Sans"/>
                <a:ea typeface="Open Sans"/>
                <a:cs typeface="Open Sans"/>
                <a:sym typeface="Open Sans"/>
              </a:rPr>
              <a:t>RASD extension</a:t>
            </a:r>
            <a:endParaRPr b="1" sz="1800">
              <a:solidFill>
                <a:srgbClr val="6AA84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662675" y="2381200"/>
            <a:ext cx="7481400" cy="58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Packaging 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DwC-A vs DwC-DP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253" y="13460"/>
            <a:ext cx="8440827" cy="46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6350700" y="4767051"/>
            <a:ext cx="233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https://gbif.github.io/dwc-dp/qrg/#dwca</a:t>
            </a:r>
            <a:r>
              <a:rPr lang="en-GB" sz="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endParaRPr sz="9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18460" l="0" r="55983" t="0"/>
          <a:stretch/>
        </p:blipFill>
        <p:spPr>
          <a:xfrm>
            <a:off x="228250" y="447800"/>
            <a:ext cx="4572352" cy="46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4343400" y="1642575"/>
            <a:ext cx="448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Treatment 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600">
                <a:solidFill>
                  <a:schemeClr val="dk2"/>
                </a:solidFill>
              </a:rPr>
              <a:t>(need to add “</a:t>
            </a:r>
            <a:r>
              <a:rPr i="1" lang="en-GB" sz="1600">
                <a:solidFill>
                  <a:schemeClr val="dk2"/>
                </a:solidFill>
              </a:rPr>
              <a:t>coreID”</a:t>
            </a:r>
            <a:r>
              <a:rPr lang="en-GB" sz="1600">
                <a:solidFill>
                  <a:schemeClr val="dk2"/>
                </a:solidFill>
              </a:rPr>
              <a:t> field to schema when packaging for DwC-A)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105" name="Google Shape;105;p19"/>
          <p:cNvCxnSpPr/>
          <p:nvPr/>
        </p:nvCxnSpPr>
        <p:spPr>
          <a:xfrm flipH="1">
            <a:off x="3771900" y="1874525"/>
            <a:ext cx="609600" cy="29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6655" l="48210" r="0" t="0"/>
          <a:stretch/>
        </p:blipFill>
        <p:spPr>
          <a:xfrm>
            <a:off x="3986096" y="447800"/>
            <a:ext cx="4682978" cy="46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144750" y="1657825"/>
            <a:ext cx="3749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 different ways to connect classes:</a:t>
            </a:r>
            <a:r>
              <a:rPr b="1" lang="en-GB" sz="1800">
                <a:solidFill>
                  <a:schemeClr val="dk2"/>
                </a:solidFill>
              </a:rPr>
              <a:t> </a:t>
            </a:r>
            <a:br>
              <a:rPr b="1" lang="en-GB" sz="1800">
                <a:solidFill>
                  <a:schemeClr val="dk2"/>
                </a:solidFill>
              </a:rPr>
            </a:br>
            <a:endParaRPr b="1" sz="18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-GB" sz="1600">
                <a:solidFill>
                  <a:schemeClr val="dk2"/>
                </a:solidFill>
              </a:rPr>
              <a:t>Direct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i="1" lang="en-GB" sz="1600">
                <a:solidFill>
                  <a:schemeClr val="dk2"/>
                </a:solidFill>
              </a:rPr>
              <a:t>Subclass</a:t>
            </a:r>
            <a:endParaRPr i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-GB" sz="1600">
                <a:solidFill>
                  <a:schemeClr val="dk2"/>
                </a:solidFill>
              </a:rPr>
              <a:t>Join tables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Connection options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4488175" y="0"/>
            <a:ext cx="4651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Exploring DwC-DP connections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4913100" y="1793231"/>
            <a:ext cx="391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AutoNum type="arabicPeriod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Generic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AutoNum type="arabicPeriod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Existing example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AutoNum type="arabicPeriod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 Treatments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AutoNum type="arabicPeriod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Pros and Cons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Direct connections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Direct connection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24050" y="2463781"/>
            <a:ext cx="391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Generic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2" name="Google Shape;142;p2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675" y="1038700"/>
            <a:ext cx="6751325" cy="41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Direct connection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Existing example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0" name="Google Shape;150;p2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670" y="1082050"/>
            <a:ext cx="2233686" cy="40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Direct connection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 Treatments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8" name="Google Shape;158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5211" y="1082050"/>
            <a:ext cx="6680015" cy="40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5783600" y="1082050"/>
            <a:ext cx="17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Event or Occurrence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0" name="Google Shape;160;p26"/>
          <p:cNvCxnSpPr>
            <a:stCxn id="159" idx="2"/>
          </p:cNvCxnSpPr>
          <p:nvPr/>
        </p:nvCxnSpPr>
        <p:spPr>
          <a:xfrm>
            <a:off x="6678950" y="1820950"/>
            <a:ext cx="788700" cy="71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6"/>
          <p:cNvSpPr txBox="1"/>
          <p:nvPr/>
        </p:nvSpPr>
        <p:spPr>
          <a:xfrm>
            <a:off x="5783600" y="3947170"/>
            <a:ext cx="179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eventID or occurrenceID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2" name="Google Shape;162;p26"/>
          <p:cNvCxnSpPr>
            <a:stCxn id="161" idx="0"/>
          </p:cNvCxnSpPr>
          <p:nvPr/>
        </p:nvCxnSpPr>
        <p:spPr>
          <a:xfrm flipH="1" rot="10800000">
            <a:off x="6678950" y="2781370"/>
            <a:ext cx="849600" cy="1165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4488175" y="0"/>
            <a:ext cx="4651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Direct connection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928350" y="299706"/>
            <a:ext cx="39165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All Treatments easily findable in one table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System that most closely 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convertible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to RDF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Filterable by type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25" y="1717031"/>
            <a:ext cx="4183376" cy="255406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4855675" y="2745711"/>
            <a:ext cx="3916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Redundancy 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(when in a relational table system) 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the same Treatment is applied to multiple instances/multiple core entities 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Subclass connections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/>
        </p:nvSpPr>
        <p:spPr>
          <a:xfrm>
            <a:off x="381000" y="304800"/>
            <a:ext cx="400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285250" y="1191275"/>
            <a:ext cx="3213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Assertions ~ subclasses</a:t>
            </a:r>
            <a:endParaRPr sz="20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Not listed </a:t>
            </a:r>
            <a:r>
              <a:rPr lang="en-GB" sz="13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individually</a:t>
            </a:r>
            <a:r>
              <a:rPr lang="en-GB" sz="1300">
                <a:solidFill>
                  <a:srgbClr val="3D5B66"/>
                </a:solidFill>
                <a:latin typeface="Open Sans"/>
                <a:ea typeface="Open Sans"/>
                <a:cs typeface="Open Sans"/>
                <a:sym typeface="Open Sans"/>
              </a:rPr>
              <a:t> in the quick reference guide</a:t>
            </a:r>
            <a:endParaRPr sz="1300">
              <a:solidFill>
                <a:srgbClr val="3D5B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4633425" y="0"/>
            <a:ext cx="45063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450" y="91839"/>
            <a:ext cx="5599451" cy="496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 rotWithShape="1">
          <a:blip r:embed="rId4">
            <a:alphaModFix/>
          </a:blip>
          <a:srcRect b="25573" l="5751" r="6973" t="0"/>
          <a:stretch/>
        </p:blipFill>
        <p:spPr>
          <a:xfrm>
            <a:off x="815350" y="2098825"/>
            <a:ext cx="1691625" cy="29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Subclass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424050" y="2463781"/>
            <a:ext cx="391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Generic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p3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9117" y="1"/>
            <a:ext cx="481150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Subclass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Existing example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5" name="Google Shape;205;p3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4739" y="-1"/>
            <a:ext cx="530822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Subclass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 Treatments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3" name="Google Shape;213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6889" y="-1"/>
            <a:ext cx="530822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/>
          <p:nvPr/>
        </p:nvSpPr>
        <p:spPr>
          <a:xfrm>
            <a:off x="4488175" y="0"/>
            <a:ext cx="4651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Subclass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4928350" y="299706"/>
            <a:ext cx="3916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Treatments associated with core entity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System that most closely resembles the DwC-A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4855675" y="3050511"/>
            <a:ext cx="3916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Redundancy if the same Treatment is applied to multiple instances/core entities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37131"/>
            <a:ext cx="3749193" cy="3661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tables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424050" y="2463781"/>
            <a:ext cx="391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Generic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8" name="Google Shape;238;p3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4877" y="530313"/>
            <a:ext cx="6390225" cy="423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Existing example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4050" y="547950"/>
            <a:ext cx="6781049" cy="42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tables</a:t>
            </a:r>
            <a:endParaRPr sz="24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424050" y="2463775"/>
            <a:ext cx="229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Applied to Treatments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4" name="Google Shape;254;p3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2175" y="619100"/>
            <a:ext cx="6666727" cy="414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/>
          <p:nvPr/>
        </p:nvSpPr>
        <p:spPr>
          <a:xfrm>
            <a:off x="4488175" y="0"/>
            <a:ext cx="4651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tables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25" y="1710506"/>
            <a:ext cx="4183375" cy="250702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8"/>
          <p:cNvSpPr txBox="1"/>
          <p:nvPr/>
        </p:nvSpPr>
        <p:spPr>
          <a:xfrm>
            <a:off x="4928350" y="299706"/>
            <a:ext cx="3916500" cy="4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en-GB" sz="2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All Treatments easily findable in one table</a:t>
            </a:r>
            <a:endParaRPr sz="2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en-GB" sz="2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System that most closely resembles relational database</a:t>
            </a:r>
            <a:endParaRPr sz="2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en-GB" sz="2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Saves redundancy by using the relationship join table rather than repeating the details if Treatments are re-used.</a:t>
            </a:r>
            <a:endParaRPr sz="2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/>
          <p:nvPr/>
        </p:nvSpPr>
        <p:spPr>
          <a:xfrm>
            <a:off x="4488175" y="0"/>
            <a:ext cx="4651500" cy="5143500"/>
          </a:xfrm>
          <a:prstGeom prst="rect">
            <a:avLst/>
          </a:prstGeom>
          <a:solidFill>
            <a:srgbClr val="F1EB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1EBD9"/>
              </a:solidFill>
            </a:endParaRPr>
          </a:p>
        </p:txBody>
      </p:sp>
      <p:sp>
        <p:nvSpPr>
          <p:cNvPr id="269" name="Google Shape;269;p39"/>
          <p:cNvSpPr txBox="1"/>
          <p:nvPr>
            <p:ph idx="12" type="sldNum"/>
          </p:nvPr>
        </p:nvSpPr>
        <p:spPr>
          <a:xfrm>
            <a:off x="8785100" y="4767050"/>
            <a:ext cx="274800" cy="289800"/>
          </a:xfrm>
          <a:prstGeom prst="rect">
            <a:avLst/>
          </a:prstGeom>
          <a:solidFill>
            <a:srgbClr val="98FFD3"/>
          </a:solidFill>
        </p:spPr>
        <p:txBody>
          <a:bodyPr anchorCtr="0" anchor="ctr" bIns="91425" lIns="0" spcFirstLastPara="1" rIns="0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381000" y="253706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- </a:t>
            </a:r>
            <a:b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2400">
                <a:solidFill>
                  <a:srgbClr val="3D5B66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Combined join table</a:t>
            </a:r>
            <a:endParaRPr sz="2400">
              <a:solidFill>
                <a:srgbClr val="3D5B66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4928350" y="299706"/>
            <a:ext cx="3916500" cy="3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All Treatments easily findable in one table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Fewer join tables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Saves redundancy by using the relationship join table rather than repeating the details if Treatments are re-used.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2" name="Google Shape;272;p3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0" y="1552424"/>
            <a:ext cx="4431625" cy="28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9"/>
          <p:cNvSpPr txBox="1"/>
          <p:nvPr/>
        </p:nvSpPr>
        <p:spPr>
          <a:xfrm>
            <a:off x="4855675" y="3553431"/>
            <a:ext cx="3916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Cons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Open Sans"/>
              <a:buChar char="●"/>
            </a:pP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Rare pattern for DwC-DP. 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Precedent</a:t>
            </a:r>
            <a:r>
              <a:rPr lang="en-GB" sz="2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= Chronometric Age Reference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/>
        </p:nvSpPr>
        <p:spPr>
          <a:xfrm>
            <a:off x="1987350" y="2299825"/>
            <a:ext cx="516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DwC-DP </a:t>
            </a:r>
            <a:b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</a:b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Join table schemas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2386200" y="1961130"/>
            <a:ext cx="43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1EBD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RASD - Darwin Core Data Package</a:t>
            </a:r>
            <a:endParaRPr>
              <a:solidFill>
                <a:srgbClr val="F1EBD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675" y="152400"/>
            <a:ext cx="5994128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1"/>
          <p:cNvSpPr txBox="1"/>
          <p:nvPr/>
        </p:nvSpPr>
        <p:spPr>
          <a:xfrm>
            <a:off x="424050" y="2463775"/>
            <a:ext cx="229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Treatments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42"/>
          <p:cNvSpPr txBox="1"/>
          <p:nvPr/>
        </p:nvSpPr>
        <p:spPr>
          <a:xfrm>
            <a:off x="424050" y="2463775"/>
            <a:ext cx="229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Join</a:t>
            </a:r>
            <a:br>
              <a:rPr lang="en-GB"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Occurrence example</a:t>
            </a:r>
            <a:endParaRPr sz="1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4" name="Google Shape;29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650" y="32875"/>
            <a:ext cx="4968326" cy="511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/>
        </p:nvSpPr>
        <p:spPr>
          <a:xfrm>
            <a:off x="2424300" y="2019900"/>
            <a:ext cx="429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F1EBD9"/>
                </a:solidFill>
                <a:latin typeface="Koh Santepheap"/>
                <a:ea typeface="Koh Santepheap"/>
                <a:cs typeface="Koh Santepheap"/>
                <a:sym typeface="Koh Santepheap"/>
              </a:rPr>
              <a:t>Thank you. </a:t>
            </a:r>
            <a:endParaRPr sz="2600">
              <a:solidFill>
                <a:srgbClr val="F1EBD9"/>
              </a:solidFill>
              <a:latin typeface="Koh Santepheap"/>
              <a:ea typeface="Koh Santepheap"/>
              <a:cs typeface="Koh Santepheap"/>
              <a:sym typeface="Koh Santepheap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457200" y="4021000"/>
            <a:ext cx="30000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Gaia Resources </a:t>
            </a:r>
            <a:endParaRPr b="1"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+61 8 9227 7309 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Level 6, FLUX 191 St Georges Terrace, Perth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1EBD9"/>
                </a:solidFill>
                <a:latin typeface="Open Sans"/>
                <a:ea typeface="Open Sans"/>
                <a:cs typeface="Open Sans"/>
                <a:sym typeface="Open Sans"/>
              </a:rPr>
              <a:t>enquiries@gaiaresources.com.au</a:t>
            </a:r>
            <a:endParaRPr sz="800">
              <a:solidFill>
                <a:srgbClr val="F1EB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1" name="Google Shape;30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175" y="4342900"/>
            <a:ext cx="1493623" cy="3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